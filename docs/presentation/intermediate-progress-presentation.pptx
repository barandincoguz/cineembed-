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77295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000">
                <a:solidFill>
                  <a:srgbClr val="FFFFFF"/>
                </a:solidFill>
                <a:latin typeface="Calibri Light"/>
              </a:rPr>
              <a:t>CineEmbed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000">
                <a:solidFill>
                  <a:srgbClr val="FFFFFF"/>
                </a:solidFill>
                <a:latin typeface="Calibri"/>
              </a:rPr>
              <a:t>Multi-Modal Unsupervised Embedding of 329,044 Films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1277295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000">
                <a:solidFill>
                  <a:srgbClr val="2563EB"/>
                </a:solidFill>
                <a:latin typeface="Calibri"/>
              </a:rPr>
              <a:t>Intermediate Progress Report  ·  v1.1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11277295" cy="54864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200">
                <a:solidFill>
                  <a:srgbClr val="1E293B"/>
                </a:solidFill>
                <a:latin typeface="Calibri"/>
              </a:rPr>
              <a:t>Ahmet Baran Dincoguz   ·   Arda Arvas   ·   Bertan Kaan Kaya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6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4748B"/>
                </a:solidFill>
                <a:latin typeface="Calibri"/>
              </a:rPr>
              <a:t>SENG 474 — Deep Learning · Spring 2026 · TED University · 2026-05-06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26364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563EB"/>
                </a:solidFill>
                <a:latin typeface="Calibri"/>
              </a:rPr>
              <a:t>github.com/barandincoguz/CineEmbed-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Project Status: ON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Modeling MVP delivered. Hypotheses H1, H2, H3 all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2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64008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Six runs trained, evaluated against 3 orthogonal label axes (genre · decade · language).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Best deep model dec_z64_k21 reaches genre_NMI = 0.332, +205 % over best non-deep baseline.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Three controlled ablations (modality projection · loss weighting · DEC fine-tune) — see slide 8.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Bonus finding: films with missing release date form a coherent latent sub-manifold.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011680"/>
            <a:ext cx="4937760" cy="2377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0" b="0">
                <a:solidFill>
                  <a:srgbClr val="C2410C"/>
                </a:solidFill>
                <a:latin typeface="Calibri Light"/>
              </a:rPr>
              <a:t>+205 %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4805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Calibri"/>
              </a:rPr>
              <a:t>DEC genre_NMI vs KMeans on raw features (0.332 vs 0.109)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Project Goal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What we set out to do, on what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Train unsupervised 64-dim representations of movie metadata.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329,044 films from TMDB + awards records + Wikipedia director bios.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564-dim feature matrix organized into 7 modality blocks.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Recover 3 orthogonal label axes without labels: genre, decade, language.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Evaluate via KMeans clustering of the latent → NMI / ARI.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1508760"/>
          <a:ext cx="4297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560"/>
                <a:gridCol w="1432560"/>
                <a:gridCol w="14325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Block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Dim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numerical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popularity, runtime, votes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genre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21-way one-hot + flag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top-30 langs (~99% zero)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decade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decade_norm + flag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awards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Oscar/BAFTA/Cannes 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MiniLM-L6-v2 embeddings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director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bio_pca_64 + lang/country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Schedule &amp;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Aligned to the SENG 474 Spring 2026 syllabus (W1–W15, 11/02–20/05).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4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08760"/>
          <a:ext cx="1127729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Week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Milestone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25/02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Team formation submitted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11/03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Project proposal / abstract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25/03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Midterm exam (course-wide)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W9–W11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Six runs trained and evaluated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22/04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UMAP latent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22/04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Intermediate Report Submission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W12–W14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VAE + F1/F2/k-sweep ablations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13/05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Project demo (presentation 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20/05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Project demo (presentation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227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20/05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Final Report + Demo Video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Work Completed: Data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564-dim feature matrix, 7 modality blocks, frozen v1.2.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5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6400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Three sources merged: TMDB, awards records, Wikipedia director bios.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Sparse modalities preserved as one-hot (interpretable).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Missing release date encoded as binary flag — turned out to be structurally relevant (slide 11).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E293B"/>
                </a:solidFill>
                <a:latin typeface="Calibri"/>
              </a:rPr>
              <a:t>•  Director-bio reconstruction loss masked by has_director_bio flag (G2 masking).</a:t>
            </a:r>
          </a:p>
        </p:txBody>
      </p:sp>
      <p:pic>
        <p:nvPicPr>
          <p:cNvPr id="8" name="Picture 7" descr="multilingual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74519"/>
            <a:ext cx="4754880" cy="18535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0880" y="585216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4748B"/>
                </a:solidFill>
                <a:latin typeface="Calibri"/>
              </a:rPr>
              <a:t>Multilingual coverage — long tail motivates sparsity-aware design.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Work Completed: Architecture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Multi-modal backbone, W2 inverse-variance loss, G2 bio masking, DEC head.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6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pic>
        <p:nvPicPr>
          <p:cNvPr id="7" name="Picture 6" descr="architecture_multi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20240"/>
            <a:ext cx="7772400" cy="33310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2057400"/>
            <a:ext cx="3200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7 modality projections → concat (164-dim) → backbone → z=64.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W2: per-block inverse-variance weighting (clipped to [0.1, 10]).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G2: mask bio reconstruction loss by has_director_bio.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DEC head: Student-t soft assignment, k=21, γ=0.1 on KL.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Work Completed: Modeling MVP — Six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Three tiers, six metrics, four different column winners.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7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57400"/>
          <a:ext cx="1127729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1042"/>
                <a:gridCol w="1611042"/>
                <a:gridCol w="1611042"/>
                <a:gridCol w="1611042"/>
                <a:gridCol w="1611042"/>
                <a:gridCol w="1611042"/>
                <a:gridCol w="1611043"/>
              </a:tblGrid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gNMI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gARI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dNMI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dARI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lNMI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lARI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kmeans_raw_k21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pca_kmeans_k21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0.061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0.224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0.085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vanilla_ae_z64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ae_z64_w1 (W1 ablation)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0.165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0.367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0.176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ae_z64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dec_z64_k21 (BEST)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0.244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0.294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0.090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64748B"/>
                </a:solidFill>
                <a:latin typeface="Calibri"/>
              </a:rPr>
              <a:t>z = 64, KMeans k = 21. No model wins all six metrics — the principled-trade-off result.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Ablation Evidence — Each Choice Tested in Isolation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Three controlled tests isolate the contribution of each architectural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8 /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173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COMPLETE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011680"/>
          <a:ext cx="11277295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Ablation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Controlled test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Best 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Modality projection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Vanilla concat-AE  →  multi-modal 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lang_NMI +178 %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Wins big on language; modest on genre.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Loss weighting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W1 uniform  →  W2 inverse-variance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lang_NMI +277 %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Critical: W1 collapses high-dim sparse blocks.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 fine-tuning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 alone  →  AE + 21 KL+recon epochs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genre_ARI +6.6 %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Sharpens partitions; ARI gain &gt; NMI gain.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572000"/>
            <a:ext cx="11277295" cy="13258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1500" b="1">
                <a:solidFill>
                  <a:srgbClr val="1E293B"/>
                </a:solidFill>
                <a:latin typeface="Calibri"/>
              </a:rPr>
              <a:t>Why ablations matter: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80"/>
            <a:ext cx="10972800" cy="868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300">
                <a:solidFill>
                  <a:srgbClr val="1E293B"/>
                </a:solidFill>
                <a:latin typeface="Calibri"/>
              </a:rPr>
              <a:t>Each ablation isolates one architectural decision and quantifies its contribution. Without controlled tests, gains from W2 weighting (+99 % on gNMI, +277 % on lNMI) would be conflated with gains from modality projection itself. Diagnostic side-effect: W1 early-stopped at epoch 37 vs W2's 69 — a model-health signal that the optimizer cannot escape modality imbalance under uniform weighting.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89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64748B"/>
                </a:solidFill>
                <a:latin typeface="Calibri"/>
              </a:rPr>
              <a:t>Deferred to final report (W12–W14): F1 (no-text) · F2 (no-director-profile) · VAE family (z = 32 / 64 / 128) · AE z-dim sweep · DEC k-sweep (9-cell grid) · W4 (Kendall learned uncertainty).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Headline Result — H2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Best deep model vs best non-deep baseline on genre_NMI.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77295" cy="2377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8000" b="0">
                <a:solidFill>
                  <a:srgbClr val="C2410C"/>
                </a:solidFill>
                <a:latin typeface="Calibri Light"/>
              </a:rPr>
              <a:t>+205 %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06240"/>
            <a:ext cx="112772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Calibri"/>
              </a:rPr>
              <a:t>dec_z64_k21: 0.332     vs     kmeans_raw_k21: 0.109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365760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4000">
                <a:solidFill>
                  <a:srgbClr val="C2410C"/>
                </a:solidFill>
                <a:latin typeface="Calibri Light"/>
              </a:rPr>
              <a:t>+295 %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15000"/>
            <a:ext cx="36576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  <a:latin typeface="Calibri"/>
              </a:rPr>
              <a:t>DEC vs PCA-KMeans (gNMI)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029200"/>
            <a:ext cx="365760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4000">
                <a:solidFill>
                  <a:srgbClr val="C2410C"/>
                </a:solidFill>
                <a:latin typeface="Calibri Light"/>
              </a:rPr>
              <a:t>+287 %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715000"/>
            <a:ext cx="36576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  <a:latin typeface="Calibri"/>
              </a:rPr>
              <a:t>DEC vs raw-KMeans (gARI)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59" y="5029200"/>
            <a:ext cx="365760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4000">
                <a:solidFill>
                  <a:srgbClr val="C2410C"/>
                </a:solidFill>
                <a:latin typeface="Calibri Light"/>
              </a:rPr>
              <a:t>+213 %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5715000"/>
            <a:ext cx="3657600" cy="4572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400">
                <a:solidFill>
                  <a:srgbClr val="64748B"/>
                </a:solidFill>
                <a:latin typeface="Calibri"/>
              </a:rPr>
              <a:t>DEC vs PCA-KMeans (lNMI)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Latent Topology Evolves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vanilla → multi-modal → DEC: blobs → islands → tight islands.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10 / 13</a:t>
            </a:r>
          </a:p>
        </p:txBody>
      </p:sp>
      <p:pic>
        <p:nvPicPr>
          <p:cNvPr id="6" name="Picture 5" descr="umap_comparison_gen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2987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8521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64748B"/>
                </a:solidFill>
                <a:latin typeface="Calibri"/>
              </a:rPr>
              <a:t>UMAP, 15K subsample, cosine metric. Same projection settings; only the underlying 64-dim latent differs.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Bonus Finding — Missing-Data Manifold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Films with no release date form a coherent latent sub-manifold.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11 / 13</a:t>
            </a:r>
          </a:p>
        </p:txBody>
      </p:sp>
      <p:pic>
        <p:nvPicPr>
          <p:cNvPr id="6" name="Picture 5" descr="umap_dec_z64_k21_de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858000" cy="53069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783080"/>
            <a:ext cx="4297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~7.4 % of films have no release date (decade_bin = 0).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These films form an isolated red cluster (upper-right) across all 4 deep architectures.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DEC compresses them into the cleanest partition.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Not predicted by H1–H3 — post-hoc interpretability win.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E293B"/>
                </a:solidFill>
                <a:latin typeface="Calibri"/>
              </a:rPr>
              <a:t>•  Practical use: latent-space queries naturally cluster missing-metadata films for triage.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Plan to the Final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Deferred experiments with target completion windows (W13–W15).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12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7729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Why deferred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VAE family (z = 32 / 64 / 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Probabilistic head not yet trained.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2026-05-09 (W13)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AE z-dim sweep (z = 32, 128)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MVP fixed z = 64.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2026-05-09 (W13)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F1 ablation (no text)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Quantify text-block contribution.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2026-05-12 (W14)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F2 ablation (no director profile)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Quantify director-block contribution.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2026-05-12 (W14)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 k-sweep (9-cell z×k grid)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MVP runs only z=64 × k=21.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2026-05-15 (W14)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W4 (Kendall learned uncertainty)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Stretch loss; learnable per-block weights.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2026-05-15 (W14)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Linear probing on frozen latents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Held-out classifier evaluation per axis.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2026-05-16 (W14)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5-seed confidence intervals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MVP single-seed → CIs needed.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Reproducibility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Single deterministic run script.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2026-05-18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7220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>
                <a:solidFill>
                  <a:srgbClr val="64748B"/>
                </a:solidFill>
                <a:latin typeface="Calibri"/>
              </a:rPr>
              <a:t>Final report submission target: 2026-05-20 (W15) — coincides with Project Demo session 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5895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0">
                <a:solidFill>
                  <a:srgbClr val="C2410C"/>
                </a:solidFill>
                <a:latin typeface="Calibri Light"/>
              </a:rPr>
              <a:t>Status Summary  ·  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77295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000">
                <a:solidFill>
                  <a:srgbClr val="64748B"/>
                </a:solidFill>
                <a:latin typeface="Calibri"/>
              </a:rPr>
              <a:t>All three pre-registered hypotheses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37960"/>
            <a:ext cx="11277295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l"/>
            <a:r>
              <a:rPr sz="1000">
                <a:solidFill>
                  <a:srgbClr val="64748B"/>
                </a:solidFill>
                <a:latin typeface="Calibri"/>
              </a:rPr>
              <a:t>SENG 474  ·  CineEmbed  ·  Slide 13 /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772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Statement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93B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DEC genre_NMI &gt; AE genre_NMI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0.332 &gt; 0.328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Best-deep ≥ 1.10 × best-non-deep on genre_NMI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+205 %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H3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Best-deep genre_NMI &gt; 0.15 absolute floor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0.332 ≫ 0.15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E293B"/>
                          </a:solidFill>
                          <a:latin typeface="Calibri"/>
                        </a:rPr>
                        <a:t>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0624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C2410C"/>
                </a:solidFill>
                <a:latin typeface="Calibri Light"/>
              </a:rPr>
              <a:t>Best model: dec_z64_k21  —  genre_NMI = 0.332,  lang_NMI = 0.294,  decade_NMI = 0.342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66928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64748B"/>
                </a:solidFill>
                <a:latin typeface="Calibri"/>
              </a:rPr>
              <a:t>github.com/barandincoguz/CineEmbed-     ·     Thank you.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