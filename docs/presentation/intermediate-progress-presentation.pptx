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 snapToObjects="1">
      <p:cViewPr varScale="1">
        <p:scale>
          <a:sx n="149" d="100"/>
          <a:sy n="149" d="100"/>
        </p:scale>
        <p:origin x="480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457200" y="225028"/>
            <a:ext cx="3879267" cy="101566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6600" dirty="0" err="1">
                <a:solidFill>
                  <a:srgbClr val="FFFFFF"/>
                </a:solidFill>
                <a:latin typeface="Calibri Light"/>
              </a:rPr>
              <a:t>CineEmbed</a:t>
            </a:r>
            <a:endParaRPr sz="660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6951903" cy="461665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>
                <a:solidFill>
                  <a:srgbClr val="FFFFFF"/>
                </a:solidFill>
                <a:latin typeface="Calibri"/>
              </a:rPr>
              <a:t>Multi-Modal Unsupervised Embedding of 329,044 Films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4557786" cy="461665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dirty="0">
                <a:solidFill>
                  <a:srgbClr val="2563EB"/>
                </a:solidFill>
                <a:latin typeface="Calibri"/>
              </a:rPr>
              <a:t>Intermediate Progress Report  ·  v1.2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99888"/>
            <a:ext cx="11020389" cy="646331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3600" dirty="0">
                <a:solidFill>
                  <a:srgbClr val="1E293B"/>
                </a:solidFill>
                <a:latin typeface="Calibri"/>
              </a:rPr>
              <a:t>Ahmet Baran Dincoguz   ·   Arda </a:t>
            </a:r>
            <a:r>
              <a:rPr sz="3600" dirty="0" err="1">
                <a:solidFill>
                  <a:srgbClr val="1E293B"/>
                </a:solidFill>
                <a:latin typeface="Calibri"/>
              </a:rPr>
              <a:t>Arvas</a:t>
            </a:r>
            <a:r>
              <a:rPr sz="3600" dirty="0">
                <a:solidFill>
                  <a:srgbClr val="1E293B"/>
                </a:solidFill>
                <a:latin typeface="Calibri"/>
              </a:rPr>
              <a:t>   ·   Bertan Kaan Kaya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681327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64748B"/>
                </a:solidFill>
                <a:latin typeface="Calibri"/>
              </a:rPr>
              <a:t>SENG 474 — Deep Learning · Spring 2026 · TED University · 2026-05-06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351282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563EB"/>
                </a:solidFill>
                <a:latin typeface="Calibri"/>
              </a:rPr>
              <a:t>github.com/barandincoguz/CineEmbed-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799968" cy="6155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 dirty="0">
                <a:solidFill>
                  <a:srgbClr val="C2410C"/>
                </a:solidFill>
                <a:latin typeface="Calibri Light"/>
              </a:rPr>
              <a:t>Project </a:t>
            </a:r>
            <a:r>
              <a:rPr sz="4000" b="0" dirty="0">
                <a:solidFill>
                  <a:srgbClr val="C2410C"/>
                </a:solidFill>
                <a:latin typeface="Calibri Light"/>
              </a:rPr>
              <a:t>Status</a:t>
            </a:r>
            <a:r>
              <a:rPr sz="3600" b="0" dirty="0">
                <a:solidFill>
                  <a:srgbClr val="C2410C"/>
                </a:solidFill>
                <a:latin typeface="Calibri Light"/>
              </a:rPr>
              <a:t>: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206203" cy="3693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dirty="0">
                <a:solidFill>
                  <a:srgbClr val="64748B"/>
                </a:solidFill>
                <a:latin typeface="Calibri"/>
              </a:rPr>
              <a:t>Modeling MVP delivered. Hypotheses H1, H2, H3 all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981312" cy="246221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6400800" cy="35548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dirty="0">
                <a:solidFill>
                  <a:srgbClr val="1E293B"/>
                </a:solidFill>
                <a:latin typeface="Calibri"/>
              </a:rPr>
              <a:t>•  Six runs trained, evaluated against 3 orthogonal label axes (genre · decade · language).</a:t>
            </a:r>
          </a:p>
          <a:p>
            <a:pPr algn="l">
              <a:spcAft>
                <a:spcPts val="600"/>
              </a:spcAft>
            </a:pPr>
            <a:r>
              <a:rPr sz="2400" dirty="0">
                <a:solidFill>
                  <a:srgbClr val="1E293B"/>
                </a:solidFill>
                <a:latin typeface="Calibri"/>
              </a:rPr>
              <a:t>•  Best deep model dec_z64_k21 reaches </a:t>
            </a:r>
            <a:r>
              <a:rPr sz="2400" dirty="0" err="1">
                <a:solidFill>
                  <a:srgbClr val="1E293B"/>
                </a:solidFill>
                <a:latin typeface="Calibri"/>
              </a:rPr>
              <a:t>genre_NMI</a:t>
            </a:r>
            <a:r>
              <a:rPr sz="2400" dirty="0">
                <a:solidFill>
                  <a:srgbClr val="1E293B"/>
                </a:solidFill>
                <a:latin typeface="Calibri"/>
              </a:rPr>
              <a:t> = 0.332, +205 % over best non-deep baseline.</a:t>
            </a:r>
          </a:p>
          <a:p>
            <a:pPr algn="l">
              <a:spcAft>
                <a:spcPts val="600"/>
              </a:spcAft>
            </a:pPr>
            <a:r>
              <a:rPr sz="2400" dirty="0">
                <a:solidFill>
                  <a:srgbClr val="1E293B"/>
                </a:solidFill>
                <a:latin typeface="Calibri"/>
              </a:rPr>
              <a:t>•  Three controlled ablations (modality projection · loss weighting · DEC fine-tune) — see slide 9.</a:t>
            </a:r>
          </a:p>
          <a:p>
            <a:pPr algn="l">
              <a:spcAft>
                <a:spcPts val="600"/>
              </a:spcAft>
            </a:pPr>
            <a:r>
              <a:rPr sz="2400" dirty="0">
                <a:solidFill>
                  <a:srgbClr val="1E293B"/>
                </a:solidFill>
                <a:latin typeface="Calibri"/>
              </a:rPr>
              <a:t>•  Bonus finding: films with missing release date form a coherent latent sub-manifold.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0847" y="2238598"/>
            <a:ext cx="4732065" cy="19236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0" b="0" dirty="0">
                <a:solidFill>
                  <a:srgbClr val="C2410C"/>
                </a:solidFill>
                <a:latin typeface="Calibri Light"/>
              </a:rPr>
              <a:t>+205 %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480560"/>
            <a:ext cx="4937760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>
                <a:solidFill>
                  <a:srgbClr val="64748B"/>
                </a:solidFill>
                <a:latin typeface="Calibri"/>
              </a:rPr>
              <a:t>DEC genre_NMI vs KMeans on raw features (0.332 vs 0.109)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Project Goal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What we set out to do, on what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079" y="1600200"/>
            <a:ext cx="5209953" cy="33855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dirty="0">
                <a:solidFill>
                  <a:srgbClr val="1E293B"/>
                </a:solidFill>
                <a:latin typeface="Calibri"/>
              </a:rPr>
              <a:t>•  Train unsupervised 64-dim representations of movie metadata.</a:t>
            </a:r>
          </a:p>
          <a:p>
            <a:pPr>
              <a:spcAft>
                <a:spcPts val="600"/>
              </a:spcAft>
            </a:pPr>
            <a:r>
              <a:rPr sz="2000" dirty="0">
                <a:solidFill>
                  <a:srgbClr val="1E293B"/>
                </a:solidFill>
                <a:latin typeface="Calibri"/>
              </a:rPr>
              <a:t>•  329,044 films from TMDB + awards records + Wikipedia director bios.</a:t>
            </a:r>
          </a:p>
          <a:p>
            <a:pPr>
              <a:spcAft>
                <a:spcPts val="600"/>
              </a:spcAft>
            </a:pPr>
            <a:r>
              <a:rPr sz="2000" dirty="0">
                <a:solidFill>
                  <a:srgbClr val="1E293B"/>
                </a:solidFill>
                <a:latin typeface="Calibri"/>
              </a:rPr>
              <a:t>•  564-dim feature matrix organized into 7 modality blocks.</a:t>
            </a:r>
          </a:p>
          <a:p>
            <a:pPr>
              <a:spcAft>
                <a:spcPts val="600"/>
              </a:spcAft>
            </a:pPr>
            <a:r>
              <a:rPr sz="2000" dirty="0">
                <a:solidFill>
                  <a:srgbClr val="1E293B"/>
                </a:solidFill>
                <a:latin typeface="Calibri"/>
              </a:rPr>
              <a:t>•  Recover 3 orthogonal label axes without labels: genre, decade, language.</a:t>
            </a:r>
          </a:p>
          <a:p>
            <a:pPr>
              <a:spcAft>
                <a:spcPts val="600"/>
              </a:spcAft>
            </a:pPr>
            <a:r>
              <a:rPr sz="2000" dirty="0">
                <a:solidFill>
                  <a:srgbClr val="1E293B"/>
                </a:solidFill>
                <a:latin typeface="Calibri"/>
              </a:rPr>
              <a:t>•  Evaluate via </a:t>
            </a:r>
            <a:r>
              <a:rPr sz="2000" dirty="0" err="1">
                <a:solidFill>
                  <a:srgbClr val="1E293B"/>
                </a:solidFill>
                <a:latin typeface="Calibri"/>
              </a:rPr>
              <a:t>KMeans</a:t>
            </a:r>
            <a:r>
              <a:rPr sz="2000" dirty="0">
                <a:solidFill>
                  <a:srgbClr val="1E293B"/>
                </a:solidFill>
                <a:latin typeface="Calibri"/>
              </a:rPr>
              <a:t> clustering of the latent → NMI / ARI.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89846"/>
              </p:ext>
            </p:extLst>
          </p:nvPr>
        </p:nvGraphicFramePr>
        <p:xfrm>
          <a:off x="5592727" y="1508758"/>
          <a:ext cx="6203031" cy="4594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6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7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76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1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Block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Dim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01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popularity, runtime, votes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01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genre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21-way one-hot + 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01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top-30 langs (~99% zero)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114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E293B"/>
                          </a:solidFill>
                          <a:latin typeface="Calibri"/>
                        </a:rPr>
                        <a:t>decade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decade_norm + 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9017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E293B"/>
                          </a:solidFill>
                          <a:latin typeface="Calibri"/>
                        </a:rPr>
                        <a:t>awards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Oscar/BAFTA/Cannes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901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MiniLM-L6-v2 embeddings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017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E293B"/>
                          </a:solidFill>
                          <a:latin typeface="Calibri"/>
                        </a:rPr>
                        <a:t>director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E293B"/>
                          </a:solidFill>
                          <a:latin typeface="Calibri"/>
                        </a:rPr>
                        <a:t>bio_pca_64 + lang/country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Schedule &amp;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Aligned to the SENG 474 Spring 2026 syllabus (W1–W15, 11/02–20/05).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4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25/02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Team formation submitted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11/03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proposal / abstract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25/03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Midterm exam (course-wide)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W9–W11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Six runs trained and evaluated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22/04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UMAP latent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22/04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Intermediate Report Submission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W12–W14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VAE + F1/F2/k-sweep ablations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13/05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demo (presentation 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20/05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demo (presentation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2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20/05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Final Report + Demo Video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231852" cy="6155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4000" b="0" dirty="0">
                <a:solidFill>
                  <a:srgbClr val="C2410C"/>
                </a:solidFill>
                <a:latin typeface="Calibri Light"/>
              </a:rPr>
              <a:t>Work Completed: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99" y="1249985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 dirty="0">
                <a:solidFill>
                  <a:srgbClr val="64748B"/>
                </a:solidFill>
                <a:latin typeface="Calibri"/>
              </a:rPr>
              <a:t>564-dim feature matrix, 7 modality blocks, frozen v1.2.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35785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4854" y="2743200"/>
            <a:ext cx="5040244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1E293B"/>
                </a:solidFill>
                <a:latin typeface="Calibri"/>
              </a:rPr>
              <a:t>•  Three sources merged: TMDB, awards records, Wikipedia director bios.</a:t>
            </a: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1E293B"/>
                </a:solidFill>
                <a:latin typeface="Calibri"/>
              </a:rPr>
              <a:t>•  Sparse modalities preserved as one-hot (interpretable).</a:t>
            </a: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1E293B"/>
                </a:solidFill>
                <a:latin typeface="Calibri"/>
              </a:rPr>
              <a:t>•  Missing release date encoded as binary flag — turned out to be structurally relevant (slide 12).</a:t>
            </a:r>
          </a:p>
          <a:p>
            <a:pPr algn="l">
              <a:spcAft>
                <a:spcPts val="600"/>
              </a:spcAft>
            </a:pPr>
            <a:r>
              <a:rPr sz="1800" dirty="0">
                <a:solidFill>
                  <a:srgbClr val="1E293B"/>
                </a:solidFill>
                <a:latin typeface="Calibri"/>
              </a:rPr>
              <a:t>•  Director-bio reconstruction loss masked by </a:t>
            </a:r>
            <a:r>
              <a:rPr sz="1800" dirty="0" err="1">
                <a:solidFill>
                  <a:srgbClr val="1E293B"/>
                </a:solidFill>
                <a:latin typeface="Calibri"/>
              </a:rPr>
              <a:t>has_director_bio</a:t>
            </a:r>
            <a:r>
              <a:rPr sz="1800" dirty="0">
                <a:solidFill>
                  <a:srgbClr val="1E293B"/>
                </a:solidFill>
                <a:latin typeface="Calibri"/>
              </a:rPr>
              <a:t> flag (G2 masking).</a:t>
            </a:r>
          </a:p>
        </p:txBody>
      </p:sp>
      <p:pic>
        <p:nvPicPr>
          <p:cNvPr id="8" name="Picture 7" descr="multilingua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098" y="2263103"/>
            <a:ext cx="6946902" cy="27081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58521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4748B"/>
                </a:solidFill>
                <a:latin typeface="Calibri"/>
              </a:rPr>
              <a:t>Multilingual coverage — long tail motivates sparsity-aware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Architecture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Multi-modal backbone, W2 inverse-variance loss, G2 bio masking, DEC 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6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pic>
        <p:nvPicPr>
          <p:cNvPr id="7" name="Picture 6" descr="architecture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35" y="1986920"/>
            <a:ext cx="10594281" cy="45404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Metrics — How We Measure Cluster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Cluster the 64-dim latent with KMeans (k=21); score the partition against three orthogonal label axes.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7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2563EB"/>
                </a:solidFill>
                <a:latin typeface="Calibri Light"/>
              </a:rPr>
              <a:t>NMI</a:t>
            </a:r>
          </a:p>
          <a:p>
            <a:pPr>
              <a:spcAft>
                <a:spcPts val="800"/>
              </a:spcAft>
            </a:pPr>
            <a:r>
              <a:rPr sz="1500" i="1">
                <a:solidFill>
                  <a:srgbClr val="64748B"/>
                </a:solidFill>
                <a:latin typeface="Calibri"/>
              </a:rPr>
              <a:t>Normalized Mutual Information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Range: </a:t>
            </a:r>
            <a:r>
              <a:rPr sz="1300">
                <a:solidFill>
                  <a:srgbClr val="1E293B"/>
                </a:solidFill>
                <a:latin typeface="Calibri"/>
              </a:rPr>
              <a:t>0 to 1   (1 = perfect overlap, 0 = independent)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Measures: </a:t>
            </a:r>
            <a:r>
              <a:rPr sz="1300">
                <a:solidFill>
                  <a:srgbClr val="1E293B"/>
                </a:solidFill>
                <a:latin typeface="Calibri"/>
              </a:rPr>
              <a:t>shared information between partition and labels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Robust to: </a:t>
            </a:r>
            <a:r>
              <a:rPr sz="1300">
                <a:solidFill>
                  <a:srgbClr val="1E293B"/>
                </a:solidFill>
                <a:latin typeface="Calibri"/>
              </a:rPr>
              <a:t>label permutations (cluster IDs can be relabeled freely)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Best when: </a:t>
            </a:r>
            <a:r>
              <a:rPr sz="1300">
                <a:solidFill>
                  <a:srgbClr val="1E293B"/>
                </a:solidFill>
                <a:latin typeface="Calibri"/>
              </a:rPr>
              <a:t>the latent encodes axis information richly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1732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55448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C2410C"/>
                </a:solidFill>
                <a:latin typeface="Calibri Light"/>
              </a:rPr>
              <a:t>ARI</a:t>
            </a:r>
          </a:p>
          <a:p>
            <a:pPr>
              <a:spcAft>
                <a:spcPts val="800"/>
              </a:spcAft>
            </a:pPr>
            <a:r>
              <a:rPr sz="1500" i="1">
                <a:solidFill>
                  <a:srgbClr val="64748B"/>
                </a:solidFill>
                <a:latin typeface="Calibri"/>
              </a:rPr>
              <a:t>Adjusted Rand Index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Range: </a:t>
            </a:r>
            <a:r>
              <a:rPr sz="1300">
                <a:solidFill>
                  <a:srgbClr val="1E293B"/>
                </a:solidFill>
                <a:latin typeface="Calibri"/>
              </a:rPr>
              <a:t>−1 to 1   (1 = perfect, 0 = random, &lt; 0 = worse than random)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Measures: </a:t>
            </a:r>
            <a:r>
              <a:rPr sz="1300">
                <a:solidFill>
                  <a:srgbClr val="1E293B"/>
                </a:solidFill>
                <a:latin typeface="Calibri"/>
              </a:rPr>
              <a:t>partition agreement, adjusted for chance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Sensitive to: </a:t>
            </a:r>
            <a:r>
              <a:rPr sz="1300">
                <a:solidFill>
                  <a:srgbClr val="1E293B"/>
                </a:solidFill>
                <a:latin typeface="Calibri"/>
              </a:rPr>
              <a:t>crisp cluster boundaries — penalizes smearing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Best when: </a:t>
            </a:r>
            <a:r>
              <a:rPr sz="1300">
                <a:solidFill>
                  <a:srgbClr val="1E293B"/>
                </a:solidFill>
                <a:latin typeface="Calibri"/>
              </a:rPr>
              <a:t>clusters cleanly partition by axis labels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31920"/>
          <a:ext cx="1127729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Prefix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NMI variant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ARI variant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Axis (ground truth)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Cardinality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  (genre)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gNMI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gARI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primary_genre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  (decade)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dNMI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dARI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decade_bin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~12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  (language)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lNMI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lang_top10  (top 10 + other)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32120"/>
            <a:ext cx="11277295" cy="914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Calibri"/>
              </a:rPr>
              <a:t>Why both NMI and ARI?  </a:t>
            </a:r>
            <a:r>
              <a:rPr sz="1300">
                <a:solidFill>
                  <a:srgbClr val="1E293B"/>
                </a:solidFill>
                <a:latin typeface="Calibri"/>
              </a:rPr>
              <a:t>NMI alone can be inflated by smearing structure across many small clusters; ARI penalizes that. Reporting both lets us tell signal apart from partition crispness — DEC's diagnostic signature is ARI gain  &gt;  NMI gain, indicating tighter cluster boundaries rather than new structural 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Modeling MVP — Six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Three tiers, six metrics, four different column winners.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8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5740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10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10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0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10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110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1104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gNMI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gARI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lNMI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lARI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kmeans_raw_k21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pca_kmeans_k21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0.085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vanilla_ae_z64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ae_z64_w1 (W1 ablation)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0.165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ae_z64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dec_z64_k21 (BEST)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4748B"/>
                </a:solidFill>
                <a:latin typeface="Calibri"/>
              </a:rPr>
              <a:t>z = 64, KMeans k = 21. No model wins all six metrics — the principled-trade-off result.   (Metric definitions on slide 7.)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Ablation Evidence — Each Choice Tested in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Three controlled tests isolate the contribution of each architectural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1277295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Ablation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Controlled test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Best 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Modality projection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Vanilla concat-AE  →  multi-modal 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lang_NMI +178 %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Wins big on language; modest on genre.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Loss weighting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 uniform  →  W2 inverse-variance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lang_NMI +277 %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Critical: W1 collapses high-dim sparse blocks.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fine-tuning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 alone  →  AE + 21 KL+recon epochs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genre_ARI +6.6 %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Sharpens partitions; ARI gain &gt; NMI gain.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572000"/>
            <a:ext cx="11277295" cy="13258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500" b="1">
                <a:solidFill>
                  <a:srgbClr val="1E293B"/>
                </a:solidFill>
                <a:latin typeface="Calibri"/>
              </a:rPr>
              <a:t>Why ablations matter: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80"/>
            <a:ext cx="10972800" cy="868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>
                <a:solidFill>
                  <a:srgbClr val="1E293B"/>
                </a:solidFill>
                <a:latin typeface="Calibri"/>
              </a:rPr>
              <a:t>Each ablation isolates one architectural decision and quantifies its contribution. Without controlled tests, gains from W2 weighting (+99 % on gNMI, +277 % on lNMI) would be conflated with gains from modality projection itself. Diagnostic side-effect: W1 early-stopped at epoch 37 vs W2's 69 — a model-health signal that the optimizer cannot escape modality imbalance under uniform weighting.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89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64748B"/>
                </a:solidFill>
                <a:latin typeface="Calibri"/>
              </a:rPr>
              <a:t>Deferred to final report (W12–W14): F1 (no-text) · F2 (no-director-profile) · VAE family (z = 32 / 64 / 128) · AE z-dim sweep · DEC k-sweep (9-cell grid) · W4 (Kendall learned uncertainty).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Headline Result — H2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Best deep model vs best non-deep baseline on genre_NMI.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82014" y="1374986"/>
            <a:ext cx="6227666" cy="27699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8000" b="0" dirty="0">
                <a:solidFill>
                  <a:srgbClr val="C2410C"/>
                </a:solidFill>
                <a:latin typeface="Calibri Light"/>
              </a:rPr>
              <a:t>+</a:t>
            </a:r>
            <a:r>
              <a:rPr sz="15000" b="0" dirty="0">
                <a:solidFill>
                  <a:srgbClr val="C2410C"/>
                </a:solidFill>
                <a:latin typeface="Calibri Light"/>
              </a:rPr>
              <a:t>205</a:t>
            </a:r>
            <a:r>
              <a:rPr sz="18000" b="0" dirty="0">
                <a:solidFill>
                  <a:srgbClr val="C2410C"/>
                </a:solidFill>
                <a:latin typeface="Calibri Light"/>
              </a:rPr>
              <a:t>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Calibri"/>
              </a:rPr>
              <a:t>dec_z64_k21: 0.332     vs     kmeans_raw_k21: 0.109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+295 %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PCA-KMeans (gNMI)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+287 %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raw-KMeans (gARI)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+213 %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PCA-KMeans (lNMI)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Latent Topology Evolves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vanilla → multi-modal → DEC: blobs → islands → tight islands.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11 / 14</a:t>
            </a:r>
          </a:p>
        </p:txBody>
      </p:sp>
      <p:pic>
        <p:nvPicPr>
          <p:cNvPr id="6" name="Picture 5" descr="umap_comparison_gen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02" y="1600200"/>
            <a:ext cx="11897693" cy="31100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4748B"/>
                </a:solidFill>
                <a:latin typeface="Calibri"/>
              </a:rPr>
              <a:t>UMAP, 15K subsample, cosine metric. Same projection settings; only the underlying 64-dim latent differs.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Bonus Finding — Missing-Data Manifold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Films with no release date form a coherent latent sub-manifold.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12 / 14</a:t>
            </a:r>
          </a:p>
        </p:txBody>
      </p:sp>
      <p:pic>
        <p:nvPicPr>
          <p:cNvPr id="6" name="Picture 5" descr="umap_dec_z64_k21_de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04" y="1280160"/>
            <a:ext cx="7212496" cy="5581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783080"/>
            <a:ext cx="42976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293B"/>
                </a:solidFill>
                <a:latin typeface="Calibri"/>
              </a:rPr>
              <a:t>•  ~7.4 % of films have no release date (</a:t>
            </a:r>
            <a:r>
              <a:rPr sz="1500" dirty="0" err="1">
                <a:solidFill>
                  <a:srgbClr val="1E293B"/>
                </a:solidFill>
                <a:latin typeface="Calibri"/>
              </a:rPr>
              <a:t>decade_bin</a:t>
            </a:r>
            <a:r>
              <a:rPr sz="1500" dirty="0">
                <a:solidFill>
                  <a:srgbClr val="1E293B"/>
                </a:solidFill>
                <a:latin typeface="Calibri"/>
              </a:rPr>
              <a:t> = 0).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293B"/>
                </a:solidFill>
                <a:latin typeface="Calibri"/>
              </a:rPr>
              <a:t>•  These films form an isolated red cluster (upper-right) across all 4 deep architectures.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293B"/>
                </a:solidFill>
                <a:latin typeface="Calibri"/>
              </a:rPr>
              <a:t>•  DEC compresses them into the cleanest partition.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293B"/>
                </a:solidFill>
                <a:latin typeface="Calibri"/>
              </a:rPr>
              <a:t>•  Not predicted by H1–H3 — post-hoc interpretability win.</a:t>
            </a: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293B"/>
                </a:solidFill>
                <a:latin typeface="Calibri"/>
              </a:rPr>
              <a:t>•  Practical use: latent-space queries naturally cluster missing-metadata films for triage.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Plan to the Final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Deferred experiments with target completion windows (W13–W15).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13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90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9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Why 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VAE family (z = 32 / 64 / 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Probabilistic head not yet trained.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2026-05-09 (W13)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 z-dim sweep (z = 32, 128)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fixed z = 64.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2026-05-09 (W13)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F1 ablation (no text)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Quantify text-block contribution.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2026-05-12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F2 ablation (no director profile)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Quantify director-block contribution.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2026-05-12 (W14)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k-sweep (9-cell z×k grid)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runs only z=64 × k=21.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2026-05-15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W4 (Kendall learned uncertainty)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Stretch loss; learnable per-block weights.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2026-05-15 (W14)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Linear probing on frozen latents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Held-out classifier evaluation per axis.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2026-05-16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5-seed confidence intervals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single-seed → CIs needed.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Reproducibility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Single deterministic run script.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4748B"/>
                </a:solidFill>
                <a:latin typeface="Calibri"/>
              </a:rPr>
              <a:t>Final report submission target: 2026-05-20 (W15) — coincides with Project Demo session 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Status Summary  · 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All three pre-registered hypotheses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14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9441702"/>
              </p:ext>
            </p:extLst>
          </p:nvPr>
        </p:nvGraphicFramePr>
        <p:xfrm>
          <a:off x="378570" y="1575725"/>
          <a:ext cx="11434859" cy="2884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8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8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8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87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120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120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genre_NMI &gt; AE genre_NMI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 &gt; 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120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E293B"/>
                          </a:solidFill>
                          <a:latin typeface="Calibri"/>
                        </a:rPr>
                        <a:t>Best-deep ≥ 1.10 × best-non-deep on </a:t>
                      </a:r>
                      <a:r>
                        <a:rPr sz="1200" dirty="0" err="1">
                          <a:solidFill>
                            <a:srgbClr val="1E293B"/>
                          </a:solidFill>
                          <a:latin typeface="Calibri"/>
                        </a:rPr>
                        <a:t>genre_NMI</a:t>
                      </a:r>
                      <a:endParaRPr sz="1200" dirty="0">
                        <a:solidFill>
                          <a:srgbClr val="1E293B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+205 %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120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Best-deep genre_NMI &gt; 0.15 absolute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 ≫ 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99636" y="4576465"/>
            <a:ext cx="112772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dirty="0">
                <a:solidFill>
                  <a:srgbClr val="C2410C"/>
                </a:solidFill>
                <a:latin typeface="Calibri Light"/>
              </a:rPr>
              <a:t>Best model: dec_z64_k21  —  </a:t>
            </a:r>
            <a:r>
              <a:rPr sz="2400" dirty="0" err="1">
                <a:solidFill>
                  <a:srgbClr val="C2410C"/>
                </a:solidFill>
                <a:latin typeface="Calibri Light"/>
              </a:rPr>
              <a:t>genre_NMI</a:t>
            </a:r>
            <a:r>
              <a:rPr sz="2400" dirty="0">
                <a:solidFill>
                  <a:srgbClr val="C2410C"/>
                </a:solidFill>
                <a:latin typeface="Calibri Light"/>
              </a:rPr>
              <a:t> = 0.332,  </a:t>
            </a:r>
            <a:r>
              <a:rPr sz="2400" dirty="0" err="1">
                <a:solidFill>
                  <a:srgbClr val="C2410C"/>
                </a:solidFill>
                <a:latin typeface="Calibri Light"/>
              </a:rPr>
              <a:t>lang_NMI</a:t>
            </a:r>
            <a:r>
              <a:rPr sz="2400" dirty="0">
                <a:solidFill>
                  <a:srgbClr val="C2410C"/>
                </a:solidFill>
                <a:latin typeface="Calibri Light"/>
              </a:rPr>
              <a:t> = 0.294,  </a:t>
            </a:r>
            <a:r>
              <a:rPr sz="2400" dirty="0" err="1">
                <a:solidFill>
                  <a:srgbClr val="C2410C"/>
                </a:solidFill>
                <a:latin typeface="Calibri Light"/>
              </a:rPr>
              <a:t>decade_NMI</a:t>
            </a:r>
            <a:r>
              <a:rPr sz="2400" dirty="0">
                <a:solidFill>
                  <a:srgbClr val="C2410C"/>
                </a:solidFill>
                <a:latin typeface="Calibri Light"/>
              </a:rPr>
              <a:t> = 0.342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818707" y="5780730"/>
            <a:ext cx="135139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dirty="0" err="1">
                <a:solidFill>
                  <a:srgbClr val="64748B"/>
                </a:solidFill>
                <a:latin typeface="Calibri"/>
              </a:rPr>
              <a:t>github.com</a:t>
            </a:r>
            <a:r>
              <a:rPr sz="2400" dirty="0">
                <a:solidFill>
                  <a:srgbClr val="64748B"/>
                </a:solidFill>
                <a:latin typeface="Calibri"/>
              </a:rPr>
              <a:t>/</a:t>
            </a:r>
            <a:r>
              <a:rPr sz="2400" dirty="0" err="1">
                <a:solidFill>
                  <a:srgbClr val="64748B"/>
                </a:solidFill>
                <a:latin typeface="Calibri"/>
              </a:rPr>
              <a:t>barandincoguz</a:t>
            </a:r>
            <a:r>
              <a:rPr sz="2400" dirty="0">
                <a:solidFill>
                  <a:srgbClr val="64748B"/>
                </a:solidFill>
                <a:latin typeface="Calibri"/>
              </a:rPr>
              <a:t>/</a:t>
            </a:r>
            <a:r>
              <a:rPr sz="2400" dirty="0" err="1">
                <a:solidFill>
                  <a:srgbClr val="64748B"/>
                </a:solidFill>
                <a:latin typeface="Calibri"/>
              </a:rPr>
              <a:t>CineEmbed</a:t>
            </a:r>
            <a:r>
              <a:rPr sz="2400" dirty="0">
                <a:solidFill>
                  <a:srgbClr val="64748B"/>
                </a:solidFill>
                <a:latin typeface="Calibri"/>
              </a:rPr>
              <a:t>-     ·     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1636</Words>
  <Application>Microsoft Macintosh PowerPoint</Application>
  <PresentationFormat>Widescreen</PresentationFormat>
  <Paragraphs>299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AHMET BARAN DİNÇOĞUZ</cp:lastModifiedBy>
  <cp:revision>7</cp:revision>
  <dcterms:created xsi:type="dcterms:W3CDTF">2013-01-27T09:14:16Z</dcterms:created>
  <dcterms:modified xsi:type="dcterms:W3CDTF">2026-05-06T10:08:00Z</dcterms:modified>
  <cp:category/>
</cp:coreProperties>
</file>