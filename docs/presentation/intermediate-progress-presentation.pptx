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77295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>
                <a:solidFill>
                  <a:srgbClr val="FFFFFF"/>
                </a:solidFill>
                <a:latin typeface="Calibri Light"/>
              </a:rPr>
              <a:t>CineEmbed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000">
                <a:solidFill>
                  <a:srgbClr val="FFFFFF"/>
                </a:solidFill>
                <a:latin typeface="Calibri"/>
              </a:rPr>
              <a:t>Multi-Modal Unsupervised Embedding of 329,044 Films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000">
                <a:solidFill>
                  <a:srgbClr val="2563EB"/>
                </a:solidFill>
                <a:latin typeface="Calibri"/>
              </a:rPr>
              <a:t>Intermediate Progress Report  ·  v1.2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772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200">
                <a:solidFill>
                  <a:srgbClr val="1E293B"/>
                </a:solidFill>
                <a:latin typeface="Calibri"/>
              </a:rPr>
              <a:t>Ahmet Baran Dincoguz   ·   Arda Arvas   ·   Bertan Kaan 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4748B"/>
                </a:solidFill>
                <a:latin typeface="Calibri"/>
              </a:rPr>
              <a:t>SENG 474 — Deep Learning · Spring 2026 · TED University · 2026-05-06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563EB"/>
                </a:solidFill>
                <a:latin typeface="Calibri"/>
              </a:rPr>
              <a:t>github.com/barandincoguz/CineEmbed-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Project Status: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Modeling MVP delivered. Hypotheses H1, H2, H3 all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6400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Six runs trained, evaluated against 3 orthogonal label axes (genre · decade · language).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Best deep model dec_z64_k21 reaches genre_NMI = 0.332, +205 % over best non-deep baseline.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Three controlled ablations (modality projection · loss weighting · DEC fine-tune) — see slide 9.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Bonus finding: films with missing release date form a coherent latent sub-manifold.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11680"/>
            <a:ext cx="4937760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0" b="0">
                <a:solidFill>
                  <a:srgbClr val="C2410C"/>
                </a:solidFill>
                <a:latin typeface="Calibri Light"/>
              </a:rPr>
              <a:t>+205 %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4805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Calibri"/>
              </a:rPr>
              <a:t>DEC genre_NMI vs KMeans on raw features (0.332 vs 0.109)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Project 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What we set out to do, on what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Train unsupervised 64-dim representations of movie metadata.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329,044 films from TMDB + awards records + Wikipedia director bios.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564-dim feature matrix organized into 7 modality blocks.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Recover 3 orthogonal label axes without labels: genre, decade, language.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Evaluate via KMeans clustering of the latent → NMI / ARI.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50876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popularity, runtime, votes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21-way one-hot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top-30 langs (~99%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decade_norm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awards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Oscar/BAFTA/Cannes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MiniLM-L6-v2 embeddings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director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bio_pca_64 + lang/country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Schedule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Aligned to the SENG 474 Spring 2026 syllabus (W1–W15, 11/02–20/05).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Team formation submitted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11/03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proposal / abstract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Midterm exam (course-wide)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W9–W11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Six runs trained and evaluated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UMAP latent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Intermediate Report Submission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W12–W14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+ F1/F2/k-sweep ablations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13/05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Final Report + Demo Video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564-dim feature matrix, 7 modality blocks, frozen v1.2.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6400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Three sources merged: TMDB, awards records, Wikipedia director bios.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Sparse modalities preserved as one-hot (interpretable).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Missing release date encoded as binary flag — turned out to be structurally relevant (slide 12).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Director-bio reconstruction loss masked by has_director_bio flag (G2 masking).</a:t>
            </a:r>
          </a:p>
        </p:txBody>
      </p:sp>
      <p:pic>
        <p:nvPicPr>
          <p:cNvPr id="8" name="Picture 7" descr="multilingua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74519"/>
            <a:ext cx="4754880" cy="18535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58521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Multilingual coverage — long tail motivates sparsity-aware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Architecture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Multi-modal backbone, W2 inverse-variance loss, G2 bio masking, DEC 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6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pic>
        <p:nvPicPr>
          <p:cNvPr id="7" name="Picture 6" descr="architecture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772400" cy="3331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2057400"/>
            <a:ext cx="3200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7 modality projections → concat (164-dim) → backbone → z=64.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W2: per-block inverse-variance weighting (clipped to [0.1, 10]).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G2: mask bio reconstruction loss by has_director_bio.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DEC head: Student-t soft assignment, k=21, γ=0.1 on KL.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Metrics — How We Measure Cluster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Cluster the 64-dim latent with KMeans (k=21); score the partition against three orthogonal label axes.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2563EB"/>
                </a:solidFill>
                <a:latin typeface="Calibri Light"/>
              </a:rPr>
              <a:t>NMI</a:t>
            </a:r>
          </a:p>
          <a:p>
            <a:pPr>
              <a:spcAft>
                <a:spcPts val="800"/>
              </a:spcAft>
            </a:pPr>
            <a:r>
              <a:rPr sz="1500" i="1">
                <a:solidFill>
                  <a:srgbClr val="64748B"/>
                </a:solidFill>
                <a:latin typeface="Calibri"/>
              </a:rPr>
              <a:t>Normalized Mutual Information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Range: </a:t>
            </a:r>
            <a:r>
              <a:rPr sz="1300">
                <a:solidFill>
                  <a:srgbClr val="1E293B"/>
                </a:solidFill>
                <a:latin typeface="Calibri"/>
              </a:rPr>
              <a:t>0 to 1   (1 = perfect overlap, 0 = independent)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Measures: </a:t>
            </a:r>
            <a:r>
              <a:rPr sz="1300">
                <a:solidFill>
                  <a:srgbClr val="1E293B"/>
                </a:solidFill>
                <a:latin typeface="Calibri"/>
              </a:rPr>
              <a:t>shared information between partition and labels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Robust to: </a:t>
            </a:r>
            <a:r>
              <a:rPr sz="1300">
                <a:solidFill>
                  <a:srgbClr val="1E293B"/>
                </a:solidFill>
                <a:latin typeface="Calibri"/>
              </a:rPr>
              <a:t>label permutations (cluster IDs can be relabeled freely)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Best when: </a:t>
            </a:r>
            <a:r>
              <a:rPr sz="1300">
                <a:solidFill>
                  <a:srgbClr val="1E293B"/>
                </a:solidFill>
                <a:latin typeface="Calibri"/>
              </a:rPr>
              <a:t>the latent encodes axis information richly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1732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C2410C"/>
                </a:solidFill>
                <a:latin typeface="Calibri Light"/>
              </a:rPr>
              <a:t>ARI</a:t>
            </a:r>
          </a:p>
          <a:p>
            <a:pPr>
              <a:spcAft>
                <a:spcPts val="800"/>
              </a:spcAft>
            </a:pPr>
            <a:r>
              <a:rPr sz="1500" i="1">
                <a:solidFill>
                  <a:srgbClr val="64748B"/>
                </a:solidFill>
                <a:latin typeface="Calibri"/>
              </a:rPr>
              <a:t>Adjusted Rand Index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Range: </a:t>
            </a:r>
            <a:r>
              <a:rPr sz="1300">
                <a:solidFill>
                  <a:srgbClr val="1E293B"/>
                </a:solidFill>
                <a:latin typeface="Calibri"/>
              </a:rPr>
              <a:t>−1 to 1   (1 = perfect, 0 = random, &lt; 0 = worse than random)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Measures: </a:t>
            </a:r>
            <a:r>
              <a:rPr sz="1300">
                <a:solidFill>
                  <a:srgbClr val="1E293B"/>
                </a:solidFill>
                <a:latin typeface="Calibri"/>
              </a:rPr>
              <a:t>partition agreement, adjusted for chance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Sensitive to: </a:t>
            </a:r>
            <a:r>
              <a:rPr sz="1300">
                <a:solidFill>
                  <a:srgbClr val="1E293B"/>
                </a:solidFill>
                <a:latin typeface="Calibri"/>
              </a:rPr>
              <a:t>crisp cluster boundaries — penalizes smearing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Best when: </a:t>
            </a:r>
            <a:r>
              <a:rPr sz="1300">
                <a:solidFill>
                  <a:srgbClr val="1E293B"/>
                </a:solidFill>
                <a:latin typeface="Calibri"/>
              </a:rPr>
              <a:t>clusters cleanly partition by axis labels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1127729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Prefix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NMI variant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ARI variant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Axis (ground truth)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Cardinality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  (genre)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primary_genre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  (decade)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dNMI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dARI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decade_bin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~12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  (language)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lang_top10  (top 10 + other)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32120"/>
            <a:ext cx="11277295" cy="914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Why both NMI and ARI?  </a:t>
            </a:r>
            <a:r>
              <a:rPr sz="1300">
                <a:solidFill>
                  <a:srgbClr val="1E293B"/>
                </a:solidFill>
                <a:latin typeface="Calibri"/>
              </a:rPr>
              <a:t>NMI alone can be inflated by smearing structure across many small clusters; ARI penalizes that. Reporting both lets us tell signal apart from partition crispness — DEC's diagnostic signature is ARI gain  &gt;  NMI gain, indicating tighter cluster boundaries rather than new structural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Modeling MVP — Six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tiers, six metrics, four different column winners.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8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5740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kmeans_raw_k21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pca_kmeans_k21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vanilla_ae_z64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ae_z64_w1 (W1 ablation)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0.165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dec_z64_k21 (BEST)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4748B"/>
                </a:solidFill>
                <a:latin typeface="Calibri"/>
              </a:rPr>
              <a:t>z = 64, KMeans k = 21. No model wins all six metrics — the principled-trade-off result.   (Metric definitions on slide 7.)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Ablation Evidence — Each Choice Tested in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controlled tests isolate the contribution of each architectural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1277295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Ablation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Controlled test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Best 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Modality projection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 concat-AE  →  multi-modal 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+178 %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Wins big on language; modest on genre.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Loss weighting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 uniform  →  W2 inverse-variance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+277 %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Critical: W1 collapses high-dim sparse blocks.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alone  →  AE + 21 KL+recon epochs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genre_ARI +6.6 %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Sharpens partitions; ARI gain &gt; NMI gain.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572000"/>
            <a:ext cx="11277295" cy="1325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1E293B"/>
                </a:solidFill>
                <a:latin typeface="Calibri"/>
              </a:rPr>
              <a:t>Why ablations matter: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10972800" cy="868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>
                <a:solidFill>
                  <a:srgbClr val="1E293B"/>
                </a:solidFill>
                <a:latin typeface="Calibri"/>
              </a:rPr>
              <a:t>Each ablation isolates one architectural decision and quantifies its contribution. Without controlled tests, gains from W2 weighting (+99 % on gNMI, +277 % on lNMI) would be conflated with gains from modality projection itself. Diagnostic side-effect: W1 early-stopped at epoch 37 vs W2's 69 — a model-health signal that the optimizer cannot escape modality imbalance under uniform weighting.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64748B"/>
                </a:solidFill>
                <a:latin typeface="Calibri"/>
              </a:rPr>
              <a:t>Deferred to final report (W12–W14): F1 (no-text) · F2 (no-director-profile) · VAE family (z = 32 / 64 / 128) · AE z-dim sweep · DEC k-sweep (9-cell grid) · W4 (Kendall learned uncertainty).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Headline Result —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Best deep model vs best non-deep baseline on genre_NMI.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772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0" b="0">
                <a:solidFill>
                  <a:srgbClr val="C2410C"/>
                </a:solidFill>
                <a:latin typeface="Calibri Light"/>
              </a:rPr>
              <a:t>+205 %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Calibri"/>
              </a:rPr>
              <a:t>dec_z64_k21: 0.332     vs     kmeans_raw_k21: 0.109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+295 %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(gNMI)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+287 %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raw-KMeans (gARI)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+213 %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(lNMI)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Latent Topology Evolves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vanilla → multi-modal → DEC: blobs → islands → tight islands.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11 / 14</a:t>
            </a:r>
          </a:p>
        </p:txBody>
      </p:sp>
      <p:pic>
        <p:nvPicPr>
          <p:cNvPr id="6" name="Picture 5" descr="umap_comparison_gen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2987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UMAP, 15K subsample, cosine metric. Same projection settings; only the underlying 64-dim latent differs.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Bonus Finding — Missing-Data Manifold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Films with no release date form a coherent latent sub-manifold.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12 / 14</a:t>
            </a:r>
          </a:p>
        </p:txBody>
      </p:sp>
      <p:pic>
        <p:nvPicPr>
          <p:cNvPr id="6" name="Picture 5" descr="umap_dec_z64_k21_de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53069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83080"/>
            <a:ext cx="4297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~7.4 % of films have no release date (decade_bin = 0).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These films form an isolated red cluster (upper-right) across all 4 deep architectures.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DEC compresses them into the cleanest partition.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Not predicted by H1–H3 — post-hoc interpretability win.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Practical use: latent-space queries naturally cluster missing-metadata films for triage.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Plan to the Final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Deferred experiments with target completion windows (W13–W15).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13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Why 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family (z = 32 / 64 / 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Probabilistic head not yet trained.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z-dim sweep (z = 32, 128)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fixed z = 64.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F1 ablation (no 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text-block contribution.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F2 ablation (no director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director-block contribution.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k-sweep (9-cell z×k grid)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runs only z=64 × k=21.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W4 (Kendall learned uncertainty)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Stretch loss; learnable per-block weights.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Linear probing on frozen latents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Held-out classifier evaluation per axis.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2026-05-16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5-seed confidence intervals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single-seed → CIs needed.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Reproducibility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Single deterministic run script.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4748B"/>
                </a:solidFill>
                <a:latin typeface="Calibri"/>
              </a:rPr>
              <a:t>Final report submission target: 2026-05-20 (W15) — coincides with Project Demo session 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Status Summary  · 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All three pre-registered hypotheses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772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genre_NMI &gt; AE genre_NMI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&gt; 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Best-deep ≥ 1.10 × best-non-deep on genre_NMI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+205 %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Best-deep genre_NMI &gt; 0.15 absolute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≫ 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C2410C"/>
                </a:solidFill>
                <a:latin typeface="Calibri Light"/>
              </a:rPr>
              <a:t>Best model: dec_z64_k21  —  genre_NMI = 0.332,  lang_NMI = 0.294,  decade_NMI = 0.342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64748B"/>
                </a:solidFill>
                <a:latin typeface="Calibri"/>
              </a:rPr>
              <a:t>github.com/barandincoguz/CineEmbed-     ·     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