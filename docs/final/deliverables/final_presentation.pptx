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04"/>
  </p:normalViewPr>
  <p:slideViewPr>
    <p:cSldViewPr snapToGrid="0" snapToObjects="1">
      <p:cViewPr varScale="1">
        <p:scale>
          <a:sx n="114" d="100"/>
          <a:sy n="114" d="100"/>
        </p:scale>
        <p:origin x="66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9834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TEAM ROLES (split as relevant during Q&amp;A):</a:t>
            </a:r>
          </a:p>
          <a:p>
            <a:r>
              <a:rPr dirty="0"/>
              <a:t>  · Baran — pipeline, training, evaluation</a:t>
            </a:r>
          </a:p>
          <a:p>
            <a:r>
              <a:rPr dirty="0"/>
              <a:t>  · Arda — backend (</a:t>
            </a:r>
            <a:r>
              <a:rPr dirty="0" err="1"/>
              <a:t>FastAPI</a:t>
            </a:r>
            <a:r>
              <a:rPr dirty="0"/>
              <a:t>), API tests</a:t>
            </a:r>
          </a:p>
          <a:p>
            <a:r>
              <a:rPr dirty="0"/>
              <a:t>  · Kaan — frontend (</a:t>
            </a:r>
            <a:r>
              <a:rPr dirty="0" err="1"/>
              <a:t>Next.js</a:t>
            </a:r>
            <a:r>
              <a:rPr dirty="0"/>
              <a:t>), UX</a:t>
            </a:r>
          </a:p>
          <a:p>
            <a:endParaRPr dirty="0"/>
          </a:p>
          <a:p>
            <a:r>
              <a:rPr dirty="0"/>
              <a:t>If asked 'why this title?' — </a:t>
            </a:r>
            <a:r>
              <a:rPr dirty="0" err="1"/>
              <a:t>CineEmbed</a:t>
            </a:r>
            <a:r>
              <a:rPr dirty="0"/>
              <a:t> = Cinema + Embedding.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Q: Why </a:t>
            </a:r>
            <a:r>
              <a:rPr dirty="0" err="1"/>
              <a:t>TMDb</a:t>
            </a:r>
            <a:r>
              <a:rPr dirty="0"/>
              <a:t>, not </a:t>
            </a:r>
            <a:r>
              <a:rPr dirty="0" err="1"/>
              <a:t>MovieLens</a:t>
            </a:r>
            <a:r>
              <a:rPr dirty="0"/>
              <a:t> or Netflix Prize?</a:t>
            </a:r>
          </a:p>
          <a:p>
            <a:r>
              <a:rPr dirty="0"/>
              <a:t>A: </a:t>
            </a:r>
            <a:r>
              <a:rPr dirty="0" err="1"/>
              <a:t>TMDb</a:t>
            </a:r>
            <a:r>
              <a:rPr dirty="0"/>
              <a:t> has rich ITEM metadata (overview text, director, awards) with a free API. </a:t>
            </a:r>
            <a:r>
              <a:rPr dirty="0" err="1"/>
              <a:t>MovieLens</a:t>
            </a:r>
            <a:r>
              <a:rPr dirty="0"/>
              <a:t> / Netflix are user-rating-centric — wrong fit for content-based learning.</a:t>
            </a:r>
          </a:p>
          <a:p>
            <a:endParaRPr dirty="0"/>
          </a:p>
          <a:p>
            <a:r>
              <a:rPr dirty="0"/>
              <a:t>Q: Is 329k films enough?</a:t>
            </a:r>
          </a:p>
          <a:p>
            <a:r>
              <a:rPr dirty="0"/>
              <a:t>A: Yes — covers ~95 % of post-1980 commercial releases. The bottleneck is feature richness per film, not row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Q: Why not just label some films and train supervised?</a:t>
            </a:r>
          </a:p>
          <a:p>
            <a:r>
              <a:rPr dirty="0"/>
              <a:t>A: Hand-labelling 329k films is unrealistic, and the genre/decade/language axes ARE the labels — using them as supervision would invalidate the evaluation. We deliberately keep them OUT of the loss.</a:t>
            </a:r>
          </a:p>
          <a:p>
            <a:endParaRPr dirty="0"/>
          </a:p>
          <a:p>
            <a:r>
              <a:rPr dirty="0"/>
              <a:t>Q: Why three label axes and not one?</a:t>
            </a:r>
          </a:p>
          <a:p>
            <a:r>
              <a:rPr dirty="0"/>
              <a:t>A: Single-axis NMI hides modality-specific failures. Three orthogonal axes expose the Pareto trade-off (slide 11).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Q: Why MiniLM-L12-v2 for text (not BERT-large or GPT embeddings)?</a:t>
            </a:r>
          </a:p>
          <a:p>
            <a:r>
              <a:rPr dirty="0"/>
              <a:t>A: 384-d is the right size for 329k rows — bigger LMs add latency without downstream gain. Deterministic, free, runs offline on CPU.</a:t>
            </a:r>
          </a:p>
          <a:p>
            <a:endParaRPr dirty="0"/>
          </a:p>
          <a:p>
            <a:r>
              <a:rPr dirty="0"/>
              <a:t>Q: Director bio coverage is only 3.18 % — why include it?</a:t>
            </a:r>
          </a:p>
          <a:p>
            <a:r>
              <a:rPr dirty="0"/>
              <a:t>A: Where present, director identity is the strongest single signal for style similarity (see Nolan/Miyazaki/Tarantino on slide 21). Masking (G2 loss) keeps the missing-bio rows from poisoning the loss.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Q: Why seed = 42 everywhere?</a:t>
            </a:r>
          </a:p>
          <a:p>
            <a:r>
              <a:rPr dirty="0"/>
              <a:t>A: Single seed across the pipeline guarantees that the same EDA dump produces the same model produces the same index. Re-running the 107 </a:t>
            </a:r>
            <a:r>
              <a:rPr dirty="0" err="1"/>
              <a:t>pytest</a:t>
            </a:r>
            <a:r>
              <a:rPr dirty="0"/>
              <a:t> suite from a clean clone reproduces the demo bit-for-bit.</a:t>
            </a:r>
          </a:p>
          <a:p>
            <a:endParaRPr dirty="0"/>
          </a:p>
          <a:p>
            <a:r>
              <a:rPr dirty="0"/>
              <a:t>Q: Why </a:t>
            </a:r>
            <a:r>
              <a:rPr dirty="0" err="1"/>
              <a:t>MiniBatchKMeans</a:t>
            </a:r>
            <a:r>
              <a:rPr dirty="0"/>
              <a:t>, not full </a:t>
            </a:r>
            <a:r>
              <a:rPr dirty="0" err="1"/>
              <a:t>KMeans</a:t>
            </a:r>
            <a:r>
              <a:rPr dirty="0"/>
              <a:t>?</a:t>
            </a:r>
          </a:p>
          <a:p>
            <a:r>
              <a:rPr dirty="0"/>
              <a:t>A: 329k × 32 fits in memory but </a:t>
            </a:r>
            <a:r>
              <a:rPr dirty="0" err="1"/>
              <a:t>MiniBatchKMeans</a:t>
            </a:r>
            <a:r>
              <a:rPr dirty="0"/>
              <a:t> is 10× faster and the centroids are indistinguishable at k = 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Q: Why per-block projection instead of </a:t>
            </a:r>
            <a:r>
              <a:rPr dirty="0" err="1"/>
              <a:t>concat</a:t>
            </a:r>
            <a:r>
              <a:rPr dirty="0"/>
              <a:t>-then-encode?</a:t>
            </a:r>
          </a:p>
          <a:p>
            <a:r>
              <a:rPr dirty="0"/>
              <a:t>A: Modalities have wildly different dimensionalities (text 384-d, decade 2-d). Without per-block projection, the loss is dominated by whichever block has the highest variance — that's exactly the W1 failure on slide 13.</a:t>
            </a:r>
          </a:p>
          <a:p>
            <a:endParaRPr dirty="0"/>
          </a:p>
          <a:p>
            <a:r>
              <a:rPr dirty="0"/>
              <a:t>Q: Why under 500k parameters?</a:t>
            </a:r>
          </a:p>
          <a:p>
            <a:r>
              <a:rPr dirty="0"/>
              <a:t>A: Forces the model to compress, not </a:t>
            </a:r>
            <a:r>
              <a:rPr dirty="0" err="1"/>
              <a:t>memorise</a:t>
            </a:r>
            <a:r>
              <a:rPr dirty="0"/>
              <a:t>. Also test-pinned so future code changes can't accidentally inflate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Q: Why is the DEC loss weight 0.1 on reconstruction?</a:t>
            </a:r>
          </a:p>
          <a:p>
            <a:r>
              <a:rPr dirty="0"/>
              <a:t>A: Standard DEC schedule (Xie 2016). Too high → recon dominates and clusters don't sharpen. Too low → encoder drifts away from useful features.</a:t>
            </a:r>
          </a:p>
          <a:p>
            <a:endParaRPr dirty="0"/>
          </a:p>
          <a:p>
            <a:r>
              <a:rPr dirty="0"/>
              <a:t>Q: Why </a:t>
            </a:r>
            <a:r>
              <a:rPr dirty="0" err="1"/>
              <a:t>τ</a:t>
            </a:r>
            <a:r>
              <a:rPr dirty="0"/>
              <a:t> = 0.1 for </a:t>
            </a:r>
            <a:r>
              <a:rPr dirty="0" err="1"/>
              <a:t>InfoNCE</a:t>
            </a:r>
            <a:r>
              <a:rPr dirty="0"/>
              <a:t>?</a:t>
            </a:r>
          </a:p>
          <a:p>
            <a:r>
              <a:rPr dirty="0"/>
              <a:t>A: Default contrastive temperature. We did not tune </a:t>
            </a:r>
            <a:r>
              <a:rPr dirty="0" err="1"/>
              <a:t>τ</a:t>
            </a:r>
            <a:r>
              <a:rPr dirty="0"/>
              <a:t> — the </a:t>
            </a:r>
            <a:r>
              <a:rPr dirty="0" err="1"/>
              <a:t>InfoNCE</a:t>
            </a:r>
            <a:r>
              <a:rPr dirty="0"/>
              <a:t> pretext failed for a different reason (target augmentation breaks the label; see ND-1 on slide 14).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Q: Why genre@5, not genre@10 or @20?</a:t>
            </a:r>
          </a:p>
          <a:p>
            <a:r>
              <a:rPr dirty="0"/>
              <a:t>A: top-5 is what the demo UI shows. Aligning the metric with the deliverable was a deliberate ADR (D08).</a:t>
            </a:r>
          </a:p>
          <a:p>
            <a:endParaRPr dirty="0"/>
          </a:p>
          <a:p>
            <a:r>
              <a:rPr dirty="0"/>
              <a:t>Q: Why is </a:t>
            </a:r>
            <a:r>
              <a:rPr dirty="0" err="1"/>
              <a:t>dim_std</a:t>
            </a:r>
            <a:r>
              <a:rPr dirty="0"/>
              <a:t> a useful diagnostic?</a:t>
            </a:r>
          </a:p>
          <a:p>
            <a:r>
              <a:rPr dirty="0"/>
              <a:t>A: A latent dimension with std ≈ 0 carries no information — wasted capacity. The </a:t>
            </a:r>
            <a:r>
              <a:rPr dirty="0" err="1"/>
              <a:t>dim_std_min</a:t>
            </a:r>
            <a:r>
              <a:rPr dirty="0"/>
              <a:t> on slide 18 is what gave us F2.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Q: Why a +10 % threshold in H2?</a:t>
            </a:r>
          </a:p>
          <a:p>
            <a:r>
              <a:rPr dirty="0"/>
              <a:t>A: Pre-registered in the proposal — set BEFORE we trained anything. We over-shot at +205 %, which is reported relative to the BEST non-deep baseline (</a:t>
            </a:r>
            <a:r>
              <a:rPr dirty="0" err="1"/>
              <a:t>kmeans_raw</a:t>
            </a:r>
            <a:r>
              <a:rPr dirty="0"/>
              <a:t>), not a strawman.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Q: Why z = 64 for the MVP and not the final z = 32?</a:t>
            </a:r>
          </a:p>
          <a:p>
            <a:r>
              <a:rPr dirty="0"/>
              <a:t>A: Phase 0 was the architecture-discovery sweep — we hadn't run the z-sweep yet. MVP was 'is this approach viable?' (yes). Round 2 (slide 19) is where we picked z = 32.</a:t>
            </a:r>
          </a:p>
          <a:p>
            <a:endParaRPr dirty="0"/>
          </a:p>
          <a:p>
            <a:r>
              <a:rPr dirty="0"/>
              <a:t>Q: Why W1 only as an ablation and not the default?</a:t>
            </a:r>
          </a:p>
          <a:p>
            <a:r>
              <a:rPr dirty="0"/>
              <a:t>A: We knew variance imbalance would hurt — W1 was the falsification experiment that confirmed W2's contribution.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Q: How did you pick these nine findings?</a:t>
            </a:r>
          </a:p>
          <a:p>
            <a:r>
              <a:rPr dirty="0"/>
              <a:t>A: Each one maps to a different research-question dimension (modality, weighting, architecture, evaluation). Nothing was retro-fitted — these are the cells of the results matrix that yielded a clear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Q: Why 15k subsample for UMAP, not all 329k?</a:t>
            </a:r>
          </a:p>
          <a:p>
            <a:r>
              <a:rPr dirty="0"/>
              <a:t>A: Full UMAP at 329k takes 4+ hours and the manifold is stable above 10k — we verified with a 30k re-run. 15k is a reproducibility sweet spot.</a:t>
            </a:r>
          </a:p>
          <a:p>
            <a:endParaRPr dirty="0"/>
          </a:p>
          <a:p>
            <a:r>
              <a:rPr dirty="0"/>
              <a:t>Q: Are the 'islands' real or UMAP artifacts?</a:t>
            </a:r>
          </a:p>
          <a:p>
            <a:r>
              <a:rPr dirty="0"/>
              <a:t>A: Confirmed by genre@5 (slide 19) and the cluster-coherence numbers — the islands match named clusters in artifacts/clusters/.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Q: Why does W1 still win on decade?</a:t>
            </a:r>
          </a:p>
          <a:p>
            <a:r>
              <a:rPr dirty="0"/>
              <a:t>A: Decade is 2-d — </a:t>
            </a:r>
            <a:r>
              <a:rPr dirty="0" err="1"/>
              <a:t>StandardScaler</a:t>
            </a:r>
            <a:r>
              <a:rPr dirty="0"/>
              <a:t> already gives it per-feature variance ≈ 1, so W1 doesn't hurt it. Text (384-d) and language (31-d) are where W1 collapses.</a:t>
            </a:r>
          </a:p>
          <a:p>
            <a:endParaRPr dirty="0"/>
          </a:p>
          <a:p>
            <a:r>
              <a:rPr dirty="0"/>
              <a:t>Q: Missing-release-date films are 7.4 % — should you have dropped them?</a:t>
            </a:r>
          </a:p>
          <a:p>
            <a:r>
              <a:rPr dirty="0"/>
              <a:t>A: No — they form a coherent sub-manifold (slide 13 right). Dropping them would have removed legitimate signal about older/incomplete entries.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Q: Why present negative results at all?</a:t>
            </a:r>
          </a:p>
          <a:p>
            <a:r>
              <a:rPr dirty="0"/>
              <a:t>A: Honesty + the lessons drive the methodology. ND-1 surfaced the augmentation-vs-target principle. ND-2 isolated the contrastive encoder as the broken link, not DEC. ND-3 is in the future-work queue.</a:t>
            </a:r>
          </a:p>
          <a:p>
            <a:endParaRPr dirty="0"/>
          </a:p>
          <a:p>
            <a:r>
              <a:rPr dirty="0"/>
              <a:t>Q: Why didn't you log per-epoch recon vs KL for the VAE?</a:t>
            </a:r>
          </a:p>
          <a:p>
            <a:r>
              <a:rPr dirty="0"/>
              <a:t>A: Oversight — we logged total loss only. Adding the split is task #1 in the future-work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Q: Is this a known result in the clustering literature?</a:t>
            </a:r>
          </a:p>
          <a:p>
            <a:r>
              <a:rPr dirty="0"/>
              <a:t>A: Cluster-quality vs retrieval-quality divergence is known in general, but DEC-specific angular collapse (top-5 cosine ≈ 1.000) is not highlighted in Xie 2016 or follow-ups. That's what we contribute.</a:t>
            </a:r>
          </a:p>
          <a:p>
            <a:endParaRPr dirty="0"/>
          </a:p>
          <a:p>
            <a:r>
              <a:rPr dirty="0"/>
              <a:t>Q: Could you fix DEC by reducing the KL weight?</a:t>
            </a:r>
          </a:p>
          <a:p>
            <a:r>
              <a:rPr dirty="0"/>
              <a:t>A: Probably — but for our deliverable (retrieval), AE-only already wins. No reason to chase a fix when the simpler model is better.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Q: Why 400 queries for the histogram?</a:t>
            </a:r>
          </a:p>
          <a:p>
            <a:r>
              <a:rPr dirty="0"/>
              <a:t>A: 316 popular queries (full deploy eval set) + 84 random films spanning rare genres. Matches our deploy gate on slide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Q: Why 100 epochs (and not 200, 500)?</a:t>
            </a:r>
          </a:p>
          <a:p>
            <a:r>
              <a:rPr dirty="0"/>
              <a:t>A: Early-stop patience = 10. z = 64 and z = 128 hit early-stop before 100 (epoch 69 and 53). z = 32 used the full 100-epoch budget because </a:t>
            </a:r>
            <a:r>
              <a:rPr dirty="0" err="1"/>
              <a:t>val_loss</a:t>
            </a:r>
            <a:r>
              <a:rPr dirty="0"/>
              <a:t> was still improving — capacity is tight, so it learns longer.</a:t>
            </a:r>
          </a:p>
          <a:p>
            <a:endParaRPr dirty="0"/>
          </a:p>
          <a:p>
            <a:r>
              <a:rPr dirty="0"/>
              <a:t>Q: Why not z = 16 or z = 8?</a:t>
            </a:r>
          </a:p>
          <a:p>
            <a:r>
              <a:rPr dirty="0"/>
              <a:t>A: Outside our pre-registered grid {32, 64, 128}. Adding smaller z is the obvious next sweep — listed as future work.</a:t>
            </a:r>
          </a:p>
          <a:p>
            <a:endParaRPr dirty="0"/>
          </a:p>
          <a:p>
            <a:r>
              <a:rPr dirty="0"/>
              <a:t>Q: Five signals — isn't that p-hacking?</a:t>
            </a:r>
          </a:p>
          <a:p>
            <a:r>
              <a:rPr dirty="0"/>
              <a:t>A: All five (</a:t>
            </a:r>
            <a:r>
              <a:rPr dirty="0" err="1"/>
              <a:t>gNMI</a:t>
            </a:r>
            <a:r>
              <a:rPr dirty="0"/>
              <a:t>, </a:t>
            </a:r>
            <a:r>
              <a:rPr dirty="0" err="1"/>
              <a:t>dim_std</a:t>
            </a:r>
            <a:r>
              <a:rPr dirty="0"/>
              <a:t>, </a:t>
            </a:r>
            <a:r>
              <a:rPr dirty="0" err="1"/>
              <a:t>pair_cos_std</a:t>
            </a:r>
            <a:r>
              <a:rPr dirty="0"/>
              <a:t>, </a:t>
            </a:r>
            <a:r>
              <a:rPr dirty="0" err="1"/>
              <a:t>val_loss</a:t>
            </a:r>
            <a:r>
              <a:rPr dirty="0"/>
              <a:t>, simplicity) were decided BEFORE the sweep. We didn't pick metrics post-hoc.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Q: Why is </a:t>
            </a:r>
            <a:r>
              <a:rPr dirty="0" err="1"/>
              <a:t>dim_std</a:t>
            </a:r>
            <a:r>
              <a:rPr dirty="0"/>
              <a:t> = 0.025 'near-dead'?</a:t>
            </a:r>
          </a:p>
          <a:p>
            <a:r>
              <a:rPr dirty="0"/>
              <a:t>A: That dimension's output is essentially constant — it carries no per-film information. ~25 % of z = 128 dimensions are in that regime, which is why doubling capacity from 64 didn't help.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Q: Why only three z values? Why not a finer sweep?</a:t>
            </a:r>
          </a:p>
          <a:p>
            <a:r>
              <a:rPr dirty="0"/>
              <a:t>A: Log-spaced grid {32, 64, 128} — standard practice for capacity sweeps. The U-curve is monotone enough that a finer grid wouldn't change the verdict.</a:t>
            </a:r>
          </a:p>
          <a:p>
            <a:endParaRPr dirty="0"/>
          </a:p>
          <a:p>
            <a:r>
              <a:rPr dirty="0"/>
              <a:t>Q: Why pick </a:t>
            </a:r>
            <a:r>
              <a:rPr dirty="0" err="1"/>
              <a:t>gNMI</a:t>
            </a:r>
            <a:r>
              <a:rPr dirty="0"/>
              <a:t> as the primary axis?</a:t>
            </a:r>
          </a:p>
          <a:p>
            <a:r>
              <a:rPr dirty="0"/>
              <a:t>A: Composite over the three orthogonal axes — single-axis would have biased toward whichever was easiest (decade).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Q: Why </a:t>
            </a:r>
            <a:r>
              <a:rPr dirty="0" err="1"/>
              <a:t>FastAPI</a:t>
            </a:r>
            <a:r>
              <a:rPr dirty="0"/>
              <a:t> instead of Flask or Django?</a:t>
            </a:r>
          </a:p>
          <a:p>
            <a:r>
              <a:rPr dirty="0"/>
              <a:t>A: Native async, </a:t>
            </a:r>
            <a:r>
              <a:rPr dirty="0" err="1"/>
              <a:t>pydantic</a:t>
            </a:r>
            <a:r>
              <a:rPr dirty="0"/>
              <a:t> schemas, automatic </a:t>
            </a:r>
            <a:r>
              <a:rPr dirty="0" err="1"/>
              <a:t>OpenAPI</a:t>
            </a:r>
            <a:r>
              <a:rPr dirty="0"/>
              <a:t> docs — fits a small high-throughput recommendation API.</a:t>
            </a:r>
          </a:p>
          <a:p>
            <a:endParaRPr dirty="0"/>
          </a:p>
          <a:p>
            <a:r>
              <a:rPr dirty="0"/>
              <a:t>Q: Why </a:t>
            </a:r>
            <a:r>
              <a:rPr dirty="0" err="1"/>
              <a:t>mmap</a:t>
            </a:r>
            <a:r>
              <a:rPr dirty="0"/>
              <a:t> the embeddings?</a:t>
            </a:r>
          </a:p>
          <a:p>
            <a:r>
              <a:rPr dirty="0"/>
              <a:t>A: 42 MB is small but </a:t>
            </a:r>
            <a:r>
              <a:rPr dirty="0" err="1"/>
              <a:t>mmap</a:t>
            </a:r>
            <a:r>
              <a:rPr dirty="0"/>
              <a:t> gives constant memory at boot, lets the OS page-cache, and survives </a:t>
            </a:r>
            <a:r>
              <a:rPr dirty="0" err="1"/>
              <a:t>uvicorn</a:t>
            </a:r>
            <a:r>
              <a:rPr dirty="0"/>
              <a:t> restarts without re-loading.</a:t>
            </a:r>
          </a:p>
          <a:p>
            <a:endParaRPr dirty="0"/>
          </a:p>
          <a:p>
            <a:r>
              <a:rPr dirty="0"/>
              <a:t>Q: Why </a:t>
            </a:r>
            <a:r>
              <a:rPr dirty="0" err="1"/>
              <a:t>Next.js</a:t>
            </a:r>
            <a:r>
              <a:rPr dirty="0"/>
              <a:t> 16 and not plain React?</a:t>
            </a:r>
          </a:p>
          <a:p>
            <a:r>
              <a:rPr dirty="0"/>
              <a:t>A: Server Components let us cache </a:t>
            </a:r>
            <a:r>
              <a:rPr dirty="0" err="1"/>
              <a:t>TMDb</a:t>
            </a:r>
            <a:r>
              <a:rPr dirty="0"/>
              <a:t> poster lookups on the edge. App Router is the future-proof React 19 stack.</a:t>
            </a:r>
          </a:p>
          <a:p>
            <a:endParaRPr dirty="0"/>
          </a:p>
          <a:p>
            <a:r>
              <a:rPr dirty="0"/>
              <a:t>Q: Where is the database?</a:t>
            </a:r>
          </a:p>
          <a:p>
            <a:r>
              <a:rPr dirty="0"/>
              <a:t>A: No DB — embeddings + lookup tables are static artifacts. Single Docker image, no infra. Adding a DB is a future feature, not 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Q: Cherry-picked queries?</a:t>
            </a:r>
          </a:p>
          <a:p>
            <a:r>
              <a:rPr dirty="0"/>
              <a:t>A: The 10 canonical queries were chosen BEFORE the final model trained (pre-registered in artifacts/eval/</a:t>
            </a:r>
            <a:r>
              <a:rPr dirty="0" err="1"/>
              <a:t>canonical_queries.json</a:t>
            </a:r>
            <a:r>
              <a:rPr dirty="0"/>
              <a:t>). The director signatures emerging unsupervised is the strongest qualitative claim.</a:t>
            </a:r>
          </a:p>
          <a:p>
            <a:endParaRPr dirty="0"/>
          </a:p>
          <a:p>
            <a:r>
              <a:rPr dirty="0"/>
              <a:t>Q: Why are scores all 0.97+?</a:t>
            </a:r>
          </a:p>
          <a:p>
            <a:r>
              <a:rPr dirty="0"/>
              <a:t>A: Cosine on L2-normalised vectors saturates near 1 for tight </a:t>
            </a:r>
            <a:r>
              <a:rPr dirty="0" err="1"/>
              <a:t>neighbours</a:t>
            </a:r>
            <a:r>
              <a:rPr dirty="0"/>
              <a:t>. The ORDERING is what matters, not the absolute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Q: Biggest threat to validity?</a:t>
            </a:r>
          </a:p>
          <a:p>
            <a:r>
              <a:rPr dirty="0"/>
              <a:t>A: Single seed. Multi-seed bands (3–5 seeds) would tighten every confidence interval and is the top robustness task.</a:t>
            </a:r>
          </a:p>
          <a:p>
            <a:endParaRPr dirty="0"/>
          </a:p>
          <a:p>
            <a:r>
              <a:rPr dirty="0"/>
              <a:t>Q: Why no user study?</a:t>
            </a:r>
          </a:p>
          <a:p>
            <a:r>
              <a:rPr dirty="0"/>
              <a:t>A: Scope. genre@5 is a content proxy, not a relevance score. A 5-rater user study on 50 queries is the natural validation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Q: Why these papers and not others?</a:t>
            </a:r>
          </a:p>
          <a:p>
            <a:r>
              <a:rPr dirty="0"/>
              <a:t>A: One ref per core technique we use. DEC for clustering, </a:t>
            </a:r>
            <a:r>
              <a:rPr dirty="0" err="1"/>
              <a:t>MiniLM</a:t>
            </a:r>
            <a:r>
              <a:rPr dirty="0"/>
              <a:t> for text, </a:t>
            </a:r>
            <a:r>
              <a:rPr dirty="0" err="1"/>
              <a:t>InfoNCE</a:t>
            </a:r>
            <a:r>
              <a:rPr dirty="0"/>
              <a:t> for contrastive, VAE for posterior collapse discussion, NMI/AMI for evaluation, UMAP for </a:t>
            </a:r>
            <a:r>
              <a:rPr dirty="0" err="1"/>
              <a:t>visualisation</a:t>
            </a:r>
            <a:r>
              <a:rPr dirty="0"/>
              <a:t>, scikit-learn for non-deep baselines.</a:t>
            </a:r>
          </a:p>
          <a:p>
            <a:endParaRPr dirty="0"/>
          </a:p>
          <a:p>
            <a:r>
              <a:rPr dirty="0"/>
              <a:t>Q: No collaborative filtering refs?</a:t>
            </a:r>
          </a:p>
          <a:p>
            <a:r>
              <a:rPr dirty="0"/>
              <a:t>A: Deliberately — we have zero user signal in the </a:t>
            </a:r>
            <a:r>
              <a:rPr dirty="0" err="1"/>
              <a:t>TMDb</a:t>
            </a:r>
            <a:r>
              <a:rPr dirty="0"/>
              <a:t> dump. Two-tower / matrix </a:t>
            </a:r>
            <a:r>
              <a:rPr dirty="0" err="1"/>
              <a:t>factorisation</a:t>
            </a:r>
            <a:r>
              <a:rPr dirty="0"/>
              <a:t> refs would be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Q: One-line takeaway?</a:t>
            </a:r>
          </a:p>
          <a:p>
            <a:r>
              <a:rPr dirty="0"/>
              <a:t>A: Deep multi-modal unsupervised learning beats every non-deep baseline by 3-5× on </a:t>
            </a:r>
            <a:r>
              <a:rPr dirty="0" err="1"/>
              <a:t>TMDb</a:t>
            </a:r>
            <a:r>
              <a:rPr dirty="0"/>
              <a:t> metadata — and the smallest latent (z = 32) wins.</a:t>
            </a:r>
          </a:p>
          <a:p>
            <a:endParaRPr dirty="0"/>
          </a:p>
          <a:p>
            <a:r>
              <a:rPr dirty="0"/>
              <a:t>Q: If you had one more semester?</a:t>
            </a:r>
          </a:p>
          <a:p>
            <a:r>
              <a:rPr dirty="0"/>
              <a:t>A: Multi-seed bands, log per-epoch VAE recon vs KL (close ND-3), and a 5-rater user study on top-5 relevance.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601200" y="0"/>
            <a:ext cx="2587752" cy="6858000"/>
          </a:xfrm>
          <a:prstGeom prst="rect">
            <a:avLst/>
          </a:prstGeom>
          <a:solidFill>
            <a:srgbClr val="E7E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74352" y="731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674352" y="2377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74352" y="4023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74352" y="5669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74352" y="7315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674352" y="8961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674352" y="10607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674352" y="12252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674352" y="13898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674352" y="15544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674352" y="17190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674352" y="18836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674352" y="20482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674352" y="22128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674352" y="23774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674352" y="25420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674352" y="270662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674352" y="287121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674352" y="303580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674352" y="320040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674352" y="336499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674352" y="352958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674352" y="369417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674352" y="385876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674352" y="402336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674352" y="41879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674352" y="43525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674352" y="45171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674352" y="46817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674352" y="48463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674352" y="50109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9674352" y="51755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674352" y="53400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9674352" y="55046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9674352" y="56692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9674352" y="58338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9674352" y="59984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9674352" y="61630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9674352" y="63276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9674352" y="64922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9674352" y="66568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9838944" y="731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9838944" y="2377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9838944" y="4023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9838944" y="5669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9838944" y="7315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9838944" y="8961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9838944" y="10607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9838944" y="12252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9838944" y="13898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9838944" y="15544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9838944" y="17190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9838944" y="18836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9838944" y="20482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9838944" y="22128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9838944" y="23774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9838944" y="25420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9838944" y="270662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9838944" y="287121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9838944" y="303580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9838944" y="320040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9838944" y="336499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9838944" y="352958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9838944" y="369417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9838944" y="385876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9838944" y="402336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9838944" y="41879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9838944" y="43525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9838944" y="45171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9838944" y="46817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9838944" y="48463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9838944" y="50109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9838944" y="51755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9838944" y="53400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9838944" y="55046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9838944" y="56692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9838944" y="58338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9838944" y="59984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9838944" y="61630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9838944" y="63276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9838944" y="64922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9838944" y="66568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10003536" y="731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10003536" y="2377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10003536" y="4023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10003536" y="5669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10003536" y="7315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10003536" y="8961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10003536" y="10607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10003536" y="12252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10003536" y="13898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10003536" y="15544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10003536" y="17190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10003536" y="18836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10003536" y="20482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10003536" y="22128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10003536" y="23774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10003536" y="25420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10003536" y="270662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10003536" y="287121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10003536" y="303580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10003536" y="320040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10003536" y="336499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10003536" y="352958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10003536" y="369417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10003536" y="385876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10003536" y="402336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10003536" y="41879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10003536" y="43525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10003536" y="45171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10003536" y="46817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10003536" y="48463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10003536" y="50109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10003536" y="51755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Oval 117"/>
          <p:cNvSpPr/>
          <p:nvPr/>
        </p:nvSpPr>
        <p:spPr>
          <a:xfrm>
            <a:off x="10003536" y="53400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118"/>
          <p:cNvSpPr/>
          <p:nvPr/>
        </p:nvSpPr>
        <p:spPr>
          <a:xfrm>
            <a:off x="10003536" y="55046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10003536" y="56692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10003536" y="58338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10003536" y="59984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10003536" y="61630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10003536" y="63276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Oval 124"/>
          <p:cNvSpPr/>
          <p:nvPr/>
        </p:nvSpPr>
        <p:spPr>
          <a:xfrm>
            <a:off x="10003536" y="64922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10003536" y="66568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126"/>
          <p:cNvSpPr/>
          <p:nvPr/>
        </p:nvSpPr>
        <p:spPr>
          <a:xfrm>
            <a:off x="10168128" y="731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Oval 127"/>
          <p:cNvSpPr/>
          <p:nvPr/>
        </p:nvSpPr>
        <p:spPr>
          <a:xfrm>
            <a:off x="10168128" y="2377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Oval 128"/>
          <p:cNvSpPr/>
          <p:nvPr/>
        </p:nvSpPr>
        <p:spPr>
          <a:xfrm>
            <a:off x="10168128" y="4023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Oval 129"/>
          <p:cNvSpPr/>
          <p:nvPr/>
        </p:nvSpPr>
        <p:spPr>
          <a:xfrm>
            <a:off x="10168128" y="5669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Oval 130"/>
          <p:cNvSpPr/>
          <p:nvPr/>
        </p:nvSpPr>
        <p:spPr>
          <a:xfrm>
            <a:off x="10168128" y="7315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Oval 131"/>
          <p:cNvSpPr/>
          <p:nvPr/>
        </p:nvSpPr>
        <p:spPr>
          <a:xfrm>
            <a:off x="10168128" y="8961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Oval 132"/>
          <p:cNvSpPr/>
          <p:nvPr/>
        </p:nvSpPr>
        <p:spPr>
          <a:xfrm>
            <a:off x="10168128" y="10607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Oval 133"/>
          <p:cNvSpPr/>
          <p:nvPr/>
        </p:nvSpPr>
        <p:spPr>
          <a:xfrm>
            <a:off x="10168128" y="12252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Oval 134"/>
          <p:cNvSpPr/>
          <p:nvPr/>
        </p:nvSpPr>
        <p:spPr>
          <a:xfrm>
            <a:off x="10168128" y="13898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Oval 135"/>
          <p:cNvSpPr/>
          <p:nvPr/>
        </p:nvSpPr>
        <p:spPr>
          <a:xfrm>
            <a:off x="10168128" y="15544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Oval 136"/>
          <p:cNvSpPr/>
          <p:nvPr/>
        </p:nvSpPr>
        <p:spPr>
          <a:xfrm>
            <a:off x="10168128" y="17190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Oval 137"/>
          <p:cNvSpPr/>
          <p:nvPr/>
        </p:nvSpPr>
        <p:spPr>
          <a:xfrm>
            <a:off x="10168128" y="18836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Oval 138"/>
          <p:cNvSpPr/>
          <p:nvPr/>
        </p:nvSpPr>
        <p:spPr>
          <a:xfrm>
            <a:off x="10168128" y="20482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Oval 139"/>
          <p:cNvSpPr/>
          <p:nvPr/>
        </p:nvSpPr>
        <p:spPr>
          <a:xfrm>
            <a:off x="10168128" y="22128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Oval 140"/>
          <p:cNvSpPr/>
          <p:nvPr/>
        </p:nvSpPr>
        <p:spPr>
          <a:xfrm>
            <a:off x="10168128" y="23774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Oval 141"/>
          <p:cNvSpPr/>
          <p:nvPr/>
        </p:nvSpPr>
        <p:spPr>
          <a:xfrm>
            <a:off x="10168128" y="25420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Oval 142"/>
          <p:cNvSpPr/>
          <p:nvPr/>
        </p:nvSpPr>
        <p:spPr>
          <a:xfrm>
            <a:off x="10168128" y="270662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Oval 143"/>
          <p:cNvSpPr/>
          <p:nvPr/>
        </p:nvSpPr>
        <p:spPr>
          <a:xfrm>
            <a:off x="10168128" y="287121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Oval 144"/>
          <p:cNvSpPr/>
          <p:nvPr/>
        </p:nvSpPr>
        <p:spPr>
          <a:xfrm>
            <a:off x="10168128" y="303580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Oval 145"/>
          <p:cNvSpPr/>
          <p:nvPr/>
        </p:nvSpPr>
        <p:spPr>
          <a:xfrm>
            <a:off x="10168128" y="320040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Oval 146"/>
          <p:cNvSpPr/>
          <p:nvPr/>
        </p:nvSpPr>
        <p:spPr>
          <a:xfrm>
            <a:off x="10168128" y="336499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Oval 147"/>
          <p:cNvSpPr/>
          <p:nvPr/>
        </p:nvSpPr>
        <p:spPr>
          <a:xfrm>
            <a:off x="10168128" y="352958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Oval 148"/>
          <p:cNvSpPr/>
          <p:nvPr/>
        </p:nvSpPr>
        <p:spPr>
          <a:xfrm>
            <a:off x="10168128" y="369417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Oval 149"/>
          <p:cNvSpPr/>
          <p:nvPr/>
        </p:nvSpPr>
        <p:spPr>
          <a:xfrm>
            <a:off x="10168128" y="385876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Oval 150"/>
          <p:cNvSpPr/>
          <p:nvPr/>
        </p:nvSpPr>
        <p:spPr>
          <a:xfrm>
            <a:off x="10168128" y="402336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Oval 151"/>
          <p:cNvSpPr/>
          <p:nvPr/>
        </p:nvSpPr>
        <p:spPr>
          <a:xfrm>
            <a:off x="10168128" y="41879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Oval 152"/>
          <p:cNvSpPr/>
          <p:nvPr/>
        </p:nvSpPr>
        <p:spPr>
          <a:xfrm>
            <a:off x="10168128" y="43525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Oval 153"/>
          <p:cNvSpPr/>
          <p:nvPr/>
        </p:nvSpPr>
        <p:spPr>
          <a:xfrm>
            <a:off x="10168128" y="45171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Oval 154"/>
          <p:cNvSpPr/>
          <p:nvPr/>
        </p:nvSpPr>
        <p:spPr>
          <a:xfrm>
            <a:off x="10168128" y="46817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Oval 155"/>
          <p:cNvSpPr/>
          <p:nvPr/>
        </p:nvSpPr>
        <p:spPr>
          <a:xfrm>
            <a:off x="10168128" y="48463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Oval 156"/>
          <p:cNvSpPr/>
          <p:nvPr/>
        </p:nvSpPr>
        <p:spPr>
          <a:xfrm>
            <a:off x="10168128" y="50109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Oval 157"/>
          <p:cNvSpPr/>
          <p:nvPr/>
        </p:nvSpPr>
        <p:spPr>
          <a:xfrm>
            <a:off x="10168128" y="51755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Oval 158"/>
          <p:cNvSpPr/>
          <p:nvPr/>
        </p:nvSpPr>
        <p:spPr>
          <a:xfrm>
            <a:off x="10168128" y="53400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Oval 159"/>
          <p:cNvSpPr/>
          <p:nvPr/>
        </p:nvSpPr>
        <p:spPr>
          <a:xfrm>
            <a:off x="10168128" y="55046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Oval 160"/>
          <p:cNvSpPr/>
          <p:nvPr/>
        </p:nvSpPr>
        <p:spPr>
          <a:xfrm>
            <a:off x="10168128" y="56692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Oval 161"/>
          <p:cNvSpPr/>
          <p:nvPr/>
        </p:nvSpPr>
        <p:spPr>
          <a:xfrm>
            <a:off x="10168128" y="58338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Oval 162"/>
          <p:cNvSpPr/>
          <p:nvPr/>
        </p:nvSpPr>
        <p:spPr>
          <a:xfrm>
            <a:off x="10168128" y="59984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Oval 163"/>
          <p:cNvSpPr/>
          <p:nvPr/>
        </p:nvSpPr>
        <p:spPr>
          <a:xfrm>
            <a:off x="10168128" y="61630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Oval 164"/>
          <p:cNvSpPr/>
          <p:nvPr/>
        </p:nvSpPr>
        <p:spPr>
          <a:xfrm>
            <a:off x="10168128" y="63276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Oval 165"/>
          <p:cNvSpPr/>
          <p:nvPr/>
        </p:nvSpPr>
        <p:spPr>
          <a:xfrm>
            <a:off x="10168128" y="64922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Oval 166"/>
          <p:cNvSpPr/>
          <p:nvPr/>
        </p:nvSpPr>
        <p:spPr>
          <a:xfrm>
            <a:off x="10168128" y="66568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Oval 167"/>
          <p:cNvSpPr/>
          <p:nvPr/>
        </p:nvSpPr>
        <p:spPr>
          <a:xfrm>
            <a:off x="10332720" y="731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Oval 168"/>
          <p:cNvSpPr/>
          <p:nvPr/>
        </p:nvSpPr>
        <p:spPr>
          <a:xfrm>
            <a:off x="10332720" y="2377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Oval 169"/>
          <p:cNvSpPr/>
          <p:nvPr/>
        </p:nvSpPr>
        <p:spPr>
          <a:xfrm>
            <a:off x="10332720" y="4023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Oval 170"/>
          <p:cNvSpPr/>
          <p:nvPr/>
        </p:nvSpPr>
        <p:spPr>
          <a:xfrm>
            <a:off x="10332720" y="5669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Oval 171"/>
          <p:cNvSpPr/>
          <p:nvPr/>
        </p:nvSpPr>
        <p:spPr>
          <a:xfrm>
            <a:off x="10332720" y="7315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Oval 172"/>
          <p:cNvSpPr/>
          <p:nvPr/>
        </p:nvSpPr>
        <p:spPr>
          <a:xfrm>
            <a:off x="10332720" y="8961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Oval 173"/>
          <p:cNvSpPr/>
          <p:nvPr/>
        </p:nvSpPr>
        <p:spPr>
          <a:xfrm>
            <a:off x="10332720" y="10607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Oval 174"/>
          <p:cNvSpPr/>
          <p:nvPr/>
        </p:nvSpPr>
        <p:spPr>
          <a:xfrm>
            <a:off x="10332720" y="12252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Oval 175"/>
          <p:cNvSpPr/>
          <p:nvPr/>
        </p:nvSpPr>
        <p:spPr>
          <a:xfrm>
            <a:off x="10332720" y="13898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Oval 176"/>
          <p:cNvSpPr/>
          <p:nvPr/>
        </p:nvSpPr>
        <p:spPr>
          <a:xfrm>
            <a:off x="10332720" y="15544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Oval 177"/>
          <p:cNvSpPr/>
          <p:nvPr/>
        </p:nvSpPr>
        <p:spPr>
          <a:xfrm>
            <a:off x="10332720" y="17190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Oval 178"/>
          <p:cNvSpPr/>
          <p:nvPr/>
        </p:nvSpPr>
        <p:spPr>
          <a:xfrm>
            <a:off x="10332720" y="18836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Oval 179"/>
          <p:cNvSpPr/>
          <p:nvPr/>
        </p:nvSpPr>
        <p:spPr>
          <a:xfrm>
            <a:off x="10332720" y="20482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Oval 180"/>
          <p:cNvSpPr/>
          <p:nvPr/>
        </p:nvSpPr>
        <p:spPr>
          <a:xfrm>
            <a:off x="10332720" y="22128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Oval 181"/>
          <p:cNvSpPr/>
          <p:nvPr/>
        </p:nvSpPr>
        <p:spPr>
          <a:xfrm>
            <a:off x="10332720" y="23774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Oval 182"/>
          <p:cNvSpPr/>
          <p:nvPr/>
        </p:nvSpPr>
        <p:spPr>
          <a:xfrm>
            <a:off x="10332720" y="25420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Oval 183"/>
          <p:cNvSpPr/>
          <p:nvPr/>
        </p:nvSpPr>
        <p:spPr>
          <a:xfrm>
            <a:off x="10332720" y="270662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Oval 184"/>
          <p:cNvSpPr/>
          <p:nvPr/>
        </p:nvSpPr>
        <p:spPr>
          <a:xfrm>
            <a:off x="10332720" y="287121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Oval 185"/>
          <p:cNvSpPr/>
          <p:nvPr/>
        </p:nvSpPr>
        <p:spPr>
          <a:xfrm>
            <a:off x="10332720" y="303580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Oval 186"/>
          <p:cNvSpPr/>
          <p:nvPr/>
        </p:nvSpPr>
        <p:spPr>
          <a:xfrm>
            <a:off x="10332720" y="320040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Oval 187"/>
          <p:cNvSpPr/>
          <p:nvPr/>
        </p:nvSpPr>
        <p:spPr>
          <a:xfrm>
            <a:off x="10332720" y="336499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Oval 188"/>
          <p:cNvSpPr/>
          <p:nvPr/>
        </p:nvSpPr>
        <p:spPr>
          <a:xfrm>
            <a:off x="10332720" y="352958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Oval 189"/>
          <p:cNvSpPr/>
          <p:nvPr/>
        </p:nvSpPr>
        <p:spPr>
          <a:xfrm>
            <a:off x="10332720" y="369417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Oval 190"/>
          <p:cNvSpPr/>
          <p:nvPr/>
        </p:nvSpPr>
        <p:spPr>
          <a:xfrm>
            <a:off x="10332720" y="385876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Oval 191"/>
          <p:cNvSpPr/>
          <p:nvPr/>
        </p:nvSpPr>
        <p:spPr>
          <a:xfrm>
            <a:off x="10332720" y="402336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Oval 192"/>
          <p:cNvSpPr/>
          <p:nvPr/>
        </p:nvSpPr>
        <p:spPr>
          <a:xfrm>
            <a:off x="10332720" y="41879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Oval 193"/>
          <p:cNvSpPr/>
          <p:nvPr/>
        </p:nvSpPr>
        <p:spPr>
          <a:xfrm>
            <a:off x="10332720" y="43525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Oval 194"/>
          <p:cNvSpPr/>
          <p:nvPr/>
        </p:nvSpPr>
        <p:spPr>
          <a:xfrm>
            <a:off x="10332720" y="45171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Oval 195"/>
          <p:cNvSpPr/>
          <p:nvPr/>
        </p:nvSpPr>
        <p:spPr>
          <a:xfrm>
            <a:off x="10332720" y="46817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Oval 196"/>
          <p:cNvSpPr/>
          <p:nvPr/>
        </p:nvSpPr>
        <p:spPr>
          <a:xfrm>
            <a:off x="10332720" y="48463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Oval 197"/>
          <p:cNvSpPr/>
          <p:nvPr/>
        </p:nvSpPr>
        <p:spPr>
          <a:xfrm>
            <a:off x="10332720" y="50109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Oval 198"/>
          <p:cNvSpPr/>
          <p:nvPr/>
        </p:nvSpPr>
        <p:spPr>
          <a:xfrm>
            <a:off x="10332720" y="51755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Oval 199"/>
          <p:cNvSpPr/>
          <p:nvPr/>
        </p:nvSpPr>
        <p:spPr>
          <a:xfrm>
            <a:off x="10332720" y="53400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Oval 200"/>
          <p:cNvSpPr/>
          <p:nvPr/>
        </p:nvSpPr>
        <p:spPr>
          <a:xfrm>
            <a:off x="10332720" y="55046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Oval 201"/>
          <p:cNvSpPr/>
          <p:nvPr/>
        </p:nvSpPr>
        <p:spPr>
          <a:xfrm>
            <a:off x="10332720" y="56692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Oval 202"/>
          <p:cNvSpPr/>
          <p:nvPr/>
        </p:nvSpPr>
        <p:spPr>
          <a:xfrm>
            <a:off x="10332720" y="58338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Oval 203"/>
          <p:cNvSpPr/>
          <p:nvPr/>
        </p:nvSpPr>
        <p:spPr>
          <a:xfrm>
            <a:off x="10332720" y="59984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Oval 204"/>
          <p:cNvSpPr/>
          <p:nvPr/>
        </p:nvSpPr>
        <p:spPr>
          <a:xfrm>
            <a:off x="10332720" y="61630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Oval 205"/>
          <p:cNvSpPr/>
          <p:nvPr/>
        </p:nvSpPr>
        <p:spPr>
          <a:xfrm>
            <a:off x="10332720" y="63276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Oval 206"/>
          <p:cNvSpPr/>
          <p:nvPr/>
        </p:nvSpPr>
        <p:spPr>
          <a:xfrm>
            <a:off x="10332720" y="64922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Oval 207"/>
          <p:cNvSpPr/>
          <p:nvPr/>
        </p:nvSpPr>
        <p:spPr>
          <a:xfrm>
            <a:off x="10332720" y="66568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Oval 208"/>
          <p:cNvSpPr/>
          <p:nvPr/>
        </p:nvSpPr>
        <p:spPr>
          <a:xfrm>
            <a:off x="10497312" y="731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Oval 209"/>
          <p:cNvSpPr/>
          <p:nvPr/>
        </p:nvSpPr>
        <p:spPr>
          <a:xfrm>
            <a:off x="10497312" y="2377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Oval 210"/>
          <p:cNvSpPr/>
          <p:nvPr/>
        </p:nvSpPr>
        <p:spPr>
          <a:xfrm>
            <a:off x="10497312" y="4023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Oval 211"/>
          <p:cNvSpPr/>
          <p:nvPr/>
        </p:nvSpPr>
        <p:spPr>
          <a:xfrm>
            <a:off x="10497312" y="5669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Oval 212"/>
          <p:cNvSpPr/>
          <p:nvPr/>
        </p:nvSpPr>
        <p:spPr>
          <a:xfrm>
            <a:off x="10497312" y="7315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Oval 213"/>
          <p:cNvSpPr/>
          <p:nvPr/>
        </p:nvSpPr>
        <p:spPr>
          <a:xfrm>
            <a:off x="10497312" y="8961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Oval 214"/>
          <p:cNvSpPr/>
          <p:nvPr/>
        </p:nvSpPr>
        <p:spPr>
          <a:xfrm>
            <a:off x="10497312" y="10607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Oval 215"/>
          <p:cNvSpPr/>
          <p:nvPr/>
        </p:nvSpPr>
        <p:spPr>
          <a:xfrm>
            <a:off x="10497312" y="12252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Oval 216"/>
          <p:cNvSpPr/>
          <p:nvPr/>
        </p:nvSpPr>
        <p:spPr>
          <a:xfrm>
            <a:off x="10497312" y="13898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Oval 217"/>
          <p:cNvSpPr/>
          <p:nvPr/>
        </p:nvSpPr>
        <p:spPr>
          <a:xfrm>
            <a:off x="10497312" y="15544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Oval 218"/>
          <p:cNvSpPr/>
          <p:nvPr/>
        </p:nvSpPr>
        <p:spPr>
          <a:xfrm>
            <a:off x="10497312" y="17190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Oval 219"/>
          <p:cNvSpPr/>
          <p:nvPr/>
        </p:nvSpPr>
        <p:spPr>
          <a:xfrm>
            <a:off x="10497312" y="18836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Oval 220"/>
          <p:cNvSpPr/>
          <p:nvPr/>
        </p:nvSpPr>
        <p:spPr>
          <a:xfrm>
            <a:off x="10497312" y="20482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Oval 221"/>
          <p:cNvSpPr/>
          <p:nvPr/>
        </p:nvSpPr>
        <p:spPr>
          <a:xfrm>
            <a:off x="10497312" y="22128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Oval 222"/>
          <p:cNvSpPr/>
          <p:nvPr/>
        </p:nvSpPr>
        <p:spPr>
          <a:xfrm>
            <a:off x="10497312" y="23774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Oval 223"/>
          <p:cNvSpPr/>
          <p:nvPr/>
        </p:nvSpPr>
        <p:spPr>
          <a:xfrm>
            <a:off x="10497312" y="25420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Oval 224"/>
          <p:cNvSpPr/>
          <p:nvPr/>
        </p:nvSpPr>
        <p:spPr>
          <a:xfrm>
            <a:off x="10497312" y="270662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Oval 225"/>
          <p:cNvSpPr/>
          <p:nvPr/>
        </p:nvSpPr>
        <p:spPr>
          <a:xfrm>
            <a:off x="10497312" y="287121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Oval 226"/>
          <p:cNvSpPr/>
          <p:nvPr/>
        </p:nvSpPr>
        <p:spPr>
          <a:xfrm>
            <a:off x="10497312" y="303580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Oval 227"/>
          <p:cNvSpPr/>
          <p:nvPr/>
        </p:nvSpPr>
        <p:spPr>
          <a:xfrm>
            <a:off x="10497312" y="320040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Oval 228"/>
          <p:cNvSpPr/>
          <p:nvPr/>
        </p:nvSpPr>
        <p:spPr>
          <a:xfrm>
            <a:off x="10497312" y="336499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Oval 229"/>
          <p:cNvSpPr/>
          <p:nvPr/>
        </p:nvSpPr>
        <p:spPr>
          <a:xfrm>
            <a:off x="10497312" y="352958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Oval 230"/>
          <p:cNvSpPr/>
          <p:nvPr/>
        </p:nvSpPr>
        <p:spPr>
          <a:xfrm>
            <a:off x="10497312" y="369417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Oval 231"/>
          <p:cNvSpPr/>
          <p:nvPr/>
        </p:nvSpPr>
        <p:spPr>
          <a:xfrm>
            <a:off x="10497312" y="385876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Oval 232"/>
          <p:cNvSpPr/>
          <p:nvPr/>
        </p:nvSpPr>
        <p:spPr>
          <a:xfrm>
            <a:off x="10497312" y="402336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Oval 233"/>
          <p:cNvSpPr/>
          <p:nvPr/>
        </p:nvSpPr>
        <p:spPr>
          <a:xfrm>
            <a:off x="10497312" y="41879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Oval 234"/>
          <p:cNvSpPr/>
          <p:nvPr/>
        </p:nvSpPr>
        <p:spPr>
          <a:xfrm>
            <a:off x="10497312" y="43525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Oval 235"/>
          <p:cNvSpPr/>
          <p:nvPr/>
        </p:nvSpPr>
        <p:spPr>
          <a:xfrm>
            <a:off x="10497312" y="45171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Oval 236"/>
          <p:cNvSpPr/>
          <p:nvPr/>
        </p:nvSpPr>
        <p:spPr>
          <a:xfrm>
            <a:off x="10497312" y="46817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Oval 237"/>
          <p:cNvSpPr/>
          <p:nvPr/>
        </p:nvSpPr>
        <p:spPr>
          <a:xfrm>
            <a:off x="10497312" y="48463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Oval 238"/>
          <p:cNvSpPr/>
          <p:nvPr/>
        </p:nvSpPr>
        <p:spPr>
          <a:xfrm>
            <a:off x="10497312" y="50109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Oval 239"/>
          <p:cNvSpPr/>
          <p:nvPr/>
        </p:nvSpPr>
        <p:spPr>
          <a:xfrm>
            <a:off x="10497312" y="51755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Oval 240"/>
          <p:cNvSpPr/>
          <p:nvPr/>
        </p:nvSpPr>
        <p:spPr>
          <a:xfrm>
            <a:off x="10497312" y="53400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Oval 241"/>
          <p:cNvSpPr/>
          <p:nvPr/>
        </p:nvSpPr>
        <p:spPr>
          <a:xfrm>
            <a:off x="10497312" y="55046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Oval 242"/>
          <p:cNvSpPr/>
          <p:nvPr/>
        </p:nvSpPr>
        <p:spPr>
          <a:xfrm>
            <a:off x="10497312" y="56692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Oval 243"/>
          <p:cNvSpPr/>
          <p:nvPr/>
        </p:nvSpPr>
        <p:spPr>
          <a:xfrm>
            <a:off x="10497312" y="58338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Oval 244"/>
          <p:cNvSpPr/>
          <p:nvPr/>
        </p:nvSpPr>
        <p:spPr>
          <a:xfrm>
            <a:off x="10497312" y="59984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Oval 245"/>
          <p:cNvSpPr/>
          <p:nvPr/>
        </p:nvSpPr>
        <p:spPr>
          <a:xfrm>
            <a:off x="10497312" y="61630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Oval 246"/>
          <p:cNvSpPr/>
          <p:nvPr/>
        </p:nvSpPr>
        <p:spPr>
          <a:xfrm>
            <a:off x="10497312" y="63276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Oval 247"/>
          <p:cNvSpPr/>
          <p:nvPr/>
        </p:nvSpPr>
        <p:spPr>
          <a:xfrm>
            <a:off x="10497312" y="64922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Oval 248"/>
          <p:cNvSpPr/>
          <p:nvPr/>
        </p:nvSpPr>
        <p:spPr>
          <a:xfrm>
            <a:off x="10497312" y="66568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Oval 249"/>
          <p:cNvSpPr/>
          <p:nvPr/>
        </p:nvSpPr>
        <p:spPr>
          <a:xfrm>
            <a:off x="10661904" y="731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Oval 250"/>
          <p:cNvSpPr/>
          <p:nvPr/>
        </p:nvSpPr>
        <p:spPr>
          <a:xfrm>
            <a:off x="10661904" y="2377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Oval 251"/>
          <p:cNvSpPr/>
          <p:nvPr/>
        </p:nvSpPr>
        <p:spPr>
          <a:xfrm>
            <a:off x="10661904" y="4023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Oval 252"/>
          <p:cNvSpPr/>
          <p:nvPr/>
        </p:nvSpPr>
        <p:spPr>
          <a:xfrm>
            <a:off x="10661904" y="5669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Oval 253"/>
          <p:cNvSpPr/>
          <p:nvPr/>
        </p:nvSpPr>
        <p:spPr>
          <a:xfrm>
            <a:off x="10661904" y="7315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Oval 254"/>
          <p:cNvSpPr/>
          <p:nvPr/>
        </p:nvSpPr>
        <p:spPr>
          <a:xfrm>
            <a:off x="10661904" y="8961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Oval 255"/>
          <p:cNvSpPr/>
          <p:nvPr/>
        </p:nvSpPr>
        <p:spPr>
          <a:xfrm>
            <a:off x="10661904" y="10607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Oval 256"/>
          <p:cNvSpPr/>
          <p:nvPr/>
        </p:nvSpPr>
        <p:spPr>
          <a:xfrm>
            <a:off x="10661904" y="12252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Oval 257"/>
          <p:cNvSpPr/>
          <p:nvPr/>
        </p:nvSpPr>
        <p:spPr>
          <a:xfrm>
            <a:off x="10661904" y="13898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Oval 258"/>
          <p:cNvSpPr/>
          <p:nvPr/>
        </p:nvSpPr>
        <p:spPr>
          <a:xfrm>
            <a:off x="10661904" y="15544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Oval 259"/>
          <p:cNvSpPr/>
          <p:nvPr/>
        </p:nvSpPr>
        <p:spPr>
          <a:xfrm>
            <a:off x="10661904" y="17190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Oval 260"/>
          <p:cNvSpPr/>
          <p:nvPr/>
        </p:nvSpPr>
        <p:spPr>
          <a:xfrm>
            <a:off x="10661904" y="18836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Oval 261"/>
          <p:cNvSpPr/>
          <p:nvPr/>
        </p:nvSpPr>
        <p:spPr>
          <a:xfrm>
            <a:off x="10661904" y="20482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Oval 262"/>
          <p:cNvSpPr/>
          <p:nvPr/>
        </p:nvSpPr>
        <p:spPr>
          <a:xfrm>
            <a:off x="10661904" y="22128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Oval 263"/>
          <p:cNvSpPr/>
          <p:nvPr/>
        </p:nvSpPr>
        <p:spPr>
          <a:xfrm>
            <a:off x="10661904" y="23774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Oval 264"/>
          <p:cNvSpPr/>
          <p:nvPr/>
        </p:nvSpPr>
        <p:spPr>
          <a:xfrm>
            <a:off x="10661904" y="25420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Oval 265"/>
          <p:cNvSpPr/>
          <p:nvPr/>
        </p:nvSpPr>
        <p:spPr>
          <a:xfrm>
            <a:off x="10661904" y="270662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Oval 266"/>
          <p:cNvSpPr/>
          <p:nvPr/>
        </p:nvSpPr>
        <p:spPr>
          <a:xfrm>
            <a:off x="10661904" y="287121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Oval 267"/>
          <p:cNvSpPr/>
          <p:nvPr/>
        </p:nvSpPr>
        <p:spPr>
          <a:xfrm>
            <a:off x="10661904" y="303580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Oval 268"/>
          <p:cNvSpPr/>
          <p:nvPr/>
        </p:nvSpPr>
        <p:spPr>
          <a:xfrm>
            <a:off x="10661904" y="320040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Oval 269"/>
          <p:cNvSpPr/>
          <p:nvPr/>
        </p:nvSpPr>
        <p:spPr>
          <a:xfrm>
            <a:off x="10661904" y="336499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Oval 270"/>
          <p:cNvSpPr/>
          <p:nvPr/>
        </p:nvSpPr>
        <p:spPr>
          <a:xfrm>
            <a:off x="10661904" y="352958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2" name="Oval 271"/>
          <p:cNvSpPr/>
          <p:nvPr/>
        </p:nvSpPr>
        <p:spPr>
          <a:xfrm>
            <a:off x="10661904" y="369417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Oval 272"/>
          <p:cNvSpPr/>
          <p:nvPr/>
        </p:nvSpPr>
        <p:spPr>
          <a:xfrm>
            <a:off x="10661904" y="385876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Oval 273"/>
          <p:cNvSpPr/>
          <p:nvPr/>
        </p:nvSpPr>
        <p:spPr>
          <a:xfrm>
            <a:off x="10661904" y="402336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Oval 274"/>
          <p:cNvSpPr/>
          <p:nvPr/>
        </p:nvSpPr>
        <p:spPr>
          <a:xfrm>
            <a:off x="10661904" y="41879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Oval 275"/>
          <p:cNvSpPr/>
          <p:nvPr/>
        </p:nvSpPr>
        <p:spPr>
          <a:xfrm>
            <a:off x="10661904" y="43525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Oval 276"/>
          <p:cNvSpPr/>
          <p:nvPr/>
        </p:nvSpPr>
        <p:spPr>
          <a:xfrm>
            <a:off x="10661904" y="45171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Oval 277"/>
          <p:cNvSpPr/>
          <p:nvPr/>
        </p:nvSpPr>
        <p:spPr>
          <a:xfrm>
            <a:off x="10661904" y="46817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Oval 278"/>
          <p:cNvSpPr/>
          <p:nvPr/>
        </p:nvSpPr>
        <p:spPr>
          <a:xfrm>
            <a:off x="10661904" y="48463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Oval 279"/>
          <p:cNvSpPr/>
          <p:nvPr/>
        </p:nvSpPr>
        <p:spPr>
          <a:xfrm>
            <a:off x="10661904" y="50109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Oval 280"/>
          <p:cNvSpPr/>
          <p:nvPr/>
        </p:nvSpPr>
        <p:spPr>
          <a:xfrm>
            <a:off x="10661904" y="51755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2" name="Oval 281"/>
          <p:cNvSpPr/>
          <p:nvPr/>
        </p:nvSpPr>
        <p:spPr>
          <a:xfrm>
            <a:off x="10661904" y="53400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Oval 282"/>
          <p:cNvSpPr/>
          <p:nvPr/>
        </p:nvSpPr>
        <p:spPr>
          <a:xfrm>
            <a:off x="10661904" y="55046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4" name="Oval 283"/>
          <p:cNvSpPr/>
          <p:nvPr/>
        </p:nvSpPr>
        <p:spPr>
          <a:xfrm>
            <a:off x="10661904" y="56692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Oval 284"/>
          <p:cNvSpPr/>
          <p:nvPr/>
        </p:nvSpPr>
        <p:spPr>
          <a:xfrm>
            <a:off x="10661904" y="58338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6" name="Oval 285"/>
          <p:cNvSpPr/>
          <p:nvPr/>
        </p:nvSpPr>
        <p:spPr>
          <a:xfrm>
            <a:off x="10661904" y="59984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Oval 286"/>
          <p:cNvSpPr/>
          <p:nvPr/>
        </p:nvSpPr>
        <p:spPr>
          <a:xfrm>
            <a:off x="10661904" y="61630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8" name="Oval 287"/>
          <p:cNvSpPr/>
          <p:nvPr/>
        </p:nvSpPr>
        <p:spPr>
          <a:xfrm>
            <a:off x="10661904" y="63276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Oval 288"/>
          <p:cNvSpPr/>
          <p:nvPr/>
        </p:nvSpPr>
        <p:spPr>
          <a:xfrm>
            <a:off x="10661904" y="64922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Oval 289"/>
          <p:cNvSpPr/>
          <p:nvPr/>
        </p:nvSpPr>
        <p:spPr>
          <a:xfrm>
            <a:off x="10661904" y="66568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Oval 290"/>
          <p:cNvSpPr/>
          <p:nvPr/>
        </p:nvSpPr>
        <p:spPr>
          <a:xfrm>
            <a:off x="10826496" y="731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2" name="Oval 291"/>
          <p:cNvSpPr/>
          <p:nvPr/>
        </p:nvSpPr>
        <p:spPr>
          <a:xfrm>
            <a:off x="10826496" y="2377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Oval 292"/>
          <p:cNvSpPr/>
          <p:nvPr/>
        </p:nvSpPr>
        <p:spPr>
          <a:xfrm>
            <a:off x="10826496" y="4023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4" name="Oval 293"/>
          <p:cNvSpPr/>
          <p:nvPr/>
        </p:nvSpPr>
        <p:spPr>
          <a:xfrm>
            <a:off x="10826496" y="5669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5" name="Oval 294"/>
          <p:cNvSpPr/>
          <p:nvPr/>
        </p:nvSpPr>
        <p:spPr>
          <a:xfrm>
            <a:off x="10826496" y="7315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6" name="Oval 295"/>
          <p:cNvSpPr/>
          <p:nvPr/>
        </p:nvSpPr>
        <p:spPr>
          <a:xfrm>
            <a:off x="10826496" y="8961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Oval 296"/>
          <p:cNvSpPr/>
          <p:nvPr/>
        </p:nvSpPr>
        <p:spPr>
          <a:xfrm>
            <a:off x="10826496" y="10607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8" name="Oval 297"/>
          <p:cNvSpPr/>
          <p:nvPr/>
        </p:nvSpPr>
        <p:spPr>
          <a:xfrm>
            <a:off x="10826496" y="12252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Oval 298"/>
          <p:cNvSpPr/>
          <p:nvPr/>
        </p:nvSpPr>
        <p:spPr>
          <a:xfrm>
            <a:off x="10826496" y="13898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Oval 299"/>
          <p:cNvSpPr/>
          <p:nvPr/>
        </p:nvSpPr>
        <p:spPr>
          <a:xfrm>
            <a:off x="10826496" y="15544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1" name="Oval 300"/>
          <p:cNvSpPr/>
          <p:nvPr/>
        </p:nvSpPr>
        <p:spPr>
          <a:xfrm>
            <a:off x="10826496" y="17190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2" name="Oval 301"/>
          <p:cNvSpPr/>
          <p:nvPr/>
        </p:nvSpPr>
        <p:spPr>
          <a:xfrm>
            <a:off x="10826496" y="18836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Oval 302"/>
          <p:cNvSpPr/>
          <p:nvPr/>
        </p:nvSpPr>
        <p:spPr>
          <a:xfrm>
            <a:off x="10826496" y="20482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4" name="Oval 303"/>
          <p:cNvSpPr/>
          <p:nvPr/>
        </p:nvSpPr>
        <p:spPr>
          <a:xfrm>
            <a:off x="10826496" y="22128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5" name="Oval 304"/>
          <p:cNvSpPr/>
          <p:nvPr/>
        </p:nvSpPr>
        <p:spPr>
          <a:xfrm>
            <a:off x="10826496" y="23774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6" name="Oval 305"/>
          <p:cNvSpPr/>
          <p:nvPr/>
        </p:nvSpPr>
        <p:spPr>
          <a:xfrm>
            <a:off x="10826496" y="25420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7" name="Oval 306"/>
          <p:cNvSpPr/>
          <p:nvPr/>
        </p:nvSpPr>
        <p:spPr>
          <a:xfrm>
            <a:off x="10826496" y="270662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8" name="Oval 307"/>
          <p:cNvSpPr/>
          <p:nvPr/>
        </p:nvSpPr>
        <p:spPr>
          <a:xfrm>
            <a:off x="10826496" y="287121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Oval 308"/>
          <p:cNvSpPr/>
          <p:nvPr/>
        </p:nvSpPr>
        <p:spPr>
          <a:xfrm>
            <a:off x="10826496" y="303580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0" name="Oval 309"/>
          <p:cNvSpPr/>
          <p:nvPr/>
        </p:nvSpPr>
        <p:spPr>
          <a:xfrm>
            <a:off x="10826496" y="320040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1" name="Oval 310"/>
          <p:cNvSpPr/>
          <p:nvPr/>
        </p:nvSpPr>
        <p:spPr>
          <a:xfrm>
            <a:off x="10826496" y="336499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2" name="Oval 311"/>
          <p:cNvSpPr/>
          <p:nvPr/>
        </p:nvSpPr>
        <p:spPr>
          <a:xfrm>
            <a:off x="10826496" y="352958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" name="Oval 312"/>
          <p:cNvSpPr/>
          <p:nvPr/>
        </p:nvSpPr>
        <p:spPr>
          <a:xfrm>
            <a:off x="10826496" y="369417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4" name="Oval 313"/>
          <p:cNvSpPr/>
          <p:nvPr/>
        </p:nvSpPr>
        <p:spPr>
          <a:xfrm>
            <a:off x="10826496" y="385876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Oval 314"/>
          <p:cNvSpPr/>
          <p:nvPr/>
        </p:nvSpPr>
        <p:spPr>
          <a:xfrm>
            <a:off x="10826496" y="402336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6" name="Oval 315"/>
          <p:cNvSpPr/>
          <p:nvPr/>
        </p:nvSpPr>
        <p:spPr>
          <a:xfrm>
            <a:off x="10826496" y="41879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7" name="Oval 316"/>
          <p:cNvSpPr/>
          <p:nvPr/>
        </p:nvSpPr>
        <p:spPr>
          <a:xfrm>
            <a:off x="10826496" y="43525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8" name="Oval 317"/>
          <p:cNvSpPr/>
          <p:nvPr/>
        </p:nvSpPr>
        <p:spPr>
          <a:xfrm>
            <a:off x="10826496" y="45171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9" name="Oval 318"/>
          <p:cNvSpPr/>
          <p:nvPr/>
        </p:nvSpPr>
        <p:spPr>
          <a:xfrm>
            <a:off x="10826496" y="46817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0" name="Oval 319"/>
          <p:cNvSpPr/>
          <p:nvPr/>
        </p:nvSpPr>
        <p:spPr>
          <a:xfrm>
            <a:off x="10826496" y="48463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1" name="Oval 320"/>
          <p:cNvSpPr/>
          <p:nvPr/>
        </p:nvSpPr>
        <p:spPr>
          <a:xfrm>
            <a:off x="10826496" y="50109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2" name="Oval 321"/>
          <p:cNvSpPr/>
          <p:nvPr/>
        </p:nvSpPr>
        <p:spPr>
          <a:xfrm>
            <a:off x="10826496" y="51755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3" name="Oval 322"/>
          <p:cNvSpPr/>
          <p:nvPr/>
        </p:nvSpPr>
        <p:spPr>
          <a:xfrm>
            <a:off x="10826496" y="53400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4" name="Oval 323"/>
          <p:cNvSpPr/>
          <p:nvPr/>
        </p:nvSpPr>
        <p:spPr>
          <a:xfrm>
            <a:off x="10826496" y="55046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5" name="Oval 324"/>
          <p:cNvSpPr/>
          <p:nvPr/>
        </p:nvSpPr>
        <p:spPr>
          <a:xfrm>
            <a:off x="10826496" y="56692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6" name="Oval 325"/>
          <p:cNvSpPr/>
          <p:nvPr/>
        </p:nvSpPr>
        <p:spPr>
          <a:xfrm>
            <a:off x="10826496" y="58338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7" name="Oval 326"/>
          <p:cNvSpPr/>
          <p:nvPr/>
        </p:nvSpPr>
        <p:spPr>
          <a:xfrm>
            <a:off x="10826496" y="59984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8" name="Oval 327"/>
          <p:cNvSpPr/>
          <p:nvPr/>
        </p:nvSpPr>
        <p:spPr>
          <a:xfrm>
            <a:off x="10826496" y="61630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9" name="Oval 328"/>
          <p:cNvSpPr/>
          <p:nvPr/>
        </p:nvSpPr>
        <p:spPr>
          <a:xfrm>
            <a:off x="10826496" y="63276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0" name="Oval 329"/>
          <p:cNvSpPr/>
          <p:nvPr/>
        </p:nvSpPr>
        <p:spPr>
          <a:xfrm>
            <a:off x="10826496" y="64922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1" name="Oval 330"/>
          <p:cNvSpPr/>
          <p:nvPr/>
        </p:nvSpPr>
        <p:spPr>
          <a:xfrm>
            <a:off x="10826496" y="66568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2" name="Oval 331"/>
          <p:cNvSpPr/>
          <p:nvPr/>
        </p:nvSpPr>
        <p:spPr>
          <a:xfrm>
            <a:off x="10991088" y="731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3" name="Oval 332"/>
          <p:cNvSpPr/>
          <p:nvPr/>
        </p:nvSpPr>
        <p:spPr>
          <a:xfrm>
            <a:off x="10991088" y="2377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4" name="Oval 333"/>
          <p:cNvSpPr/>
          <p:nvPr/>
        </p:nvSpPr>
        <p:spPr>
          <a:xfrm>
            <a:off x="10991088" y="4023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5" name="Oval 334"/>
          <p:cNvSpPr/>
          <p:nvPr/>
        </p:nvSpPr>
        <p:spPr>
          <a:xfrm>
            <a:off x="10991088" y="5669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6" name="Oval 335"/>
          <p:cNvSpPr/>
          <p:nvPr/>
        </p:nvSpPr>
        <p:spPr>
          <a:xfrm>
            <a:off x="10991088" y="7315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7" name="Oval 336"/>
          <p:cNvSpPr/>
          <p:nvPr/>
        </p:nvSpPr>
        <p:spPr>
          <a:xfrm>
            <a:off x="10991088" y="8961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8" name="Oval 337"/>
          <p:cNvSpPr/>
          <p:nvPr/>
        </p:nvSpPr>
        <p:spPr>
          <a:xfrm>
            <a:off x="10991088" y="10607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9" name="Oval 338"/>
          <p:cNvSpPr/>
          <p:nvPr/>
        </p:nvSpPr>
        <p:spPr>
          <a:xfrm>
            <a:off x="10991088" y="12252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0" name="Oval 339"/>
          <p:cNvSpPr/>
          <p:nvPr/>
        </p:nvSpPr>
        <p:spPr>
          <a:xfrm>
            <a:off x="10991088" y="13898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1" name="Oval 340"/>
          <p:cNvSpPr/>
          <p:nvPr/>
        </p:nvSpPr>
        <p:spPr>
          <a:xfrm>
            <a:off x="10991088" y="15544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2" name="Oval 341"/>
          <p:cNvSpPr/>
          <p:nvPr/>
        </p:nvSpPr>
        <p:spPr>
          <a:xfrm>
            <a:off x="10991088" y="17190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3" name="Oval 342"/>
          <p:cNvSpPr/>
          <p:nvPr/>
        </p:nvSpPr>
        <p:spPr>
          <a:xfrm>
            <a:off x="10991088" y="18836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4" name="Oval 343"/>
          <p:cNvSpPr/>
          <p:nvPr/>
        </p:nvSpPr>
        <p:spPr>
          <a:xfrm>
            <a:off x="10991088" y="20482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5" name="Oval 344"/>
          <p:cNvSpPr/>
          <p:nvPr/>
        </p:nvSpPr>
        <p:spPr>
          <a:xfrm>
            <a:off x="10991088" y="22128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6" name="Oval 345"/>
          <p:cNvSpPr/>
          <p:nvPr/>
        </p:nvSpPr>
        <p:spPr>
          <a:xfrm>
            <a:off x="10991088" y="23774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7" name="Oval 346"/>
          <p:cNvSpPr/>
          <p:nvPr/>
        </p:nvSpPr>
        <p:spPr>
          <a:xfrm>
            <a:off x="10991088" y="25420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8" name="Oval 347"/>
          <p:cNvSpPr/>
          <p:nvPr/>
        </p:nvSpPr>
        <p:spPr>
          <a:xfrm>
            <a:off x="10991088" y="270662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9" name="Oval 348"/>
          <p:cNvSpPr/>
          <p:nvPr/>
        </p:nvSpPr>
        <p:spPr>
          <a:xfrm>
            <a:off x="10991088" y="287121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0" name="Oval 349"/>
          <p:cNvSpPr/>
          <p:nvPr/>
        </p:nvSpPr>
        <p:spPr>
          <a:xfrm>
            <a:off x="10991088" y="303580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1" name="Oval 350"/>
          <p:cNvSpPr/>
          <p:nvPr/>
        </p:nvSpPr>
        <p:spPr>
          <a:xfrm>
            <a:off x="10991088" y="320040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2" name="Oval 351"/>
          <p:cNvSpPr/>
          <p:nvPr/>
        </p:nvSpPr>
        <p:spPr>
          <a:xfrm>
            <a:off x="10991088" y="336499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3" name="Oval 352"/>
          <p:cNvSpPr/>
          <p:nvPr/>
        </p:nvSpPr>
        <p:spPr>
          <a:xfrm>
            <a:off x="10991088" y="352958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4" name="Oval 353"/>
          <p:cNvSpPr/>
          <p:nvPr/>
        </p:nvSpPr>
        <p:spPr>
          <a:xfrm>
            <a:off x="10991088" y="369417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5" name="Oval 354"/>
          <p:cNvSpPr/>
          <p:nvPr/>
        </p:nvSpPr>
        <p:spPr>
          <a:xfrm>
            <a:off x="10991088" y="385876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6" name="Oval 355"/>
          <p:cNvSpPr/>
          <p:nvPr/>
        </p:nvSpPr>
        <p:spPr>
          <a:xfrm>
            <a:off x="10991088" y="402336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7" name="Oval 356"/>
          <p:cNvSpPr/>
          <p:nvPr/>
        </p:nvSpPr>
        <p:spPr>
          <a:xfrm>
            <a:off x="10991088" y="41879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8" name="Oval 357"/>
          <p:cNvSpPr/>
          <p:nvPr/>
        </p:nvSpPr>
        <p:spPr>
          <a:xfrm>
            <a:off x="10991088" y="43525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9" name="Oval 358"/>
          <p:cNvSpPr/>
          <p:nvPr/>
        </p:nvSpPr>
        <p:spPr>
          <a:xfrm>
            <a:off x="10991088" y="45171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0" name="Oval 359"/>
          <p:cNvSpPr/>
          <p:nvPr/>
        </p:nvSpPr>
        <p:spPr>
          <a:xfrm>
            <a:off x="10991088" y="46817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1" name="Oval 360"/>
          <p:cNvSpPr/>
          <p:nvPr/>
        </p:nvSpPr>
        <p:spPr>
          <a:xfrm>
            <a:off x="10991088" y="48463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2" name="Oval 361"/>
          <p:cNvSpPr/>
          <p:nvPr/>
        </p:nvSpPr>
        <p:spPr>
          <a:xfrm>
            <a:off x="10991088" y="50109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3" name="Oval 362"/>
          <p:cNvSpPr/>
          <p:nvPr/>
        </p:nvSpPr>
        <p:spPr>
          <a:xfrm>
            <a:off x="10991088" y="51755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4" name="Oval 363"/>
          <p:cNvSpPr/>
          <p:nvPr/>
        </p:nvSpPr>
        <p:spPr>
          <a:xfrm>
            <a:off x="10991088" y="53400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5" name="Oval 364"/>
          <p:cNvSpPr/>
          <p:nvPr/>
        </p:nvSpPr>
        <p:spPr>
          <a:xfrm>
            <a:off x="10991088" y="55046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6" name="Oval 365"/>
          <p:cNvSpPr/>
          <p:nvPr/>
        </p:nvSpPr>
        <p:spPr>
          <a:xfrm>
            <a:off x="10991088" y="56692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7" name="Oval 366"/>
          <p:cNvSpPr/>
          <p:nvPr/>
        </p:nvSpPr>
        <p:spPr>
          <a:xfrm>
            <a:off x="10991088" y="58338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8" name="Oval 367"/>
          <p:cNvSpPr/>
          <p:nvPr/>
        </p:nvSpPr>
        <p:spPr>
          <a:xfrm>
            <a:off x="10991088" y="59984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9" name="Oval 368"/>
          <p:cNvSpPr/>
          <p:nvPr/>
        </p:nvSpPr>
        <p:spPr>
          <a:xfrm>
            <a:off x="10991088" y="61630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0" name="Oval 369"/>
          <p:cNvSpPr/>
          <p:nvPr/>
        </p:nvSpPr>
        <p:spPr>
          <a:xfrm>
            <a:off x="10991088" y="63276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1" name="Oval 370"/>
          <p:cNvSpPr/>
          <p:nvPr/>
        </p:nvSpPr>
        <p:spPr>
          <a:xfrm>
            <a:off x="10991088" y="64922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2" name="Oval 371"/>
          <p:cNvSpPr/>
          <p:nvPr/>
        </p:nvSpPr>
        <p:spPr>
          <a:xfrm>
            <a:off x="10991088" y="66568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3" name="Oval 372"/>
          <p:cNvSpPr/>
          <p:nvPr/>
        </p:nvSpPr>
        <p:spPr>
          <a:xfrm>
            <a:off x="11155680" y="731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4" name="Oval 373"/>
          <p:cNvSpPr/>
          <p:nvPr/>
        </p:nvSpPr>
        <p:spPr>
          <a:xfrm>
            <a:off x="11155680" y="2377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5" name="Oval 374"/>
          <p:cNvSpPr/>
          <p:nvPr/>
        </p:nvSpPr>
        <p:spPr>
          <a:xfrm>
            <a:off x="11155680" y="4023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6" name="Oval 375"/>
          <p:cNvSpPr/>
          <p:nvPr/>
        </p:nvSpPr>
        <p:spPr>
          <a:xfrm>
            <a:off x="11155680" y="5669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7" name="Oval 376"/>
          <p:cNvSpPr/>
          <p:nvPr/>
        </p:nvSpPr>
        <p:spPr>
          <a:xfrm>
            <a:off x="11155680" y="7315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8" name="Oval 377"/>
          <p:cNvSpPr/>
          <p:nvPr/>
        </p:nvSpPr>
        <p:spPr>
          <a:xfrm>
            <a:off x="11155680" y="8961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9" name="Oval 378"/>
          <p:cNvSpPr/>
          <p:nvPr/>
        </p:nvSpPr>
        <p:spPr>
          <a:xfrm>
            <a:off x="11155680" y="10607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0" name="Oval 379"/>
          <p:cNvSpPr/>
          <p:nvPr/>
        </p:nvSpPr>
        <p:spPr>
          <a:xfrm>
            <a:off x="11155680" y="12252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1" name="Oval 380"/>
          <p:cNvSpPr/>
          <p:nvPr/>
        </p:nvSpPr>
        <p:spPr>
          <a:xfrm>
            <a:off x="11155680" y="13898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2" name="Oval 381"/>
          <p:cNvSpPr/>
          <p:nvPr/>
        </p:nvSpPr>
        <p:spPr>
          <a:xfrm>
            <a:off x="11155680" y="15544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3" name="Oval 382"/>
          <p:cNvSpPr/>
          <p:nvPr/>
        </p:nvSpPr>
        <p:spPr>
          <a:xfrm>
            <a:off x="11155680" y="17190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4" name="Oval 383"/>
          <p:cNvSpPr/>
          <p:nvPr/>
        </p:nvSpPr>
        <p:spPr>
          <a:xfrm>
            <a:off x="11155680" y="18836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5" name="Oval 384"/>
          <p:cNvSpPr/>
          <p:nvPr/>
        </p:nvSpPr>
        <p:spPr>
          <a:xfrm>
            <a:off x="11155680" y="20482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6" name="Oval 385"/>
          <p:cNvSpPr/>
          <p:nvPr/>
        </p:nvSpPr>
        <p:spPr>
          <a:xfrm>
            <a:off x="11155680" y="22128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7" name="Oval 386"/>
          <p:cNvSpPr/>
          <p:nvPr/>
        </p:nvSpPr>
        <p:spPr>
          <a:xfrm>
            <a:off x="11155680" y="23774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8" name="Oval 387"/>
          <p:cNvSpPr/>
          <p:nvPr/>
        </p:nvSpPr>
        <p:spPr>
          <a:xfrm>
            <a:off x="11155680" y="25420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9" name="Oval 388"/>
          <p:cNvSpPr/>
          <p:nvPr/>
        </p:nvSpPr>
        <p:spPr>
          <a:xfrm>
            <a:off x="11155680" y="270662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0" name="Oval 389"/>
          <p:cNvSpPr/>
          <p:nvPr/>
        </p:nvSpPr>
        <p:spPr>
          <a:xfrm>
            <a:off x="11155680" y="287121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1" name="Oval 390"/>
          <p:cNvSpPr/>
          <p:nvPr/>
        </p:nvSpPr>
        <p:spPr>
          <a:xfrm>
            <a:off x="11155680" y="303580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2" name="Oval 391"/>
          <p:cNvSpPr/>
          <p:nvPr/>
        </p:nvSpPr>
        <p:spPr>
          <a:xfrm>
            <a:off x="11155680" y="320040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3" name="Oval 392"/>
          <p:cNvSpPr/>
          <p:nvPr/>
        </p:nvSpPr>
        <p:spPr>
          <a:xfrm>
            <a:off x="11155680" y="336499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4" name="Oval 393"/>
          <p:cNvSpPr/>
          <p:nvPr/>
        </p:nvSpPr>
        <p:spPr>
          <a:xfrm>
            <a:off x="11155680" y="352958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5" name="Oval 394"/>
          <p:cNvSpPr/>
          <p:nvPr/>
        </p:nvSpPr>
        <p:spPr>
          <a:xfrm>
            <a:off x="11155680" y="369417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6" name="Oval 395"/>
          <p:cNvSpPr/>
          <p:nvPr/>
        </p:nvSpPr>
        <p:spPr>
          <a:xfrm>
            <a:off x="11155680" y="385876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7" name="Oval 396"/>
          <p:cNvSpPr/>
          <p:nvPr/>
        </p:nvSpPr>
        <p:spPr>
          <a:xfrm>
            <a:off x="11155680" y="402336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8" name="Oval 397"/>
          <p:cNvSpPr/>
          <p:nvPr/>
        </p:nvSpPr>
        <p:spPr>
          <a:xfrm>
            <a:off x="11155680" y="41879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9" name="Oval 398"/>
          <p:cNvSpPr/>
          <p:nvPr/>
        </p:nvSpPr>
        <p:spPr>
          <a:xfrm>
            <a:off x="11155680" y="43525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0" name="Oval 399"/>
          <p:cNvSpPr/>
          <p:nvPr/>
        </p:nvSpPr>
        <p:spPr>
          <a:xfrm>
            <a:off x="11155680" y="45171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1" name="Oval 400"/>
          <p:cNvSpPr/>
          <p:nvPr/>
        </p:nvSpPr>
        <p:spPr>
          <a:xfrm>
            <a:off x="11155680" y="46817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2" name="Oval 401"/>
          <p:cNvSpPr/>
          <p:nvPr/>
        </p:nvSpPr>
        <p:spPr>
          <a:xfrm>
            <a:off x="11155680" y="48463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3" name="Oval 402"/>
          <p:cNvSpPr/>
          <p:nvPr/>
        </p:nvSpPr>
        <p:spPr>
          <a:xfrm>
            <a:off x="11155680" y="50109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4" name="Oval 403"/>
          <p:cNvSpPr/>
          <p:nvPr/>
        </p:nvSpPr>
        <p:spPr>
          <a:xfrm>
            <a:off x="11155680" y="51755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5" name="Oval 404"/>
          <p:cNvSpPr/>
          <p:nvPr/>
        </p:nvSpPr>
        <p:spPr>
          <a:xfrm>
            <a:off x="11155680" y="53400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6" name="Oval 405"/>
          <p:cNvSpPr/>
          <p:nvPr/>
        </p:nvSpPr>
        <p:spPr>
          <a:xfrm>
            <a:off x="11155680" y="55046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7" name="Oval 406"/>
          <p:cNvSpPr/>
          <p:nvPr/>
        </p:nvSpPr>
        <p:spPr>
          <a:xfrm>
            <a:off x="11155680" y="56692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8" name="Oval 407"/>
          <p:cNvSpPr/>
          <p:nvPr/>
        </p:nvSpPr>
        <p:spPr>
          <a:xfrm>
            <a:off x="11155680" y="58338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9" name="Oval 408"/>
          <p:cNvSpPr/>
          <p:nvPr/>
        </p:nvSpPr>
        <p:spPr>
          <a:xfrm>
            <a:off x="11155680" y="59984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0" name="Oval 409"/>
          <p:cNvSpPr/>
          <p:nvPr/>
        </p:nvSpPr>
        <p:spPr>
          <a:xfrm>
            <a:off x="11155680" y="61630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1" name="Oval 410"/>
          <p:cNvSpPr/>
          <p:nvPr/>
        </p:nvSpPr>
        <p:spPr>
          <a:xfrm>
            <a:off x="11155680" y="63276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2" name="Oval 411"/>
          <p:cNvSpPr/>
          <p:nvPr/>
        </p:nvSpPr>
        <p:spPr>
          <a:xfrm>
            <a:off x="11155680" y="64922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3" name="Oval 412"/>
          <p:cNvSpPr/>
          <p:nvPr/>
        </p:nvSpPr>
        <p:spPr>
          <a:xfrm>
            <a:off x="11155680" y="66568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4" name="Oval 413"/>
          <p:cNvSpPr/>
          <p:nvPr/>
        </p:nvSpPr>
        <p:spPr>
          <a:xfrm>
            <a:off x="11320272" y="731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5" name="Oval 414"/>
          <p:cNvSpPr/>
          <p:nvPr/>
        </p:nvSpPr>
        <p:spPr>
          <a:xfrm>
            <a:off x="11320272" y="2377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6" name="Oval 415"/>
          <p:cNvSpPr/>
          <p:nvPr/>
        </p:nvSpPr>
        <p:spPr>
          <a:xfrm>
            <a:off x="11320272" y="4023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7" name="Oval 416"/>
          <p:cNvSpPr/>
          <p:nvPr/>
        </p:nvSpPr>
        <p:spPr>
          <a:xfrm>
            <a:off x="11320272" y="5669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8" name="Oval 417"/>
          <p:cNvSpPr/>
          <p:nvPr/>
        </p:nvSpPr>
        <p:spPr>
          <a:xfrm>
            <a:off x="11320272" y="7315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9" name="Oval 418"/>
          <p:cNvSpPr/>
          <p:nvPr/>
        </p:nvSpPr>
        <p:spPr>
          <a:xfrm>
            <a:off x="11320272" y="8961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0" name="Oval 419"/>
          <p:cNvSpPr/>
          <p:nvPr/>
        </p:nvSpPr>
        <p:spPr>
          <a:xfrm>
            <a:off x="11320272" y="10607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1" name="Oval 420"/>
          <p:cNvSpPr/>
          <p:nvPr/>
        </p:nvSpPr>
        <p:spPr>
          <a:xfrm>
            <a:off x="11320272" y="12252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2" name="Oval 421"/>
          <p:cNvSpPr/>
          <p:nvPr/>
        </p:nvSpPr>
        <p:spPr>
          <a:xfrm>
            <a:off x="11320272" y="13898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3" name="Oval 422"/>
          <p:cNvSpPr/>
          <p:nvPr/>
        </p:nvSpPr>
        <p:spPr>
          <a:xfrm>
            <a:off x="11320272" y="15544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4" name="Oval 423"/>
          <p:cNvSpPr/>
          <p:nvPr/>
        </p:nvSpPr>
        <p:spPr>
          <a:xfrm>
            <a:off x="11320272" y="17190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5" name="Oval 424"/>
          <p:cNvSpPr/>
          <p:nvPr/>
        </p:nvSpPr>
        <p:spPr>
          <a:xfrm>
            <a:off x="11320272" y="18836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6" name="Oval 425"/>
          <p:cNvSpPr/>
          <p:nvPr/>
        </p:nvSpPr>
        <p:spPr>
          <a:xfrm>
            <a:off x="11320272" y="20482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7" name="Oval 426"/>
          <p:cNvSpPr/>
          <p:nvPr/>
        </p:nvSpPr>
        <p:spPr>
          <a:xfrm>
            <a:off x="11320272" y="22128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8" name="Oval 427"/>
          <p:cNvSpPr/>
          <p:nvPr/>
        </p:nvSpPr>
        <p:spPr>
          <a:xfrm>
            <a:off x="11320272" y="23774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9" name="Oval 428"/>
          <p:cNvSpPr/>
          <p:nvPr/>
        </p:nvSpPr>
        <p:spPr>
          <a:xfrm>
            <a:off x="11320272" y="25420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0" name="Oval 429"/>
          <p:cNvSpPr/>
          <p:nvPr/>
        </p:nvSpPr>
        <p:spPr>
          <a:xfrm>
            <a:off x="11320272" y="270662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1" name="Oval 430"/>
          <p:cNvSpPr/>
          <p:nvPr/>
        </p:nvSpPr>
        <p:spPr>
          <a:xfrm>
            <a:off x="11320272" y="287121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2" name="Oval 431"/>
          <p:cNvSpPr/>
          <p:nvPr/>
        </p:nvSpPr>
        <p:spPr>
          <a:xfrm>
            <a:off x="11320272" y="303580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3" name="Oval 432"/>
          <p:cNvSpPr/>
          <p:nvPr/>
        </p:nvSpPr>
        <p:spPr>
          <a:xfrm>
            <a:off x="11320272" y="320040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4" name="Oval 433"/>
          <p:cNvSpPr/>
          <p:nvPr/>
        </p:nvSpPr>
        <p:spPr>
          <a:xfrm>
            <a:off x="11320272" y="336499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5" name="Oval 434"/>
          <p:cNvSpPr/>
          <p:nvPr/>
        </p:nvSpPr>
        <p:spPr>
          <a:xfrm>
            <a:off x="11320272" y="352958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6" name="Oval 435"/>
          <p:cNvSpPr/>
          <p:nvPr/>
        </p:nvSpPr>
        <p:spPr>
          <a:xfrm>
            <a:off x="11320272" y="369417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7" name="Oval 436"/>
          <p:cNvSpPr/>
          <p:nvPr/>
        </p:nvSpPr>
        <p:spPr>
          <a:xfrm>
            <a:off x="11320272" y="385876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8" name="Oval 437"/>
          <p:cNvSpPr/>
          <p:nvPr/>
        </p:nvSpPr>
        <p:spPr>
          <a:xfrm>
            <a:off x="11320272" y="402336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9" name="Oval 438"/>
          <p:cNvSpPr/>
          <p:nvPr/>
        </p:nvSpPr>
        <p:spPr>
          <a:xfrm>
            <a:off x="11320272" y="41879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0" name="Oval 439"/>
          <p:cNvSpPr/>
          <p:nvPr/>
        </p:nvSpPr>
        <p:spPr>
          <a:xfrm>
            <a:off x="11320272" y="43525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1" name="Oval 440"/>
          <p:cNvSpPr/>
          <p:nvPr/>
        </p:nvSpPr>
        <p:spPr>
          <a:xfrm>
            <a:off x="11320272" y="45171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2" name="Oval 441"/>
          <p:cNvSpPr/>
          <p:nvPr/>
        </p:nvSpPr>
        <p:spPr>
          <a:xfrm>
            <a:off x="11320272" y="46817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3" name="Oval 442"/>
          <p:cNvSpPr/>
          <p:nvPr/>
        </p:nvSpPr>
        <p:spPr>
          <a:xfrm>
            <a:off x="11320272" y="48463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4" name="Oval 443"/>
          <p:cNvSpPr/>
          <p:nvPr/>
        </p:nvSpPr>
        <p:spPr>
          <a:xfrm>
            <a:off x="11320272" y="50109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5" name="Oval 444"/>
          <p:cNvSpPr/>
          <p:nvPr/>
        </p:nvSpPr>
        <p:spPr>
          <a:xfrm>
            <a:off x="11320272" y="51755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6" name="Oval 445"/>
          <p:cNvSpPr/>
          <p:nvPr/>
        </p:nvSpPr>
        <p:spPr>
          <a:xfrm>
            <a:off x="11320272" y="53400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7" name="Oval 446"/>
          <p:cNvSpPr/>
          <p:nvPr/>
        </p:nvSpPr>
        <p:spPr>
          <a:xfrm>
            <a:off x="11320272" y="55046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8" name="Oval 447"/>
          <p:cNvSpPr/>
          <p:nvPr/>
        </p:nvSpPr>
        <p:spPr>
          <a:xfrm>
            <a:off x="11320272" y="56692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9" name="Oval 448"/>
          <p:cNvSpPr/>
          <p:nvPr/>
        </p:nvSpPr>
        <p:spPr>
          <a:xfrm>
            <a:off x="11320272" y="58338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0" name="Oval 449"/>
          <p:cNvSpPr/>
          <p:nvPr/>
        </p:nvSpPr>
        <p:spPr>
          <a:xfrm>
            <a:off x="11320272" y="59984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1" name="Oval 450"/>
          <p:cNvSpPr/>
          <p:nvPr/>
        </p:nvSpPr>
        <p:spPr>
          <a:xfrm>
            <a:off x="11320272" y="61630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2" name="Oval 451"/>
          <p:cNvSpPr/>
          <p:nvPr/>
        </p:nvSpPr>
        <p:spPr>
          <a:xfrm>
            <a:off x="11320272" y="63276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3" name="Oval 452"/>
          <p:cNvSpPr/>
          <p:nvPr/>
        </p:nvSpPr>
        <p:spPr>
          <a:xfrm>
            <a:off x="11320272" y="64922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4" name="Oval 453"/>
          <p:cNvSpPr/>
          <p:nvPr/>
        </p:nvSpPr>
        <p:spPr>
          <a:xfrm>
            <a:off x="11320272" y="66568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5" name="Oval 454"/>
          <p:cNvSpPr/>
          <p:nvPr/>
        </p:nvSpPr>
        <p:spPr>
          <a:xfrm>
            <a:off x="11484864" y="731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6" name="Oval 455"/>
          <p:cNvSpPr/>
          <p:nvPr/>
        </p:nvSpPr>
        <p:spPr>
          <a:xfrm>
            <a:off x="11484864" y="2377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7" name="Oval 456"/>
          <p:cNvSpPr/>
          <p:nvPr/>
        </p:nvSpPr>
        <p:spPr>
          <a:xfrm>
            <a:off x="11484864" y="4023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8" name="Oval 457"/>
          <p:cNvSpPr/>
          <p:nvPr/>
        </p:nvSpPr>
        <p:spPr>
          <a:xfrm>
            <a:off x="11484864" y="5669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9" name="Oval 458"/>
          <p:cNvSpPr/>
          <p:nvPr/>
        </p:nvSpPr>
        <p:spPr>
          <a:xfrm>
            <a:off x="11484864" y="7315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0" name="Oval 459"/>
          <p:cNvSpPr/>
          <p:nvPr/>
        </p:nvSpPr>
        <p:spPr>
          <a:xfrm>
            <a:off x="11484864" y="8961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1" name="Oval 460"/>
          <p:cNvSpPr/>
          <p:nvPr/>
        </p:nvSpPr>
        <p:spPr>
          <a:xfrm>
            <a:off x="11484864" y="10607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2" name="Oval 461"/>
          <p:cNvSpPr/>
          <p:nvPr/>
        </p:nvSpPr>
        <p:spPr>
          <a:xfrm>
            <a:off x="11484864" y="12252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3" name="Oval 462"/>
          <p:cNvSpPr/>
          <p:nvPr/>
        </p:nvSpPr>
        <p:spPr>
          <a:xfrm>
            <a:off x="11484864" y="13898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4" name="Oval 463"/>
          <p:cNvSpPr/>
          <p:nvPr/>
        </p:nvSpPr>
        <p:spPr>
          <a:xfrm>
            <a:off x="11484864" y="15544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5" name="Oval 464"/>
          <p:cNvSpPr/>
          <p:nvPr/>
        </p:nvSpPr>
        <p:spPr>
          <a:xfrm>
            <a:off x="11484864" y="17190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6" name="Oval 465"/>
          <p:cNvSpPr/>
          <p:nvPr/>
        </p:nvSpPr>
        <p:spPr>
          <a:xfrm>
            <a:off x="11484864" y="18836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7" name="Oval 466"/>
          <p:cNvSpPr/>
          <p:nvPr/>
        </p:nvSpPr>
        <p:spPr>
          <a:xfrm>
            <a:off x="11484864" y="20482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8" name="Oval 467"/>
          <p:cNvSpPr/>
          <p:nvPr/>
        </p:nvSpPr>
        <p:spPr>
          <a:xfrm>
            <a:off x="11484864" y="22128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9" name="Oval 468"/>
          <p:cNvSpPr/>
          <p:nvPr/>
        </p:nvSpPr>
        <p:spPr>
          <a:xfrm>
            <a:off x="11484864" y="23774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0" name="Oval 469"/>
          <p:cNvSpPr/>
          <p:nvPr/>
        </p:nvSpPr>
        <p:spPr>
          <a:xfrm>
            <a:off x="11484864" y="25420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1" name="Oval 470"/>
          <p:cNvSpPr/>
          <p:nvPr/>
        </p:nvSpPr>
        <p:spPr>
          <a:xfrm>
            <a:off x="11484864" y="270662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2" name="Oval 471"/>
          <p:cNvSpPr/>
          <p:nvPr/>
        </p:nvSpPr>
        <p:spPr>
          <a:xfrm>
            <a:off x="11484864" y="287121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3" name="Oval 472"/>
          <p:cNvSpPr/>
          <p:nvPr/>
        </p:nvSpPr>
        <p:spPr>
          <a:xfrm>
            <a:off x="11484864" y="303580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4" name="Oval 473"/>
          <p:cNvSpPr/>
          <p:nvPr/>
        </p:nvSpPr>
        <p:spPr>
          <a:xfrm>
            <a:off x="11484864" y="320040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5" name="Oval 474"/>
          <p:cNvSpPr/>
          <p:nvPr/>
        </p:nvSpPr>
        <p:spPr>
          <a:xfrm>
            <a:off x="11484864" y="336499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6" name="Oval 475"/>
          <p:cNvSpPr/>
          <p:nvPr/>
        </p:nvSpPr>
        <p:spPr>
          <a:xfrm>
            <a:off x="11484864" y="352958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7" name="Oval 476"/>
          <p:cNvSpPr/>
          <p:nvPr/>
        </p:nvSpPr>
        <p:spPr>
          <a:xfrm>
            <a:off x="11484864" y="369417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8" name="Oval 477"/>
          <p:cNvSpPr/>
          <p:nvPr/>
        </p:nvSpPr>
        <p:spPr>
          <a:xfrm>
            <a:off x="11484864" y="385876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9" name="Oval 478"/>
          <p:cNvSpPr/>
          <p:nvPr/>
        </p:nvSpPr>
        <p:spPr>
          <a:xfrm>
            <a:off x="11484864" y="402336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0" name="Oval 479"/>
          <p:cNvSpPr/>
          <p:nvPr/>
        </p:nvSpPr>
        <p:spPr>
          <a:xfrm>
            <a:off x="11484864" y="41879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1" name="Oval 480"/>
          <p:cNvSpPr/>
          <p:nvPr/>
        </p:nvSpPr>
        <p:spPr>
          <a:xfrm>
            <a:off x="11484864" y="43525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2" name="Oval 481"/>
          <p:cNvSpPr/>
          <p:nvPr/>
        </p:nvSpPr>
        <p:spPr>
          <a:xfrm>
            <a:off x="11484864" y="45171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3" name="Oval 482"/>
          <p:cNvSpPr/>
          <p:nvPr/>
        </p:nvSpPr>
        <p:spPr>
          <a:xfrm>
            <a:off x="11484864" y="46817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4" name="Oval 483"/>
          <p:cNvSpPr/>
          <p:nvPr/>
        </p:nvSpPr>
        <p:spPr>
          <a:xfrm>
            <a:off x="11484864" y="48463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5" name="Oval 484"/>
          <p:cNvSpPr/>
          <p:nvPr/>
        </p:nvSpPr>
        <p:spPr>
          <a:xfrm>
            <a:off x="11484864" y="50109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6" name="Oval 485"/>
          <p:cNvSpPr/>
          <p:nvPr/>
        </p:nvSpPr>
        <p:spPr>
          <a:xfrm>
            <a:off x="11484864" y="51755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7" name="Oval 486"/>
          <p:cNvSpPr/>
          <p:nvPr/>
        </p:nvSpPr>
        <p:spPr>
          <a:xfrm>
            <a:off x="11484864" y="53400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8" name="Oval 487"/>
          <p:cNvSpPr/>
          <p:nvPr/>
        </p:nvSpPr>
        <p:spPr>
          <a:xfrm>
            <a:off x="11484864" y="55046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9" name="Oval 488"/>
          <p:cNvSpPr/>
          <p:nvPr/>
        </p:nvSpPr>
        <p:spPr>
          <a:xfrm>
            <a:off x="11484864" y="56692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0" name="Oval 489"/>
          <p:cNvSpPr/>
          <p:nvPr/>
        </p:nvSpPr>
        <p:spPr>
          <a:xfrm>
            <a:off x="11484864" y="58338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1" name="Oval 490"/>
          <p:cNvSpPr/>
          <p:nvPr/>
        </p:nvSpPr>
        <p:spPr>
          <a:xfrm>
            <a:off x="11484864" y="59984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2" name="Oval 491"/>
          <p:cNvSpPr/>
          <p:nvPr/>
        </p:nvSpPr>
        <p:spPr>
          <a:xfrm>
            <a:off x="11484864" y="61630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3" name="Oval 492"/>
          <p:cNvSpPr/>
          <p:nvPr/>
        </p:nvSpPr>
        <p:spPr>
          <a:xfrm>
            <a:off x="11484864" y="63276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4" name="Oval 493"/>
          <p:cNvSpPr/>
          <p:nvPr/>
        </p:nvSpPr>
        <p:spPr>
          <a:xfrm>
            <a:off x="11484864" y="64922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5" name="Oval 494"/>
          <p:cNvSpPr/>
          <p:nvPr/>
        </p:nvSpPr>
        <p:spPr>
          <a:xfrm>
            <a:off x="11484864" y="66568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6" name="Oval 495"/>
          <p:cNvSpPr/>
          <p:nvPr/>
        </p:nvSpPr>
        <p:spPr>
          <a:xfrm>
            <a:off x="11649456" y="731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7" name="Oval 496"/>
          <p:cNvSpPr/>
          <p:nvPr/>
        </p:nvSpPr>
        <p:spPr>
          <a:xfrm>
            <a:off x="11649456" y="2377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8" name="Oval 497"/>
          <p:cNvSpPr/>
          <p:nvPr/>
        </p:nvSpPr>
        <p:spPr>
          <a:xfrm>
            <a:off x="11649456" y="4023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9" name="Oval 498"/>
          <p:cNvSpPr/>
          <p:nvPr/>
        </p:nvSpPr>
        <p:spPr>
          <a:xfrm>
            <a:off x="11649456" y="5669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0" name="Oval 499"/>
          <p:cNvSpPr/>
          <p:nvPr/>
        </p:nvSpPr>
        <p:spPr>
          <a:xfrm>
            <a:off x="11649456" y="7315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1" name="Oval 500"/>
          <p:cNvSpPr/>
          <p:nvPr/>
        </p:nvSpPr>
        <p:spPr>
          <a:xfrm>
            <a:off x="11649456" y="8961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2" name="Oval 501"/>
          <p:cNvSpPr/>
          <p:nvPr/>
        </p:nvSpPr>
        <p:spPr>
          <a:xfrm>
            <a:off x="11649456" y="10607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3" name="Oval 502"/>
          <p:cNvSpPr/>
          <p:nvPr/>
        </p:nvSpPr>
        <p:spPr>
          <a:xfrm>
            <a:off x="11649456" y="12252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4" name="Oval 503"/>
          <p:cNvSpPr/>
          <p:nvPr/>
        </p:nvSpPr>
        <p:spPr>
          <a:xfrm>
            <a:off x="11649456" y="13898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5" name="Oval 504"/>
          <p:cNvSpPr/>
          <p:nvPr/>
        </p:nvSpPr>
        <p:spPr>
          <a:xfrm>
            <a:off x="11649456" y="15544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6" name="Oval 505"/>
          <p:cNvSpPr/>
          <p:nvPr/>
        </p:nvSpPr>
        <p:spPr>
          <a:xfrm>
            <a:off x="11649456" y="17190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7" name="Oval 506"/>
          <p:cNvSpPr/>
          <p:nvPr/>
        </p:nvSpPr>
        <p:spPr>
          <a:xfrm>
            <a:off x="11649456" y="18836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8" name="Oval 507"/>
          <p:cNvSpPr/>
          <p:nvPr/>
        </p:nvSpPr>
        <p:spPr>
          <a:xfrm>
            <a:off x="11649456" y="20482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9" name="Oval 508"/>
          <p:cNvSpPr/>
          <p:nvPr/>
        </p:nvSpPr>
        <p:spPr>
          <a:xfrm>
            <a:off x="11649456" y="22128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0" name="Oval 509"/>
          <p:cNvSpPr/>
          <p:nvPr/>
        </p:nvSpPr>
        <p:spPr>
          <a:xfrm>
            <a:off x="11649456" y="23774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1" name="Oval 510"/>
          <p:cNvSpPr/>
          <p:nvPr/>
        </p:nvSpPr>
        <p:spPr>
          <a:xfrm>
            <a:off x="11649456" y="25420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2" name="Oval 511"/>
          <p:cNvSpPr/>
          <p:nvPr/>
        </p:nvSpPr>
        <p:spPr>
          <a:xfrm>
            <a:off x="11649456" y="270662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3" name="Oval 512"/>
          <p:cNvSpPr/>
          <p:nvPr/>
        </p:nvSpPr>
        <p:spPr>
          <a:xfrm>
            <a:off x="11649456" y="287121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4" name="Oval 513"/>
          <p:cNvSpPr/>
          <p:nvPr/>
        </p:nvSpPr>
        <p:spPr>
          <a:xfrm>
            <a:off x="11649456" y="303580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5" name="Oval 514"/>
          <p:cNvSpPr/>
          <p:nvPr/>
        </p:nvSpPr>
        <p:spPr>
          <a:xfrm>
            <a:off x="11649456" y="320040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6" name="Oval 515"/>
          <p:cNvSpPr/>
          <p:nvPr/>
        </p:nvSpPr>
        <p:spPr>
          <a:xfrm>
            <a:off x="11649456" y="336499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7" name="Oval 516"/>
          <p:cNvSpPr/>
          <p:nvPr/>
        </p:nvSpPr>
        <p:spPr>
          <a:xfrm>
            <a:off x="11649456" y="352958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8" name="Oval 517"/>
          <p:cNvSpPr/>
          <p:nvPr/>
        </p:nvSpPr>
        <p:spPr>
          <a:xfrm>
            <a:off x="11649456" y="369417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9" name="Oval 518"/>
          <p:cNvSpPr/>
          <p:nvPr/>
        </p:nvSpPr>
        <p:spPr>
          <a:xfrm>
            <a:off x="11649456" y="385876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0" name="Oval 519"/>
          <p:cNvSpPr/>
          <p:nvPr/>
        </p:nvSpPr>
        <p:spPr>
          <a:xfrm>
            <a:off x="11649456" y="402336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1" name="Oval 520"/>
          <p:cNvSpPr/>
          <p:nvPr/>
        </p:nvSpPr>
        <p:spPr>
          <a:xfrm>
            <a:off x="11649456" y="41879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2" name="Oval 521"/>
          <p:cNvSpPr/>
          <p:nvPr/>
        </p:nvSpPr>
        <p:spPr>
          <a:xfrm>
            <a:off x="11649456" y="43525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3" name="Oval 522"/>
          <p:cNvSpPr/>
          <p:nvPr/>
        </p:nvSpPr>
        <p:spPr>
          <a:xfrm>
            <a:off x="11649456" y="45171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4" name="Oval 523"/>
          <p:cNvSpPr/>
          <p:nvPr/>
        </p:nvSpPr>
        <p:spPr>
          <a:xfrm>
            <a:off x="11649456" y="46817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5" name="Oval 524"/>
          <p:cNvSpPr/>
          <p:nvPr/>
        </p:nvSpPr>
        <p:spPr>
          <a:xfrm>
            <a:off x="11649456" y="48463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6" name="Oval 525"/>
          <p:cNvSpPr/>
          <p:nvPr/>
        </p:nvSpPr>
        <p:spPr>
          <a:xfrm>
            <a:off x="11649456" y="50109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7" name="Oval 526"/>
          <p:cNvSpPr/>
          <p:nvPr/>
        </p:nvSpPr>
        <p:spPr>
          <a:xfrm>
            <a:off x="11649456" y="51755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8" name="Oval 527"/>
          <p:cNvSpPr/>
          <p:nvPr/>
        </p:nvSpPr>
        <p:spPr>
          <a:xfrm>
            <a:off x="11649456" y="53400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9" name="Oval 528"/>
          <p:cNvSpPr/>
          <p:nvPr/>
        </p:nvSpPr>
        <p:spPr>
          <a:xfrm>
            <a:off x="11649456" y="55046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0" name="Oval 529"/>
          <p:cNvSpPr/>
          <p:nvPr/>
        </p:nvSpPr>
        <p:spPr>
          <a:xfrm>
            <a:off x="11649456" y="56692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1" name="Oval 530"/>
          <p:cNvSpPr/>
          <p:nvPr/>
        </p:nvSpPr>
        <p:spPr>
          <a:xfrm>
            <a:off x="11649456" y="58338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2" name="Oval 531"/>
          <p:cNvSpPr/>
          <p:nvPr/>
        </p:nvSpPr>
        <p:spPr>
          <a:xfrm>
            <a:off x="11649456" y="59984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3" name="Oval 532"/>
          <p:cNvSpPr/>
          <p:nvPr/>
        </p:nvSpPr>
        <p:spPr>
          <a:xfrm>
            <a:off x="11649456" y="61630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4" name="Oval 533"/>
          <p:cNvSpPr/>
          <p:nvPr/>
        </p:nvSpPr>
        <p:spPr>
          <a:xfrm>
            <a:off x="11649456" y="63276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5" name="Oval 534"/>
          <p:cNvSpPr/>
          <p:nvPr/>
        </p:nvSpPr>
        <p:spPr>
          <a:xfrm>
            <a:off x="11649456" y="64922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6" name="Oval 535"/>
          <p:cNvSpPr/>
          <p:nvPr/>
        </p:nvSpPr>
        <p:spPr>
          <a:xfrm>
            <a:off x="11649456" y="66568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7" name="Oval 536"/>
          <p:cNvSpPr/>
          <p:nvPr/>
        </p:nvSpPr>
        <p:spPr>
          <a:xfrm>
            <a:off x="11814048" y="731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8" name="Oval 537"/>
          <p:cNvSpPr/>
          <p:nvPr/>
        </p:nvSpPr>
        <p:spPr>
          <a:xfrm>
            <a:off x="11814048" y="2377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9" name="Oval 538"/>
          <p:cNvSpPr/>
          <p:nvPr/>
        </p:nvSpPr>
        <p:spPr>
          <a:xfrm>
            <a:off x="11814048" y="4023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0" name="Oval 539"/>
          <p:cNvSpPr/>
          <p:nvPr/>
        </p:nvSpPr>
        <p:spPr>
          <a:xfrm>
            <a:off x="11814048" y="5669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1" name="Oval 540"/>
          <p:cNvSpPr/>
          <p:nvPr/>
        </p:nvSpPr>
        <p:spPr>
          <a:xfrm>
            <a:off x="11814048" y="7315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2" name="Oval 541"/>
          <p:cNvSpPr/>
          <p:nvPr/>
        </p:nvSpPr>
        <p:spPr>
          <a:xfrm>
            <a:off x="11814048" y="8961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3" name="Oval 542"/>
          <p:cNvSpPr/>
          <p:nvPr/>
        </p:nvSpPr>
        <p:spPr>
          <a:xfrm>
            <a:off x="11814048" y="10607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4" name="Oval 543"/>
          <p:cNvSpPr/>
          <p:nvPr/>
        </p:nvSpPr>
        <p:spPr>
          <a:xfrm>
            <a:off x="11814048" y="12252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5" name="Oval 544"/>
          <p:cNvSpPr/>
          <p:nvPr/>
        </p:nvSpPr>
        <p:spPr>
          <a:xfrm>
            <a:off x="11814048" y="13898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6" name="Oval 545"/>
          <p:cNvSpPr/>
          <p:nvPr/>
        </p:nvSpPr>
        <p:spPr>
          <a:xfrm>
            <a:off x="11814048" y="15544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7" name="Oval 546"/>
          <p:cNvSpPr/>
          <p:nvPr/>
        </p:nvSpPr>
        <p:spPr>
          <a:xfrm>
            <a:off x="11814048" y="17190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8" name="Oval 547"/>
          <p:cNvSpPr/>
          <p:nvPr/>
        </p:nvSpPr>
        <p:spPr>
          <a:xfrm>
            <a:off x="11814048" y="18836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9" name="Oval 548"/>
          <p:cNvSpPr/>
          <p:nvPr/>
        </p:nvSpPr>
        <p:spPr>
          <a:xfrm>
            <a:off x="11814048" y="20482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0" name="Oval 549"/>
          <p:cNvSpPr/>
          <p:nvPr/>
        </p:nvSpPr>
        <p:spPr>
          <a:xfrm>
            <a:off x="11814048" y="22128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1" name="Oval 550"/>
          <p:cNvSpPr/>
          <p:nvPr/>
        </p:nvSpPr>
        <p:spPr>
          <a:xfrm>
            <a:off x="11814048" y="23774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2" name="Oval 551"/>
          <p:cNvSpPr/>
          <p:nvPr/>
        </p:nvSpPr>
        <p:spPr>
          <a:xfrm>
            <a:off x="11814048" y="25420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3" name="Oval 552"/>
          <p:cNvSpPr/>
          <p:nvPr/>
        </p:nvSpPr>
        <p:spPr>
          <a:xfrm>
            <a:off x="11814048" y="270662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4" name="Oval 553"/>
          <p:cNvSpPr/>
          <p:nvPr/>
        </p:nvSpPr>
        <p:spPr>
          <a:xfrm>
            <a:off x="11814048" y="287121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5" name="Oval 554"/>
          <p:cNvSpPr/>
          <p:nvPr/>
        </p:nvSpPr>
        <p:spPr>
          <a:xfrm>
            <a:off x="11814048" y="303580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6" name="Oval 555"/>
          <p:cNvSpPr/>
          <p:nvPr/>
        </p:nvSpPr>
        <p:spPr>
          <a:xfrm>
            <a:off x="11814048" y="320040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7" name="Oval 556"/>
          <p:cNvSpPr/>
          <p:nvPr/>
        </p:nvSpPr>
        <p:spPr>
          <a:xfrm>
            <a:off x="11814048" y="336499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8" name="Oval 557"/>
          <p:cNvSpPr/>
          <p:nvPr/>
        </p:nvSpPr>
        <p:spPr>
          <a:xfrm>
            <a:off x="11814048" y="352958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9" name="Oval 558"/>
          <p:cNvSpPr/>
          <p:nvPr/>
        </p:nvSpPr>
        <p:spPr>
          <a:xfrm>
            <a:off x="11814048" y="369417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0" name="Oval 559"/>
          <p:cNvSpPr/>
          <p:nvPr/>
        </p:nvSpPr>
        <p:spPr>
          <a:xfrm>
            <a:off x="11814048" y="385876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1" name="Oval 560"/>
          <p:cNvSpPr/>
          <p:nvPr/>
        </p:nvSpPr>
        <p:spPr>
          <a:xfrm>
            <a:off x="11814048" y="402336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2" name="Oval 561"/>
          <p:cNvSpPr/>
          <p:nvPr/>
        </p:nvSpPr>
        <p:spPr>
          <a:xfrm>
            <a:off x="11814048" y="41879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3" name="Oval 562"/>
          <p:cNvSpPr/>
          <p:nvPr/>
        </p:nvSpPr>
        <p:spPr>
          <a:xfrm>
            <a:off x="11814048" y="43525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4" name="Oval 563"/>
          <p:cNvSpPr/>
          <p:nvPr/>
        </p:nvSpPr>
        <p:spPr>
          <a:xfrm>
            <a:off x="11814048" y="45171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5" name="Oval 564"/>
          <p:cNvSpPr/>
          <p:nvPr/>
        </p:nvSpPr>
        <p:spPr>
          <a:xfrm>
            <a:off x="11814048" y="46817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6" name="Oval 565"/>
          <p:cNvSpPr/>
          <p:nvPr/>
        </p:nvSpPr>
        <p:spPr>
          <a:xfrm>
            <a:off x="11814048" y="48463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7" name="Oval 566"/>
          <p:cNvSpPr/>
          <p:nvPr/>
        </p:nvSpPr>
        <p:spPr>
          <a:xfrm>
            <a:off x="11814048" y="50109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8" name="Oval 567"/>
          <p:cNvSpPr/>
          <p:nvPr/>
        </p:nvSpPr>
        <p:spPr>
          <a:xfrm>
            <a:off x="11814048" y="51755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9" name="Oval 568"/>
          <p:cNvSpPr/>
          <p:nvPr/>
        </p:nvSpPr>
        <p:spPr>
          <a:xfrm>
            <a:off x="11814048" y="53400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0" name="Oval 569"/>
          <p:cNvSpPr/>
          <p:nvPr/>
        </p:nvSpPr>
        <p:spPr>
          <a:xfrm>
            <a:off x="11814048" y="55046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1" name="Oval 570"/>
          <p:cNvSpPr/>
          <p:nvPr/>
        </p:nvSpPr>
        <p:spPr>
          <a:xfrm>
            <a:off x="11814048" y="56692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2" name="Oval 571"/>
          <p:cNvSpPr/>
          <p:nvPr/>
        </p:nvSpPr>
        <p:spPr>
          <a:xfrm>
            <a:off x="11814048" y="58338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3" name="Oval 572"/>
          <p:cNvSpPr/>
          <p:nvPr/>
        </p:nvSpPr>
        <p:spPr>
          <a:xfrm>
            <a:off x="11814048" y="59984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4" name="Oval 573"/>
          <p:cNvSpPr/>
          <p:nvPr/>
        </p:nvSpPr>
        <p:spPr>
          <a:xfrm>
            <a:off x="11814048" y="61630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5" name="Oval 574"/>
          <p:cNvSpPr/>
          <p:nvPr/>
        </p:nvSpPr>
        <p:spPr>
          <a:xfrm>
            <a:off x="11814048" y="63276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6" name="Oval 575"/>
          <p:cNvSpPr/>
          <p:nvPr/>
        </p:nvSpPr>
        <p:spPr>
          <a:xfrm>
            <a:off x="11814048" y="64922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7" name="Oval 576"/>
          <p:cNvSpPr/>
          <p:nvPr/>
        </p:nvSpPr>
        <p:spPr>
          <a:xfrm>
            <a:off x="11814048" y="66568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8" name="Oval 577"/>
          <p:cNvSpPr/>
          <p:nvPr/>
        </p:nvSpPr>
        <p:spPr>
          <a:xfrm>
            <a:off x="11978640" y="731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9" name="Oval 578"/>
          <p:cNvSpPr/>
          <p:nvPr/>
        </p:nvSpPr>
        <p:spPr>
          <a:xfrm>
            <a:off x="11978640" y="2377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0" name="Oval 579"/>
          <p:cNvSpPr/>
          <p:nvPr/>
        </p:nvSpPr>
        <p:spPr>
          <a:xfrm>
            <a:off x="11978640" y="4023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1" name="Oval 580"/>
          <p:cNvSpPr/>
          <p:nvPr/>
        </p:nvSpPr>
        <p:spPr>
          <a:xfrm>
            <a:off x="11978640" y="5669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2" name="Oval 581"/>
          <p:cNvSpPr/>
          <p:nvPr/>
        </p:nvSpPr>
        <p:spPr>
          <a:xfrm>
            <a:off x="11978640" y="7315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3" name="Oval 582"/>
          <p:cNvSpPr/>
          <p:nvPr/>
        </p:nvSpPr>
        <p:spPr>
          <a:xfrm>
            <a:off x="11978640" y="8961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4" name="Oval 583"/>
          <p:cNvSpPr/>
          <p:nvPr/>
        </p:nvSpPr>
        <p:spPr>
          <a:xfrm>
            <a:off x="11978640" y="10607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5" name="Oval 584"/>
          <p:cNvSpPr/>
          <p:nvPr/>
        </p:nvSpPr>
        <p:spPr>
          <a:xfrm>
            <a:off x="11978640" y="12252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6" name="Oval 585"/>
          <p:cNvSpPr/>
          <p:nvPr/>
        </p:nvSpPr>
        <p:spPr>
          <a:xfrm>
            <a:off x="11978640" y="13898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7" name="Oval 586"/>
          <p:cNvSpPr/>
          <p:nvPr/>
        </p:nvSpPr>
        <p:spPr>
          <a:xfrm>
            <a:off x="11978640" y="15544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8" name="Oval 587"/>
          <p:cNvSpPr/>
          <p:nvPr/>
        </p:nvSpPr>
        <p:spPr>
          <a:xfrm>
            <a:off x="11978640" y="17190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9" name="Oval 588"/>
          <p:cNvSpPr/>
          <p:nvPr/>
        </p:nvSpPr>
        <p:spPr>
          <a:xfrm>
            <a:off x="11978640" y="18836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0" name="Oval 589"/>
          <p:cNvSpPr/>
          <p:nvPr/>
        </p:nvSpPr>
        <p:spPr>
          <a:xfrm>
            <a:off x="11978640" y="20482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1" name="Oval 590"/>
          <p:cNvSpPr/>
          <p:nvPr/>
        </p:nvSpPr>
        <p:spPr>
          <a:xfrm>
            <a:off x="11978640" y="22128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2" name="Oval 591"/>
          <p:cNvSpPr/>
          <p:nvPr/>
        </p:nvSpPr>
        <p:spPr>
          <a:xfrm>
            <a:off x="11978640" y="23774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3" name="Oval 592"/>
          <p:cNvSpPr/>
          <p:nvPr/>
        </p:nvSpPr>
        <p:spPr>
          <a:xfrm>
            <a:off x="11978640" y="25420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4" name="Oval 593"/>
          <p:cNvSpPr/>
          <p:nvPr/>
        </p:nvSpPr>
        <p:spPr>
          <a:xfrm>
            <a:off x="11978640" y="270662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5" name="Oval 594"/>
          <p:cNvSpPr/>
          <p:nvPr/>
        </p:nvSpPr>
        <p:spPr>
          <a:xfrm>
            <a:off x="11978640" y="287121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6" name="Oval 595"/>
          <p:cNvSpPr/>
          <p:nvPr/>
        </p:nvSpPr>
        <p:spPr>
          <a:xfrm>
            <a:off x="11978640" y="303580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7" name="Oval 596"/>
          <p:cNvSpPr/>
          <p:nvPr/>
        </p:nvSpPr>
        <p:spPr>
          <a:xfrm>
            <a:off x="11978640" y="320040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8" name="Oval 597"/>
          <p:cNvSpPr/>
          <p:nvPr/>
        </p:nvSpPr>
        <p:spPr>
          <a:xfrm>
            <a:off x="11978640" y="336499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9" name="Oval 598"/>
          <p:cNvSpPr/>
          <p:nvPr/>
        </p:nvSpPr>
        <p:spPr>
          <a:xfrm>
            <a:off x="11978640" y="352958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0" name="Oval 599"/>
          <p:cNvSpPr/>
          <p:nvPr/>
        </p:nvSpPr>
        <p:spPr>
          <a:xfrm>
            <a:off x="11978640" y="369417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1" name="Oval 600"/>
          <p:cNvSpPr/>
          <p:nvPr/>
        </p:nvSpPr>
        <p:spPr>
          <a:xfrm>
            <a:off x="11978640" y="385876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2" name="Oval 601"/>
          <p:cNvSpPr/>
          <p:nvPr/>
        </p:nvSpPr>
        <p:spPr>
          <a:xfrm>
            <a:off x="11978640" y="402336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3" name="Oval 602"/>
          <p:cNvSpPr/>
          <p:nvPr/>
        </p:nvSpPr>
        <p:spPr>
          <a:xfrm>
            <a:off x="11978640" y="41879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4" name="Oval 603"/>
          <p:cNvSpPr/>
          <p:nvPr/>
        </p:nvSpPr>
        <p:spPr>
          <a:xfrm>
            <a:off x="11978640" y="43525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5" name="Oval 604"/>
          <p:cNvSpPr/>
          <p:nvPr/>
        </p:nvSpPr>
        <p:spPr>
          <a:xfrm>
            <a:off x="11978640" y="45171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6" name="Oval 605"/>
          <p:cNvSpPr/>
          <p:nvPr/>
        </p:nvSpPr>
        <p:spPr>
          <a:xfrm>
            <a:off x="11978640" y="46817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7" name="Oval 606"/>
          <p:cNvSpPr/>
          <p:nvPr/>
        </p:nvSpPr>
        <p:spPr>
          <a:xfrm>
            <a:off x="11978640" y="48463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8" name="Oval 607"/>
          <p:cNvSpPr/>
          <p:nvPr/>
        </p:nvSpPr>
        <p:spPr>
          <a:xfrm>
            <a:off x="11978640" y="50109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9" name="Oval 608"/>
          <p:cNvSpPr/>
          <p:nvPr/>
        </p:nvSpPr>
        <p:spPr>
          <a:xfrm>
            <a:off x="11978640" y="51755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0" name="Oval 609"/>
          <p:cNvSpPr/>
          <p:nvPr/>
        </p:nvSpPr>
        <p:spPr>
          <a:xfrm>
            <a:off x="11978640" y="53400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1" name="Oval 610"/>
          <p:cNvSpPr/>
          <p:nvPr/>
        </p:nvSpPr>
        <p:spPr>
          <a:xfrm>
            <a:off x="11978640" y="55046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2" name="Oval 611"/>
          <p:cNvSpPr/>
          <p:nvPr/>
        </p:nvSpPr>
        <p:spPr>
          <a:xfrm>
            <a:off x="11978640" y="56692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3" name="Oval 612"/>
          <p:cNvSpPr/>
          <p:nvPr/>
        </p:nvSpPr>
        <p:spPr>
          <a:xfrm>
            <a:off x="11978640" y="58338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4" name="Oval 613"/>
          <p:cNvSpPr/>
          <p:nvPr/>
        </p:nvSpPr>
        <p:spPr>
          <a:xfrm>
            <a:off x="11978640" y="59984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5" name="Oval 614"/>
          <p:cNvSpPr/>
          <p:nvPr/>
        </p:nvSpPr>
        <p:spPr>
          <a:xfrm>
            <a:off x="11978640" y="61630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6" name="Oval 615"/>
          <p:cNvSpPr/>
          <p:nvPr/>
        </p:nvSpPr>
        <p:spPr>
          <a:xfrm>
            <a:off x="11978640" y="63276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7" name="Oval 616"/>
          <p:cNvSpPr/>
          <p:nvPr/>
        </p:nvSpPr>
        <p:spPr>
          <a:xfrm>
            <a:off x="11978640" y="64922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8" name="Oval 617"/>
          <p:cNvSpPr/>
          <p:nvPr/>
        </p:nvSpPr>
        <p:spPr>
          <a:xfrm>
            <a:off x="11978640" y="66568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9" name="TextBox 618"/>
          <p:cNvSpPr txBox="1"/>
          <p:nvPr/>
        </p:nvSpPr>
        <p:spPr>
          <a:xfrm>
            <a:off x="640080" y="10972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7E0FA"/>
                </a:solidFill>
                <a:latin typeface="Calibri"/>
              </a:rPr>
              <a:t>SENG 474 — FINAL PROJECT  ·  SPRING 2026</a:t>
            </a:r>
          </a:p>
        </p:txBody>
      </p:sp>
      <p:sp>
        <p:nvSpPr>
          <p:cNvPr id="620" name="TextBox 619"/>
          <p:cNvSpPr txBox="1"/>
          <p:nvPr/>
        </p:nvSpPr>
        <p:spPr>
          <a:xfrm>
            <a:off x="640080" y="1554480"/>
            <a:ext cx="100584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"/>
              </a:rPr>
              <a:t>CineEmbed</a:t>
            </a:r>
          </a:p>
        </p:txBody>
      </p:sp>
      <p:sp>
        <p:nvSpPr>
          <p:cNvPr id="621" name="TextBox 620"/>
          <p:cNvSpPr txBox="1"/>
          <p:nvPr/>
        </p:nvSpPr>
        <p:spPr>
          <a:xfrm>
            <a:off x="640080" y="2926080"/>
            <a:ext cx="10058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Calibri"/>
              </a:rPr>
              <a:t>A multi-modal unsupervised</a:t>
            </a:r>
          </a:p>
          <a:p>
            <a:pPr algn="l"/>
            <a:r>
              <a:rPr sz="3400" b="0" i="0">
                <a:solidFill>
                  <a:srgbClr val="FFFFFF"/>
                </a:solidFill>
                <a:latin typeface="Calibri"/>
              </a:rPr>
              <a:t>film recommendation system</a:t>
            </a:r>
          </a:p>
        </p:txBody>
      </p:sp>
      <p:sp>
        <p:nvSpPr>
          <p:cNvPr id="622" name="Rectangle 621"/>
          <p:cNvSpPr/>
          <p:nvPr/>
        </p:nvSpPr>
        <p:spPr>
          <a:xfrm>
            <a:off x="640080" y="4754880"/>
            <a:ext cx="8412480" cy="640080"/>
          </a:xfrm>
          <a:prstGeom prst="rect">
            <a:avLst/>
          </a:prstGeom>
          <a:solidFill>
            <a:srgbClr val="292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3" name="TextBox 622"/>
          <p:cNvSpPr txBox="1"/>
          <p:nvPr/>
        </p:nvSpPr>
        <p:spPr>
          <a:xfrm>
            <a:off x="822960" y="484632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All three pre-registered hypotheses PASS  ·  +205 % vs non-deep baseline  ·  Two methodological findings</a:t>
            </a:r>
          </a:p>
        </p:txBody>
      </p:sp>
      <p:sp>
        <p:nvSpPr>
          <p:cNvPr id="624" name="TextBox 623"/>
          <p:cNvSpPr txBox="1"/>
          <p:nvPr/>
        </p:nvSpPr>
        <p:spPr>
          <a:xfrm>
            <a:off x="640080" y="557784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E7E0FA"/>
                </a:solidFill>
                <a:latin typeface="Calibri"/>
              </a:rPr>
              <a:t>Baran Dinçoğuz   ·   Arda Arvas   ·   Kaan Kaya</a:t>
            </a:r>
          </a:p>
        </p:txBody>
      </p:sp>
      <p:sp>
        <p:nvSpPr>
          <p:cNvPr id="625" name="TextBox 624"/>
          <p:cNvSpPr txBox="1"/>
          <p:nvPr/>
        </p:nvSpPr>
        <p:spPr>
          <a:xfrm>
            <a:off x="640080" y="59893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Calibri"/>
              </a:rPr>
              <a:t>TED University — Department of Computer Engineering   ·   20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E56CF"/>
                </a:solidFill>
                <a:latin typeface="Calibri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Why this problem?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7132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1E293B"/>
                </a:solidFill>
                <a:latin typeface="Calibri"/>
              </a:rPr>
              <a:t>Modern catalogues host 100k+ films. No human can browse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256032" cy="1554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1">
                <a:solidFill>
                  <a:srgbClr val="6E56CF"/>
                </a:solidFill>
                <a:latin typeface="Calibri"/>
              </a:rP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103120"/>
            <a:ext cx="6876288" cy="233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Calibri"/>
              </a:rPr>
              <a:t>Recommendation is the discovery interface</a:t>
            </a:r>
            <a:r>
              <a:rPr sz="1400">
                <a:solidFill>
                  <a:srgbClr val="0F172A"/>
                </a:solidFill>
                <a:latin typeface="Calibri"/>
              </a:rPr>
              <a:t> — content-based, collaborative, or hybrid.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0360"/>
            <a:ext cx="256032" cy="1554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1">
                <a:solidFill>
                  <a:srgbClr val="6E56CF"/>
                </a:solidFill>
                <a:latin typeface="Calibri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880360"/>
            <a:ext cx="6876288" cy="233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Calibri"/>
              </a:rPr>
              <a:t>TMDb has rich metadata but no user labels</a:t>
            </a:r>
            <a:r>
              <a:rPr sz="1400">
                <a:solidFill>
                  <a:srgbClr val="0F172A"/>
                </a:solidFill>
                <a:latin typeface="Calibri"/>
              </a:rPr>
              <a:t> — rules out collaborative filtering at source.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57600"/>
            <a:ext cx="256032" cy="1554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1">
                <a:solidFill>
                  <a:srgbClr val="6E56CF"/>
                </a:solidFill>
                <a:latin typeface="Calibri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657600"/>
            <a:ext cx="6876288" cy="233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Calibri"/>
              </a:rPr>
              <a:t>Content-based pipelines are cold-start-robust</a:t>
            </a:r>
            <a:r>
              <a:rPr sz="1400">
                <a:solidFill>
                  <a:srgbClr val="0F172A"/>
                </a:solidFill>
                <a:latin typeface="Calibri"/>
              </a:rPr>
              <a:t> — immediate value on new releases.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34840"/>
            <a:ext cx="256032" cy="1554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1">
                <a:solidFill>
                  <a:srgbClr val="6E56CF"/>
                </a:solidFill>
                <a:latin typeface="Calibri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4251960"/>
            <a:ext cx="6876288" cy="233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Calibri"/>
              </a:rPr>
              <a:t>CineEmbed asks: can purely unsupervised representation learning</a:t>
            </a:r>
            <a:r>
              <a:rPr sz="1400">
                <a:solidFill>
                  <a:srgbClr val="0F172A"/>
                </a:solidFill>
                <a:latin typeface="Calibri"/>
              </a:rPr>
              <a:t> produce competitive retrieval on heterogeneous film metadata?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1371600"/>
            <a:ext cx="3840480" cy="4572000"/>
          </a:xfrm>
          <a:prstGeom prst="rect">
            <a:avLst/>
          </a:prstGeom>
          <a:solidFill>
            <a:srgbClr val="E7E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79" y="160020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6E56CF"/>
                </a:solidFill>
                <a:latin typeface="Calibri"/>
              </a:rPr>
              <a:t>FILMS IN THE CATALOGUE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103120"/>
            <a:ext cx="38404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0" b="1" i="0">
                <a:solidFill>
                  <a:srgbClr val="4C3AA1"/>
                </a:solidFill>
                <a:latin typeface="Calibri"/>
              </a:rPr>
              <a:t>329,044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352044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6E56CF"/>
                </a:solidFill>
                <a:latin typeface="Calibri"/>
              </a:rPr>
              <a:t>564-DIMENSIONAL FEATURE MATRIX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3931920"/>
            <a:ext cx="3840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1E293B"/>
                </a:solidFill>
                <a:latin typeface="Calibri"/>
              </a:rPr>
              <a:t>7 modality blocks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4526280"/>
            <a:ext cx="38404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numerical · genre · language · decade ·</a:t>
            </a:r>
          </a:p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awards · text · director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521208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4C3AA1"/>
                </a:solidFill>
                <a:latin typeface="Calibri"/>
              </a:rPr>
              <a:t>z = 32  ·  L2-normalised cosine  ·  &lt;5 ms query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548640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Calibri"/>
              </a:rPr>
              <a:t>42 MB index  ·  107 passing tests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3796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CineEmbed · SENG 474 — Spring 2026 · TED University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53796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02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E56CF"/>
                </a:solidFill>
                <a:latin typeface="Calibri"/>
              </a:rPr>
              <a:t>METHOD CHOICE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Why unsupervised learning?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1E293B"/>
                </a:solidFill>
                <a:latin typeface="Calibri"/>
              </a:rPr>
              <a:t>No interaction logs. No ratings. Learn structure from item metadata alone.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3712463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54864" cy="384048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2468880"/>
            <a:ext cx="334670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Calibri"/>
              </a:rPr>
              <a:t>No user labels 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108960"/>
            <a:ext cx="3346703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TMDb dump has metadata only —</a:t>
            </a:r>
          </a:p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no clicks, watches, ratings.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389120"/>
            <a:ext cx="3310127" cy="502920"/>
          </a:xfrm>
          <a:prstGeom prst="rect">
            <a:avLst/>
          </a:prstGeom>
          <a:solidFill>
            <a:srgbClr val="E7E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4480560"/>
            <a:ext cx="31272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4C3AA1"/>
                </a:solidFill>
                <a:latin typeface="Calibri"/>
              </a:rPr>
              <a:t>0 user IDs in the dump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120640"/>
            <a:ext cx="3346703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1">
                <a:solidFill>
                  <a:srgbClr val="1E293B"/>
                </a:solidFill>
                <a:latin typeface="Calibri"/>
              </a:rPr>
              <a:t>Eliminates supervised and collaborative methods at the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9391" y="2286000"/>
            <a:ext cx="3712463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79391" y="2286000"/>
            <a:ext cx="54864" cy="384048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0559" y="2468880"/>
            <a:ext cx="334670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Calibri"/>
              </a:rPr>
              <a:t>Modality variance imbalance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3108960"/>
            <a:ext cx="3346703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Ratio 0.046 between text (384-d, dense)</a:t>
            </a:r>
          </a:p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and sparse one-hot blocks.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59" y="4389120"/>
            <a:ext cx="3310127" cy="502920"/>
          </a:xfrm>
          <a:prstGeom prst="rect">
            <a:avLst/>
          </a:prstGeom>
          <a:solidFill>
            <a:srgbClr val="E7E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1999" y="4480560"/>
            <a:ext cx="31272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4C3AA1"/>
                </a:solidFill>
                <a:latin typeface="Calibri"/>
              </a:rPr>
              <a:t>Var(text) / Var(decade) ≈ 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59" y="5120640"/>
            <a:ext cx="3346703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1">
                <a:solidFill>
                  <a:srgbClr val="1E293B"/>
                </a:solidFill>
                <a:latin typeface="Calibri"/>
              </a:rPr>
              <a:t>The central data problem — drives every architecture choice.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01583" y="2286000"/>
            <a:ext cx="3712463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01583" y="2286000"/>
            <a:ext cx="54864" cy="384048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02751" y="2468880"/>
            <a:ext cx="334670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Calibri"/>
              </a:rPr>
              <a:t>Test-set hygiene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1" y="3108960"/>
            <a:ext cx="3346703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Three label axes (genre, decade, lang)</a:t>
            </a:r>
          </a:p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used only for evaluation, never training.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02751" y="4389120"/>
            <a:ext cx="3310127" cy="502920"/>
          </a:xfrm>
          <a:prstGeom prst="rect">
            <a:avLst/>
          </a:prstGeom>
          <a:solidFill>
            <a:srgbClr val="E7E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94191" y="4480560"/>
            <a:ext cx="31272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4C3AA1"/>
                </a:solidFill>
                <a:latin typeface="Calibri"/>
              </a:rPr>
              <a:t>Single seed = 42 across pipeline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1" y="5120640"/>
            <a:ext cx="3346703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1">
                <a:solidFill>
                  <a:srgbClr val="1E293B"/>
                </a:solidFill>
                <a:latin typeface="Calibri"/>
              </a:rPr>
              <a:t>Honest measurement of what the latent has learned.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53796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CineEmbed · SENG 474 — Spring 2026 · TED University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53796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03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E56CF"/>
                </a:solidFill>
                <a:latin typeface="Calibri"/>
              </a:rP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Dataset · 329,044 TMDb films, 7 modality blocks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457200" cy="4572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15819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463040"/>
            <a:ext cx="1508760" cy="4572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581912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Block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23160" y="1463040"/>
            <a:ext cx="960120" cy="4572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96312" y="1581912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Input dim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463040"/>
            <a:ext cx="6766560" cy="4572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56432" y="1581912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Encoding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49840" y="1463040"/>
            <a:ext cx="1280160" cy="4572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22992" y="158191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Projected dim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920240"/>
            <a:ext cx="457200" cy="420624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0352" y="202996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1920240"/>
            <a:ext cx="1508760" cy="420624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7552" y="2029968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numerical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23160" y="1920240"/>
            <a:ext cx="960120" cy="420624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496312" y="2029968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1920240"/>
            <a:ext cx="6766560" cy="420624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56432" y="2029968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log-scaled popularity, vote_count, runtime, ratings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49840" y="1920240"/>
            <a:ext cx="1280160" cy="420624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222992" y="202996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16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340864"/>
            <a:ext cx="4572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0352" y="245059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2340864"/>
            <a:ext cx="15087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87552" y="2450592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genre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23160" y="2340864"/>
            <a:ext cx="9601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496312" y="2450592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22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83280" y="2340864"/>
            <a:ext cx="67665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456432" y="2450592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multi-label one-hot over 21 TMDb genres + has_genre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149840" y="2340864"/>
            <a:ext cx="12801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222992" y="245059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16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2761488"/>
            <a:ext cx="457200" cy="420624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30352" y="28712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2761488"/>
            <a:ext cx="1508760" cy="420624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87552" y="2871216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language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23160" y="2761488"/>
            <a:ext cx="960120" cy="420624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496312" y="2871216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31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83280" y="2761488"/>
            <a:ext cx="6766560" cy="420624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456432" y="2871216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one-hot top-30 original_language + lang_other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49840" y="2761488"/>
            <a:ext cx="1280160" cy="420624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222992" y="287121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16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182112"/>
            <a:ext cx="4572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30352" y="32918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400" y="3182112"/>
            <a:ext cx="15087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87552" y="3291840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decade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23160" y="3182112"/>
            <a:ext cx="9601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496312" y="3291840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383280" y="3182112"/>
            <a:ext cx="67665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456432" y="3291840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normalised (year − 1900)/130 + has_release_date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49840" y="3182112"/>
            <a:ext cx="12801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222992" y="329184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3602736"/>
            <a:ext cx="457200" cy="420624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30352" y="37124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4400" y="3602736"/>
            <a:ext cx="1508760" cy="420624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87552" y="3712464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awards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3160" y="3602736"/>
            <a:ext cx="960120" cy="420624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496312" y="3712464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383280" y="3602736"/>
            <a:ext cx="6766560" cy="420624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456432" y="3712464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log1p of prior Oscar / Palme nominations &amp; wins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149840" y="3602736"/>
            <a:ext cx="1280160" cy="420624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222992" y="371246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16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4023360"/>
            <a:ext cx="4572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30352" y="413308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14400" y="4023360"/>
            <a:ext cx="15087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87552" y="4133088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text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423160" y="4023360"/>
            <a:ext cx="9601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2496312" y="4133088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384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383280" y="4023360"/>
            <a:ext cx="67665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456432" y="4133088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MiniLM-L12-v2 overview embedding (L2-normalised)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149840" y="4023360"/>
            <a:ext cx="12801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10222992" y="413308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64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7200" y="4443984"/>
            <a:ext cx="457200" cy="420624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30352" y="45537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7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14400" y="4443984"/>
            <a:ext cx="1508760" cy="420624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87552" y="4553712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director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423160" y="4443984"/>
            <a:ext cx="960120" cy="420624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2496312" y="4553712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113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383280" y="4443984"/>
            <a:ext cx="6766560" cy="420624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456432" y="4553712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PCA-64 of bio + has_bio + 31 lang + 16 country + flag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149840" y="4443984"/>
            <a:ext cx="1280160" cy="420624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10222992" y="455371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32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57200" y="4864608"/>
            <a:ext cx="457200" cy="420624"/>
          </a:xfrm>
          <a:prstGeom prst="rect">
            <a:avLst/>
          </a:prstGeom>
          <a:solidFill>
            <a:srgbClr val="E7E0FA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30352" y="497433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914400" y="4864608"/>
            <a:ext cx="1508760" cy="420624"/>
          </a:xfrm>
          <a:prstGeom prst="rect">
            <a:avLst/>
          </a:prstGeom>
          <a:solidFill>
            <a:srgbClr val="E7E0FA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987552" y="4974336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4C3AA1"/>
                </a:solidFill>
                <a:latin typeface="Calibri"/>
              </a:rPr>
              <a:t>TOTAL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423160" y="4864608"/>
            <a:ext cx="960120" cy="420624"/>
          </a:xfrm>
          <a:prstGeom prst="rect">
            <a:avLst/>
          </a:prstGeom>
          <a:solidFill>
            <a:srgbClr val="E7E0FA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2496312" y="4974336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4C3AA1"/>
                </a:solidFill>
                <a:latin typeface="Calibri"/>
              </a:rPr>
              <a:t>564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383280" y="4864608"/>
            <a:ext cx="6766560" cy="420624"/>
          </a:xfrm>
          <a:prstGeom prst="rect">
            <a:avLst/>
          </a:prstGeom>
          <a:solidFill>
            <a:srgbClr val="E7E0FA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3456432" y="4974336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10149840" y="4864608"/>
            <a:ext cx="1280160" cy="420624"/>
          </a:xfrm>
          <a:prstGeom prst="rect">
            <a:avLst/>
          </a:prstGeom>
          <a:solidFill>
            <a:srgbClr val="E7E0FA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0222992" y="497433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4C3AA1"/>
                </a:solidFill>
                <a:latin typeface="Calibri"/>
              </a:rPr>
              <a:t>164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57200" y="5532120"/>
            <a:ext cx="276148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457200" y="5532120"/>
            <a:ext cx="54864" cy="77724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21792" y="5623560"/>
            <a:ext cx="27614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6E56CF"/>
                </a:solidFill>
                <a:latin typeface="Calibri"/>
              </a:rPr>
              <a:t>MD5 (CANONICAL)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21792" y="5852160"/>
            <a:ext cx="248716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e99cee84…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346704" y="5532120"/>
            <a:ext cx="276148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3346704" y="5532120"/>
            <a:ext cx="54864" cy="77724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3511296" y="5623560"/>
            <a:ext cx="27614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6E56CF"/>
                </a:solidFill>
                <a:latin typeface="Calibri"/>
              </a:rPr>
              <a:t>SEED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511296" y="5852160"/>
            <a:ext cx="248716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42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236208" y="5532120"/>
            <a:ext cx="276148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6236208" y="5532120"/>
            <a:ext cx="54864" cy="77724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6400800" y="5623560"/>
            <a:ext cx="27614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6E56CF"/>
                </a:solidFill>
                <a:latin typeface="Calibri"/>
              </a:rPr>
              <a:t>TEXT ENCODER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400800" y="5852160"/>
            <a:ext cx="248716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MiniLM-L12-v2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125712" y="5532120"/>
            <a:ext cx="276148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9125712" y="5532120"/>
            <a:ext cx="54864" cy="77724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9290304" y="5623560"/>
            <a:ext cx="27614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6E56CF"/>
                </a:solidFill>
                <a:latin typeface="Calibri"/>
              </a:rPr>
              <a:t>BIO COVERAGE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290304" y="5852160"/>
            <a:ext cx="248716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3.18 % rows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57200" y="6355080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1E293B"/>
                </a:solidFill>
                <a:latin typeface="Calibri"/>
              </a:rPr>
              <a:t>Ground-truth axes (evaluation only): primary_genre  ·  decade_bin  ·  lang_top10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57200" y="653796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CineEmbed · SENG 474 — Spring 2026 · TED University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058400" y="653796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04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E56CF"/>
                </a:solidFill>
                <a:latin typeface="Calibri"/>
              </a:rPr>
              <a:t>SYSTEM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End-to-end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224028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2240280" cy="50292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1764792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1. EDA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377440"/>
            <a:ext cx="191109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raw TMDb +</a:t>
            </a:r>
          </a:p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director + awards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3977640"/>
            <a:ext cx="1911096" cy="502920"/>
          </a:xfrm>
          <a:prstGeom prst="rect">
            <a:avLst/>
          </a:prstGeom>
          <a:solidFill>
            <a:srgbClr val="E7E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4069080"/>
            <a:ext cx="17282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C3AA1"/>
                </a:solidFill>
                <a:latin typeface="Calibri"/>
              </a:rPr>
              <a:t>→ (329k × 564) npz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663440"/>
            <a:ext cx="19110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1">
                <a:solidFill>
                  <a:srgbClr val="6E56CF"/>
                </a:solidFill>
                <a:latin typeface="Calibri"/>
              </a:rPr>
              <a:t>Notebook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715768" y="3337560"/>
            <a:ext cx="146304" cy="237744"/>
          </a:xfrm>
          <a:prstGeom prst="rightArrow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88920" y="1645920"/>
            <a:ext cx="224028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88920" y="1645920"/>
            <a:ext cx="2240280" cy="50292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53512" y="1764792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2. Training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3512" y="2377440"/>
            <a:ext cx="191109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MultiModalBackbone</a:t>
            </a:r>
          </a:p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+ {AE, VAE, DEC,</a:t>
            </a:r>
          </a:p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Contrastive} heads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53512" y="3977640"/>
            <a:ext cx="1911096" cy="502920"/>
          </a:xfrm>
          <a:prstGeom prst="rect">
            <a:avLst/>
          </a:prstGeom>
          <a:solidFill>
            <a:srgbClr val="E7E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044952" y="4069080"/>
            <a:ext cx="17282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C3AA1"/>
                </a:solidFill>
                <a:latin typeface="Calibri"/>
              </a:rPr>
              <a:t>→ artifacts/models/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53512" y="4663440"/>
            <a:ext cx="19110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1">
                <a:solidFill>
                  <a:srgbClr val="6E56CF"/>
                </a:solidFill>
                <a:latin typeface="Calibri"/>
              </a:rPr>
              <a:t>PyTorch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047488" y="3337560"/>
            <a:ext cx="146304" cy="237744"/>
          </a:xfrm>
          <a:prstGeom prst="rightArrow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120640" y="1645920"/>
            <a:ext cx="224028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120640" y="1645920"/>
            <a:ext cx="2240280" cy="50292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85232" y="1764792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3. Index build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5232" y="2377440"/>
            <a:ext cx="191109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encode all 329k →</a:t>
            </a:r>
          </a:p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L2-normalise →</a:t>
            </a:r>
          </a:p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MBKMeans k=21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85232" y="3977640"/>
            <a:ext cx="1911096" cy="502920"/>
          </a:xfrm>
          <a:prstGeom prst="rect">
            <a:avLst/>
          </a:prstGeom>
          <a:solidFill>
            <a:srgbClr val="E7E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76672" y="4069080"/>
            <a:ext cx="17282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C3AA1"/>
                </a:solidFill>
                <a:latin typeface="Calibri"/>
              </a:rPr>
              <a:t>→ embeddings.npy 42 MB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5232" y="4663440"/>
            <a:ext cx="19110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1">
                <a:solidFill>
                  <a:srgbClr val="6E56CF"/>
                </a:solidFill>
                <a:latin typeface="Calibri"/>
              </a:rPr>
              <a:t>build_index.py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379208" y="3337560"/>
            <a:ext cx="146304" cy="237744"/>
          </a:xfrm>
          <a:prstGeom prst="rightArrow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452359" y="1645920"/>
            <a:ext cx="224028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452359" y="1645920"/>
            <a:ext cx="2240280" cy="50292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616951" y="1764792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4.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16951" y="2377440"/>
            <a:ext cx="191109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FastAPI lifespan</a:t>
            </a:r>
          </a:p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mmap embeddings</a:t>
            </a:r>
          </a:p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8 endpoints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16951" y="3977640"/>
            <a:ext cx="1911096" cy="502920"/>
          </a:xfrm>
          <a:prstGeom prst="rect">
            <a:avLst/>
          </a:prstGeom>
          <a:solidFill>
            <a:srgbClr val="E7E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08391" y="4069080"/>
            <a:ext cx="17282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C3AA1"/>
                </a:solidFill>
                <a:latin typeface="Calibri"/>
              </a:rPr>
              <a:t>→ &lt; 5 ms cosine query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16951" y="4663440"/>
            <a:ext cx="19110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1">
                <a:solidFill>
                  <a:srgbClr val="6E56CF"/>
                </a:solidFill>
                <a:latin typeface="Calibri"/>
              </a:rPr>
              <a:t>uvicorn :8000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9710927" y="3337560"/>
            <a:ext cx="146304" cy="237744"/>
          </a:xfrm>
          <a:prstGeom prst="rightArrow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784080" y="1645920"/>
            <a:ext cx="224028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784080" y="1645920"/>
            <a:ext cx="2240280" cy="50292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948672" y="1764792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5. Frontend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48672" y="2377440"/>
            <a:ext cx="191109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5 routes</a:t>
            </a:r>
          </a:p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BackboneSwitcher</a:t>
            </a:r>
          </a:p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cosine heatmap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48672" y="3977640"/>
            <a:ext cx="1911096" cy="502920"/>
          </a:xfrm>
          <a:prstGeom prst="rect">
            <a:avLst/>
          </a:prstGeom>
          <a:solidFill>
            <a:srgbClr val="E7E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040112" y="4069080"/>
            <a:ext cx="17282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C3AA1"/>
                </a:solidFill>
                <a:latin typeface="Calibri"/>
              </a:rPr>
              <a:t>→ live demo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48672" y="4663440"/>
            <a:ext cx="19110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1">
                <a:solidFill>
                  <a:srgbClr val="6E56CF"/>
                </a:solidFill>
                <a:latin typeface="Calibri"/>
              </a:rPr>
              <a:t>Next.js 16 :3000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5532120"/>
            <a:ext cx="11430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1E293B"/>
                </a:solidFill>
                <a:latin typeface="Calibri"/>
              </a:rPr>
              <a:t>Every step is deterministic at seed = 42  ·  Full reproducibility via 107-test pytest suite (1535 LOC)  ·  All artifacts under artifacts/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94360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6E56CF"/>
                </a:solidFill>
                <a:latin typeface="Calibri"/>
              </a:rPr>
              <a:t>FILMS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1722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329,044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98064" y="594360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6E56CF"/>
                </a:solidFill>
                <a:latin typeface="Calibri"/>
              </a:rPr>
              <a:t>FEATURES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98064" y="61722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564 → 32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38928" y="594360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6E56CF"/>
                </a:solidFill>
                <a:latin typeface="Calibri"/>
              </a:rPr>
              <a:t>BACKBONES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38928" y="61722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3 trained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79792" y="594360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6E56CF"/>
                </a:solidFill>
                <a:latin typeface="Calibri"/>
              </a:rPr>
              <a:t>CLUSTERS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79792" y="61722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k = 21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20656" y="594360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6E56CF"/>
                </a:solidFill>
                <a:latin typeface="Calibri"/>
              </a:rPr>
              <a:t>TESTS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20656" y="61722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107 pass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653796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CineEmbed · SENG 474 — Spring 2026 · TED University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58400" y="653796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05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E56CF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Multi-modal backbone — per-block projection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E293B"/>
                </a:solidFill>
                <a:latin typeface="Calibri"/>
              </a:rPr>
              <a:t>Each block gets its own linear projection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640080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onsolas"/>
              </a:rPr>
              <a:t>numerical[6]   → Linear(6→16)   → ReLU → Dropout 0.10</a:t>
            </a:r>
          </a:p>
          <a:p>
            <a:pPr algn="l"/>
            <a:r>
              <a:rPr sz="1300" b="0" i="0">
                <a:solidFill>
                  <a:srgbClr val="0F172A"/>
                </a:solidFill>
                <a:latin typeface="Consolas"/>
              </a:rPr>
              <a:t>genre[22]      → Linear(22→16)  → ReLU → Dropout 0.10</a:t>
            </a:r>
          </a:p>
          <a:p>
            <a:pPr algn="l"/>
            <a:r>
              <a:rPr sz="1300" b="0" i="0">
                <a:solidFill>
                  <a:srgbClr val="0F172A"/>
                </a:solidFill>
                <a:latin typeface="Consolas"/>
              </a:rPr>
              <a:t>language[31]   → Linear(31→16)  → ReLU → Dropout 0.10</a:t>
            </a:r>
          </a:p>
          <a:p>
            <a:pPr algn="l"/>
            <a:r>
              <a:rPr sz="1300" b="0" i="0">
                <a:solidFill>
                  <a:srgbClr val="0F172A"/>
                </a:solidFill>
                <a:latin typeface="Consolas"/>
              </a:rPr>
              <a:t>decade[2]      → Linear(2→4)    → ReLU → Dropout 0.10</a:t>
            </a:r>
          </a:p>
          <a:p>
            <a:pPr algn="l"/>
            <a:r>
              <a:rPr sz="1300" b="0" i="0">
                <a:solidFill>
                  <a:srgbClr val="0F172A"/>
                </a:solidFill>
                <a:latin typeface="Consolas"/>
              </a:rPr>
              <a:t>awards[6]      → Linear(6→16)   → ReLU → Dropout 0.10</a:t>
            </a:r>
          </a:p>
          <a:p>
            <a:pPr algn="l"/>
            <a:r>
              <a:rPr sz="1300" b="0" i="0">
                <a:solidFill>
                  <a:srgbClr val="0F172A"/>
                </a:solidFill>
                <a:latin typeface="Consolas"/>
              </a:rPr>
              <a:t>text[384]      → Linear(384→64) → ReLU → Dropout 0.20</a:t>
            </a:r>
          </a:p>
          <a:p>
            <a:pPr algn="l"/>
            <a:r>
              <a:rPr sz="1300" b="0" i="0">
                <a:solidFill>
                  <a:srgbClr val="0F172A"/>
                </a:solidFill>
                <a:latin typeface="Consolas"/>
              </a:rPr>
              <a:t>director[113]  → Linear(113→32) → ReLU → Dropout 0.20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526280"/>
            <a:ext cx="6400800" cy="594360"/>
          </a:xfrm>
          <a:prstGeom prst="rect">
            <a:avLst/>
          </a:prstGeom>
          <a:solidFill>
            <a:srgbClr val="E7E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4645152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4C3AA1"/>
                </a:solidFill>
                <a:latin typeface="Consolas"/>
              </a:rPr>
              <a:t>Concat (164-d) → Linear(164→128) → ReLU → Linear(128→z)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0352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1E293B"/>
                </a:solidFill>
                <a:latin typeface="Calibri"/>
              </a:rPr>
              <a:t>L2-normalised at inference  →  cosine = dot 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&lt; 500 k parameters (test-pinned)   ·   z ∈ {32, 64, 128}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8076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Symmetric decoder mirrors encoder per-block.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1508760"/>
            <a:ext cx="44348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0" y="1508760"/>
            <a:ext cx="73152" cy="13716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16368" y="1618488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onsolas"/>
              </a:rPr>
              <a:t>ae_z32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16368" y="201168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32-d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1627632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15803D"/>
                </a:solidFill>
                <a:latin typeface="Calibri"/>
              </a:rPr>
              <a:t>DEMO BACKBONE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16368" y="237744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42 MB index  ·  best gNMI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3063239"/>
            <a:ext cx="44348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0" y="3063239"/>
            <a:ext cx="73152" cy="13716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16368" y="3172967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onsolas"/>
              </a:rPr>
              <a:t>ae_z64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6368" y="3566159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64-d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3182111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6E56CF"/>
                </a:solidFill>
                <a:latin typeface="Calibri"/>
              </a:rPr>
              <a:t>MVP carry-over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16368" y="3931919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84 MB index  ·  highest geo_NMI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4617720"/>
            <a:ext cx="44348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15200" y="4617720"/>
            <a:ext cx="73152" cy="13716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16368" y="4727448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onsolas"/>
              </a:rPr>
              <a:t>ae_z128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512064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128-d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4736592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C2410C"/>
                </a:solidFill>
                <a:latin typeface="Calibri"/>
              </a:rPr>
              <a:t>over-parameterised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6368" y="548640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168 MB index  ·  near-dead dim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53796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CineEmbed · SENG 474 — Spring 2026 · TED University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53796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06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E56CF"/>
                </a:solidFill>
                <a:latin typeface="Calibri"/>
              </a:rPr>
              <a:t>METHOD ·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Loss functions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632704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73152" cy="1874519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545336"/>
            <a:ext cx="52669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W2 — variance-balanced block weights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011680"/>
            <a:ext cx="5230368" cy="365760"/>
          </a:xfrm>
          <a:prstGeom prst="rect">
            <a:avLst/>
          </a:prstGeom>
          <a:solidFill>
            <a:srgbClr val="E7E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075688"/>
            <a:ext cx="5047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4C3AA1"/>
                </a:solidFill>
                <a:latin typeface="Consolas"/>
              </a:rPr>
              <a:t>w_b = clip(1 / Σ_j Var(X[:,j]), 0.1, 10)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468880"/>
            <a:ext cx="5266944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Each modality block contributes proportionally — stops 384-d text from drowning out 2-d decade.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5352" y="1417320"/>
            <a:ext cx="5632704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45352" y="1417320"/>
            <a:ext cx="73152" cy="1874519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1545336"/>
            <a:ext cx="52669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G2 — masked director loss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2011680"/>
            <a:ext cx="5230368" cy="365760"/>
          </a:xfrm>
          <a:prstGeom prst="rect">
            <a:avLst/>
          </a:prstGeom>
          <a:solidFill>
            <a:srgbClr val="E7E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60" y="2075688"/>
            <a:ext cx="5047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4C3AA1"/>
                </a:solidFill>
                <a:latin typeface="Consolas"/>
              </a:rPr>
              <a:t>loss_bio counts only on has_director_bio =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468880"/>
            <a:ext cx="5266944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Only 3.18 % of films have a bio. Without masking, the other 97 % would teach the model to predict zeros.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5632704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3383280"/>
            <a:ext cx="73152" cy="1874519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3511296"/>
            <a:ext cx="52669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DEC — clustering refinement loss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977640"/>
            <a:ext cx="5230368" cy="365760"/>
          </a:xfrm>
          <a:prstGeom prst="rect">
            <a:avLst/>
          </a:prstGeom>
          <a:solidFill>
            <a:srgbClr val="E7E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9808" y="4041648"/>
            <a:ext cx="5047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4C3AA1"/>
                </a:solidFill>
                <a:latin typeface="Consolas"/>
              </a:rPr>
              <a:t>L = KL(P‖Q) + 0.1 · L_recon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434840"/>
            <a:ext cx="5266944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Pulls each film toward its cluster centre while keeping reconstruction honest (KL on soft assignments).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45352" y="3383280"/>
            <a:ext cx="5632704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45352" y="3383280"/>
            <a:ext cx="73152" cy="1874519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46520" y="3511296"/>
            <a:ext cx="52669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InfoNCE — contrastive pretext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6520" y="3977640"/>
            <a:ext cx="5230368" cy="365760"/>
          </a:xfrm>
          <a:prstGeom prst="rect">
            <a:avLst/>
          </a:prstGeom>
          <a:solidFill>
            <a:srgbClr val="E7E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60" y="4041648"/>
            <a:ext cx="5047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4C3AA1"/>
                </a:solidFill>
                <a:latin typeface="Consolas"/>
              </a:rPr>
              <a:t>two views via per-row block mask, τ = 0.1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434840"/>
            <a:ext cx="5266944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Two corrupted copies of the same film must look alike. Masking out genre breaks the target (see ND-1).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532120"/>
            <a:ext cx="11430000" cy="822960"/>
          </a:xfrm>
          <a:prstGeom prst="rect">
            <a:avLst/>
          </a:prstGeom>
          <a:solidFill>
            <a:srgbClr val="E7E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5650992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E56CF"/>
                </a:solidFill>
                <a:latin typeface="Calibri"/>
              </a:rPr>
              <a:t>TRAINING PROTOCOL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94360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Adam · weight_decay 1e-5 · grad-clip 1.0 · early-stop patience 10 · seed 42 · 90/10 split · W&amp;B logging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3796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CineEmbed · SENG 474 — Spring 2026 · TED University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653796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07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E56CF"/>
                </a:solidFill>
                <a:latin typeface="Calibri"/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Evaluation — two metric families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53212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532120" cy="50292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536192"/>
            <a:ext cx="5532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Clustering family — structure exploration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130552"/>
            <a:ext cx="256032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50" b="1">
                <a:solidFill>
                  <a:srgbClr val="6E56CF"/>
                </a:solidFill>
                <a:latin typeface="Calibri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4873752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>
                <a:solidFill>
                  <a:srgbClr val="0F172A"/>
                </a:solidFill>
                <a:latin typeface="Calibri"/>
              </a:rPr>
              <a:t>Three orthogonal axes: primary_genre · decade · lang_top10.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587752"/>
            <a:ext cx="256032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50" b="1">
                <a:solidFill>
                  <a:srgbClr val="6E56CF"/>
                </a:solidFill>
                <a:latin typeface="Calibri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87752"/>
            <a:ext cx="4873752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>
                <a:solidFill>
                  <a:srgbClr val="0F172A"/>
                </a:solidFill>
                <a:latin typeface="Calibri"/>
              </a:rPr>
              <a:t>Per-axis NMI, ARI, AMI (Strehl &amp; Ghosh 2002; Vinh 2010).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044952"/>
            <a:ext cx="256032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50" b="1">
                <a:solidFill>
                  <a:srgbClr val="6E56CF"/>
                </a:solidFill>
                <a:latin typeface="Calibri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44952"/>
            <a:ext cx="4873752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>
                <a:solidFill>
                  <a:srgbClr val="0F172A"/>
                </a:solidFill>
                <a:latin typeface="Calibri"/>
              </a:rPr>
              <a:t>Composite geo_NMI = (gNMI · dNMI · lNMI)^(1/3).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502152"/>
            <a:ext cx="256032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50" b="1">
                <a:solidFill>
                  <a:srgbClr val="6E56CF"/>
                </a:solidFill>
                <a:latin typeface="Calibri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502152"/>
            <a:ext cx="4873752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>
                <a:solidFill>
                  <a:srgbClr val="0F172A"/>
                </a:solidFill>
                <a:latin typeface="Calibri"/>
              </a:rPr>
              <a:t>Per-axis-k sweep (genre=21, decade=12, lang=11).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959352"/>
            <a:ext cx="256032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50" b="1">
                <a:solidFill>
                  <a:srgbClr val="6E56CF"/>
                </a:solidFill>
                <a:latin typeface="Calibri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959352"/>
            <a:ext cx="4873752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>
                <a:solidFill>
                  <a:srgbClr val="0F172A"/>
                </a:solidFill>
                <a:latin typeface="Calibri"/>
              </a:rPr>
              <a:t>Multilabel macro-NMI over 22 genre columns.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5029200"/>
            <a:ext cx="5129784" cy="457200"/>
          </a:xfrm>
          <a:prstGeom prst="rect">
            <a:avLst/>
          </a:prstGeom>
          <a:solidFill>
            <a:srgbClr val="E7E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9808" y="5120640"/>
            <a:ext cx="494690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4C3AA1"/>
                </a:solidFill>
                <a:latin typeface="Consolas"/>
              </a:rPr>
              <a:t>axis cardinality:  genre = 21  ·  decade = 12  ·  lang = 11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417320"/>
            <a:ext cx="553212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1417320"/>
            <a:ext cx="5532120" cy="50292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19088" y="1536192"/>
            <a:ext cx="5532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Retrieval family — deployment selection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2130552"/>
            <a:ext cx="256032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50" b="1">
                <a:solidFill>
                  <a:srgbClr val="6E56CF"/>
                </a:solidFill>
                <a:latin typeface="Calibri"/>
              </a:rPr>
              <a:t>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130552"/>
            <a:ext cx="4873752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>
                <a:solidFill>
                  <a:srgbClr val="0F172A"/>
                </a:solidFill>
                <a:latin typeface="Calibri"/>
              </a:rPr>
              <a:t>genre@k: fraction of top-k whose primary_genre matches.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2587752"/>
            <a:ext cx="256032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50" b="1">
                <a:solidFill>
                  <a:srgbClr val="6E56CF"/>
                </a:solidFill>
                <a:latin typeface="Calibri"/>
              </a:rP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2587752"/>
            <a:ext cx="4873752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>
                <a:solidFill>
                  <a:srgbClr val="0F172A"/>
                </a:solidFill>
                <a:latin typeface="Calibri"/>
              </a:rPr>
              <a:t>316 popular queries × top-5.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3044952"/>
            <a:ext cx="256032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50" b="1">
                <a:solidFill>
                  <a:srgbClr val="6E56CF"/>
                </a:solidFill>
                <a:latin typeface="Calibri"/>
              </a:rP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044952"/>
            <a:ext cx="4873752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>
                <a:solidFill>
                  <a:srgbClr val="0F172A"/>
                </a:solidFill>
                <a:latin typeface="Calibri"/>
              </a:rPr>
              <a:t>Eyeball top-5 on 10 canonical films.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3502152"/>
            <a:ext cx="256032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50" b="1">
                <a:solidFill>
                  <a:srgbClr val="6E56CF"/>
                </a:solidFill>
                <a:latin typeface="Calibri"/>
              </a:rPr>
              <a:t>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502152"/>
            <a:ext cx="4873752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>
                <a:solidFill>
                  <a:srgbClr val="0F172A"/>
                </a:solidFill>
                <a:latin typeface="Calibri"/>
              </a:rPr>
              <a:t>Angular spread: random_pair_cos_{mean, std}.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3959352"/>
            <a:ext cx="256032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50" b="1">
                <a:solidFill>
                  <a:srgbClr val="6E56CF"/>
                </a:solidFill>
                <a:latin typeface="Calibri"/>
              </a:rPr>
              <a:t>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3959352"/>
            <a:ext cx="4873752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>
                <a:solidFill>
                  <a:srgbClr val="0F172A"/>
                </a:solidFill>
                <a:latin typeface="Calibri"/>
              </a:rPr>
              <a:t>Latent health: dim_std per latent dimension.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19088" y="5029200"/>
            <a:ext cx="5129784" cy="457200"/>
          </a:xfrm>
          <a:prstGeom prst="rect">
            <a:avLst/>
          </a:prstGeom>
          <a:solidFill>
            <a:srgbClr val="FEE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10528" y="5120640"/>
            <a:ext cx="494690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2410C"/>
                </a:solidFill>
                <a:latin typeface="Consolas"/>
              </a:rPr>
              <a:t>deploy gate:  genre@5 &gt; 0.70  ·  dim_std_min &gt; 0.05  ·  no cluster collapse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760720"/>
            <a:ext cx="11430000" cy="594360"/>
          </a:xfrm>
          <a:prstGeom prst="rect">
            <a:avLst/>
          </a:prstGeom>
          <a:solidFill>
            <a:srgbClr val="E7E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" y="5879592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1">
                <a:solidFill>
                  <a:srgbClr val="4C3AA1"/>
                </a:solidFill>
                <a:latin typeface="Calibri"/>
              </a:rPr>
              <a:t>The two-family split is the protocol that exposes the F1 finding (NMI ≠ retrieval — see slide 15).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53796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CineEmbed · SENG 474 — Spring 2026 · TED University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653796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08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E56CF"/>
                </a:solidFill>
                <a:latin typeface="Calibri"/>
              </a:rPr>
              <a:t>RESULTS · H2 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Headline empirical result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685800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73152" cy="45720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2410C"/>
                </a:solidFill>
                <a:latin typeface="Calibri"/>
              </a:rPr>
              <a:t>BEST DEEP vs BEST NON-DEEP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640080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0" b="1" i="0">
                <a:solidFill>
                  <a:srgbClr val="C2410C"/>
                </a:solidFill>
                <a:latin typeface="Calibri"/>
              </a:rPr>
              <a:t>+205%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2628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1E293B"/>
                </a:solidFill>
                <a:latin typeface="Calibri"/>
              </a:rPr>
              <a:t>relative gain on genre NMI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07492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0F172A"/>
                </a:solidFill>
                <a:latin typeface="Consolas"/>
              </a:rPr>
              <a:t>0.332  (dec_z64_k21)   vs   0.109  (kmeans_raw_k21)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48640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Pre-registered H2 success criterion: &gt; 10 % over non-deep baseline.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417320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Supporting evidence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1965960"/>
            <a:ext cx="4114800" cy="777240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80960" y="1965960"/>
            <a:ext cx="54864" cy="77724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45552" y="2057400"/>
            <a:ext cx="12801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5803D"/>
                </a:solidFill>
                <a:latin typeface="Calibri"/>
              </a:rPr>
              <a:t>+287%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2194560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genre ARI vs kmeans_raw  (0.244 vs 0.063)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2926080"/>
            <a:ext cx="4114800" cy="777240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680960" y="2926080"/>
            <a:ext cx="54864" cy="77724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45552" y="3017520"/>
            <a:ext cx="12801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5803D"/>
                </a:solidFill>
                <a:latin typeface="Calibri"/>
              </a:rPr>
              <a:t>+292%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3154680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lang NMI vs pca_kmeans  (0.294 vs 0.075)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0960" y="3886200"/>
            <a:ext cx="4114800" cy="777240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680960" y="3886200"/>
            <a:ext cx="54864" cy="77724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45552" y="3977640"/>
            <a:ext cx="12801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5803D"/>
                </a:solidFill>
                <a:latin typeface="Calibri"/>
              </a:rPr>
              <a:t>+178%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4114800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lang NMI · multi-modal vs vanilla concat-AE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80960" y="4846320"/>
            <a:ext cx="4114800" cy="777240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680960" y="4846320"/>
            <a:ext cx="54864" cy="77724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45552" y="4937760"/>
            <a:ext cx="12801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5803D"/>
                </a:solidFill>
                <a:latin typeface="Calibri"/>
              </a:rPr>
              <a:t>+99%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5074920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genre NMI · W2 vs W1 uniform ablation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080760"/>
            <a:ext cx="11430000" cy="365760"/>
          </a:xfrm>
          <a:prstGeom prst="rect">
            <a:avLst/>
          </a:prstGeom>
          <a:solidFill>
            <a:srgbClr val="D7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6135624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5803D"/>
                </a:solidFill>
                <a:latin typeface="Calibri"/>
              </a:rPr>
              <a:t>H1 PASS (DEC &gt; AE +1.2 % NMI)  ·  H2 PASS (this slide)  ·  H3 PASS (0.332 ≫ 0.15 absolute floor)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3796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CineEmbed · SENG 474 — Spring 2026 · TED University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53796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09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E56CF"/>
                </a:solidFill>
                <a:latin typeface="Calibri"/>
              </a:rPr>
              <a:t>RESULTS · PHASE 0 MVP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Three-tier comparison @ z = 64, k = 21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960120" cy="4572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2064" y="1618488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Tier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7320" y="1508760"/>
            <a:ext cx="1508760" cy="4572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72184" y="1618488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508760"/>
            <a:ext cx="1005840" cy="4572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80944" y="1618488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genre NMI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1508760"/>
            <a:ext cx="1005840" cy="4572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86784" y="1618488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genre ARI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0" y="1508760"/>
            <a:ext cx="1051560" cy="4572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92624" y="1618488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decade NMI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508760"/>
            <a:ext cx="1051560" cy="4572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44184" y="1618488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decade ARI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0880" y="1508760"/>
            <a:ext cx="914400" cy="4572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95744" y="16184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lang NMI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80" y="1508760"/>
            <a:ext cx="914400" cy="4572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10144" y="16184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lang ARI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69680" y="1508760"/>
            <a:ext cx="1005840" cy="4572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24544" y="1618488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val_loss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75520" y="1508760"/>
            <a:ext cx="640080" cy="4572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930384" y="1618488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epochs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1965960"/>
            <a:ext cx="960120" cy="457200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2064" y="2084832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Non-deep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17320" y="1965960"/>
            <a:ext cx="1508760" cy="457200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472184" y="2084832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kmeans_raw_k21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0" y="1965960"/>
            <a:ext cx="1005840" cy="457200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980944" y="208483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0.109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1920" y="1965960"/>
            <a:ext cx="1005840" cy="457200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986784" y="208483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0.063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37760" y="1965960"/>
            <a:ext cx="1051560" cy="457200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992624" y="208483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0.233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89320" y="1965960"/>
            <a:ext cx="1051560" cy="457200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44184" y="208483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0.093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40880" y="1965960"/>
            <a:ext cx="914400" cy="457200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095744" y="20848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0.075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55280" y="1965960"/>
            <a:ext cx="914400" cy="457200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010144" y="20848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0.026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69680" y="1965960"/>
            <a:ext cx="1005840" cy="457200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924544" y="208483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75520" y="1965960"/>
            <a:ext cx="640080" cy="457200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930384" y="208483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2423160"/>
            <a:ext cx="960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12064" y="2542032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Non-deep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417320" y="2423160"/>
            <a:ext cx="1508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472184" y="2542032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pca_kmeans_k21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26080" y="2423160"/>
            <a:ext cx="1005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980944" y="254203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0.084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931920" y="2423160"/>
            <a:ext cx="1005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986784" y="254203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0.061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37760" y="2423160"/>
            <a:ext cx="1051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992624" y="254203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0.224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89320" y="2423160"/>
            <a:ext cx="1051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044184" y="254203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0.085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040880" y="2423160"/>
            <a:ext cx="914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095744" y="25420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0.094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955280" y="2423160"/>
            <a:ext cx="914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010144" y="25420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0.042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869680" y="2423160"/>
            <a:ext cx="1005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924544" y="254203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875520" y="2423160"/>
            <a:ext cx="640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930384" y="254203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2880360"/>
            <a:ext cx="960120" cy="457200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12064" y="2999232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Simple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417320" y="2880360"/>
            <a:ext cx="1508760" cy="457200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472184" y="2999232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vanilla_ae_z64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926080" y="2880360"/>
            <a:ext cx="1005840" cy="457200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2980944" y="299923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0.287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931920" y="2880360"/>
            <a:ext cx="1005840" cy="457200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986784" y="299923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0.247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937760" y="2880360"/>
            <a:ext cx="1051560" cy="457200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992624" y="299923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0.369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989320" y="2880360"/>
            <a:ext cx="1051560" cy="457200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044184" y="299923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0.175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040880" y="2880360"/>
            <a:ext cx="914400" cy="457200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095744" y="2999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0.095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955280" y="2880360"/>
            <a:ext cx="914400" cy="457200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010144" y="2999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0.030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869680" y="2880360"/>
            <a:ext cx="1005840" cy="457200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924544" y="299923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0.0126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875520" y="2880360"/>
            <a:ext cx="640080" cy="457200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930384" y="299923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58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57200" y="3337560"/>
            <a:ext cx="960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12064" y="3456432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W1 abl.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417320" y="3337560"/>
            <a:ext cx="1508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1472184" y="3456432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ae_z64_w1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926080" y="3337560"/>
            <a:ext cx="1005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2980944" y="345643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0.165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931920" y="3337560"/>
            <a:ext cx="1005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3986784" y="345643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0.094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937760" y="3337560"/>
            <a:ext cx="1051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4992624" y="345643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0.367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989320" y="3337560"/>
            <a:ext cx="1051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6044184" y="345643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0.176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040880" y="3337560"/>
            <a:ext cx="914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7095744" y="34564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0.070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955280" y="3337560"/>
            <a:ext cx="914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8010144" y="34564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0.026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869680" y="3337560"/>
            <a:ext cx="1005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8924544" y="345643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0.0453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875520" y="3337560"/>
            <a:ext cx="640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9930384" y="345643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37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57200" y="3794760"/>
            <a:ext cx="960120" cy="457200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512064" y="3913632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Multi-modal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417320" y="3794760"/>
            <a:ext cx="1508760" cy="457200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1472184" y="3913632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ae_z64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926080" y="3794760"/>
            <a:ext cx="1005840" cy="457200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2980944" y="391363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0.328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3931920" y="3794760"/>
            <a:ext cx="1005840" cy="457200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3986784" y="391363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0.229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937760" y="3794760"/>
            <a:ext cx="1051560" cy="457200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4992624" y="391363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0.341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989320" y="3794760"/>
            <a:ext cx="1051560" cy="457200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6044184" y="391363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0.211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040880" y="3794760"/>
            <a:ext cx="914400" cy="457200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7095744" y="39136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0.264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955280" y="3794760"/>
            <a:ext cx="914400" cy="457200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8010144" y="39136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0.090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869680" y="3794760"/>
            <a:ext cx="1005840" cy="457200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8924544" y="391363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0.0208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875520" y="3794760"/>
            <a:ext cx="640080" cy="457200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9930384" y="391363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69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57200" y="4251960"/>
            <a:ext cx="960120" cy="457200"/>
          </a:xfrm>
          <a:prstGeom prst="rect">
            <a:avLst/>
          </a:prstGeom>
          <a:solidFill>
            <a:srgbClr val="E7E0FA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512064" y="4370832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C3AA1"/>
                </a:solidFill>
                <a:latin typeface="Calibri"/>
              </a:rPr>
              <a:t>BEST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417320" y="4251960"/>
            <a:ext cx="1508760" cy="457200"/>
          </a:xfrm>
          <a:prstGeom prst="rect">
            <a:avLst/>
          </a:prstGeom>
          <a:solidFill>
            <a:srgbClr val="E7E0FA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1472184" y="4370832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C3AA1"/>
                </a:solidFill>
                <a:latin typeface="Calibri"/>
              </a:rPr>
              <a:t>dec_z64_k21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2926080" y="4251960"/>
            <a:ext cx="1005840" cy="457200"/>
          </a:xfrm>
          <a:prstGeom prst="rect">
            <a:avLst/>
          </a:prstGeom>
          <a:solidFill>
            <a:srgbClr val="E7E0FA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2980944" y="437083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C3AA1"/>
                </a:solidFill>
                <a:latin typeface="Calibri"/>
              </a:rPr>
              <a:t>0.332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931920" y="4251960"/>
            <a:ext cx="1005840" cy="457200"/>
          </a:xfrm>
          <a:prstGeom prst="rect">
            <a:avLst/>
          </a:prstGeom>
          <a:solidFill>
            <a:srgbClr val="E7E0FA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3986784" y="437083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C3AA1"/>
                </a:solidFill>
                <a:latin typeface="Calibri"/>
              </a:rPr>
              <a:t>0.244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937760" y="4251960"/>
            <a:ext cx="1051560" cy="457200"/>
          </a:xfrm>
          <a:prstGeom prst="rect">
            <a:avLst/>
          </a:prstGeom>
          <a:solidFill>
            <a:srgbClr val="E7E0FA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4992624" y="437083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C3AA1"/>
                </a:solidFill>
                <a:latin typeface="Calibri"/>
              </a:rPr>
              <a:t>0.342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5989320" y="4251960"/>
            <a:ext cx="1051560" cy="457200"/>
          </a:xfrm>
          <a:prstGeom prst="rect">
            <a:avLst/>
          </a:prstGeom>
          <a:solidFill>
            <a:srgbClr val="E7E0FA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6044184" y="437083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C3AA1"/>
                </a:solidFill>
                <a:latin typeface="Calibri"/>
              </a:rPr>
              <a:t>0.210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040880" y="4251960"/>
            <a:ext cx="914400" cy="457200"/>
          </a:xfrm>
          <a:prstGeom prst="rect">
            <a:avLst/>
          </a:prstGeom>
          <a:solidFill>
            <a:srgbClr val="E7E0FA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7095744" y="43708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C3AA1"/>
                </a:solidFill>
                <a:latin typeface="Calibri"/>
              </a:rPr>
              <a:t>0.294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955280" y="4251960"/>
            <a:ext cx="914400" cy="457200"/>
          </a:xfrm>
          <a:prstGeom prst="rect">
            <a:avLst/>
          </a:prstGeom>
          <a:solidFill>
            <a:srgbClr val="E7E0FA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8010144" y="43708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C3AA1"/>
                </a:solidFill>
                <a:latin typeface="Calibri"/>
              </a:rPr>
              <a:t>0.090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8869680" y="4251960"/>
            <a:ext cx="1005840" cy="457200"/>
          </a:xfrm>
          <a:prstGeom prst="rect">
            <a:avLst/>
          </a:prstGeom>
          <a:solidFill>
            <a:srgbClr val="E7E0FA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8924544" y="437083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C3AA1"/>
                </a:solidFill>
                <a:latin typeface="Calibri"/>
              </a:rPr>
              <a:t>0.127 †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9875520" y="4251960"/>
            <a:ext cx="640080" cy="457200"/>
          </a:xfrm>
          <a:prstGeom prst="rect">
            <a:avLst/>
          </a:prstGeom>
          <a:solidFill>
            <a:srgbClr val="E7E0FA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9930384" y="437083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C3AA1"/>
                </a:solidFill>
                <a:latin typeface="Calibri"/>
              </a:rPr>
              <a:t>21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57200" y="4937760"/>
            <a:ext cx="11430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† DEC val_loss combines KL + recon — not comparable to AE pure-recon.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457200" y="5394960"/>
            <a:ext cx="3712463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457200" y="5394960"/>
            <a:ext cx="54864" cy="86868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640080" y="5513832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5803D"/>
                </a:solidFill>
                <a:latin typeface="Calibri"/>
              </a:rPr>
              <a:t>DEC wins NMI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40080" y="585216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on 2 of 3 axes (genre, lang)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4279392" y="5394960"/>
            <a:ext cx="3712463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4279392" y="5394960"/>
            <a:ext cx="54864" cy="86868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4462272" y="5513832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6E56CF"/>
                </a:solidFill>
                <a:latin typeface="Calibri"/>
              </a:rPr>
              <a:t>Vanilla wins decade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462272" y="585216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0.369 — easy axis, KMeans free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8101583" y="5394960"/>
            <a:ext cx="3712463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8101583" y="5394960"/>
            <a:ext cx="54864" cy="8686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8284463" y="5513832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B45309"/>
                </a:solidFill>
                <a:latin typeface="Calibri"/>
              </a:rPr>
              <a:t>MM wins decade ARI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8284463" y="585216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0.211 — Pareto across architectures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57200" y="6355080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1">
                <a:solidFill>
                  <a:srgbClr val="4C3AA1"/>
                </a:solidFill>
                <a:latin typeface="Calibri"/>
              </a:rPr>
              <a:t>DEC's contribution is compactness (ARI +6.6 %, lang NMI +11.4 %), not new structural information.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57200" y="653796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CineEmbed · SENG 474 — Spring 2026 · TED University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0058400" y="653796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E56CF"/>
                </a:solidFill>
                <a:latin typeface="Calibri"/>
              </a:rPr>
              <a:t>RESULTS · CROSS-CUTS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Nine hero findings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776472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4864" cy="1627632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1527048"/>
            <a:ext cx="3502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1. Language wins big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920240"/>
            <a:ext cx="350215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Modality projection lifts lang NMI +178 % vs vanilla concat-AE.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715768"/>
            <a:ext cx="3502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1">
                <a:solidFill>
                  <a:srgbClr val="6E56CF"/>
                </a:solidFill>
                <a:latin typeface="Calibri"/>
              </a:rPr>
              <a:t>→ Finding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5" y="1417320"/>
            <a:ext cx="3776472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34255" y="1417320"/>
            <a:ext cx="54864" cy="1627632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98847" y="1527048"/>
            <a:ext cx="3502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2. W2 is critical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7" y="1920240"/>
            <a:ext cx="350215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Uniform-weight W1 collapses gNMI 50 %, lang NMI 73 %.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7" y="2715768"/>
            <a:ext cx="3502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1">
                <a:solidFill>
                  <a:srgbClr val="6E56CF"/>
                </a:solidFill>
                <a:latin typeface="Calibri"/>
              </a:rPr>
              <a:t>→ Finding 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56447" y="1417320"/>
            <a:ext cx="3776472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56447" y="1417320"/>
            <a:ext cx="54864" cy="1627632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39" y="1527048"/>
            <a:ext cx="3502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3. Recon ≠ clustering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39" y="1920240"/>
            <a:ext cx="350215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Lowest val_loss (vanilla) ≠ best gNMI (multi-modal).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39" y="2715768"/>
            <a:ext cx="3502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1">
                <a:solidFill>
                  <a:srgbClr val="6E56CF"/>
                </a:solidFill>
                <a:latin typeface="Calibri"/>
              </a:rPr>
              <a:t>→ Finding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163824"/>
            <a:ext cx="3776472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3163824"/>
            <a:ext cx="54864" cy="1627632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2" y="3273552"/>
            <a:ext cx="3502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4. Decade is easy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3666744"/>
            <a:ext cx="350215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All architectures reach decade NMI ≈ 0.34–0.37.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4462272"/>
            <a:ext cx="3502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1">
                <a:solidFill>
                  <a:srgbClr val="6E56CF"/>
                </a:solidFill>
                <a:latin typeface="Calibri"/>
              </a:rPr>
              <a:t>→ Finding 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34255" y="3163824"/>
            <a:ext cx="3776472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34255" y="3163824"/>
            <a:ext cx="54864" cy="1627632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98847" y="3273552"/>
            <a:ext cx="3502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5. Pareto across axes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8847" y="3666744"/>
            <a:ext cx="350215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No architecture wins all six metrics — principled trade-off.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8847" y="4462272"/>
            <a:ext cx="3502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1">
                <a:solidFill>
                  <a:srgbClr val="6E56CF"/>
                </a:solidFill>
                <a:latin typeface="Calibri"/>
              </a:rPr>
              <a:t>→ Finding 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56447" y="3163824"/>
            <a:ext cx="3776472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156447" y="3163824"/>
            <a:ext cx="54864" cy="1627632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21039" y="3273552"/>
            <a:ext cx="3502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6. Deep &gt; non-deep 3–5×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39" y="3666744"/>
            <a:ext cx="350215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+205 % vs kmeans_raw_k21 on genre NMI (the headline).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39" y="4462272"/>
            <a:ext cx="3502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1">
                <a:solidFill>
                  <a:srgbClr val="6E56CF"/>
                </a:solidFill>
                <a:latin typeface="Calibri"/>
              </a:rPr>
              <a:t>→ Finding 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837176"/>
            <a:ext cx="3776472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57200" y="4837176"/>
            <a:ext cx="54864" cy="1627632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1792" y="4946904"/>
            <a:ext cx="3502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7. DEC sharpens, not discovers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5340096"/>
            <a:ext cx="350215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ARI +6.6 % &gt; NMI +1.2 % — compactness gain only.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" y="6135624"/>
            <a:ext cx="3502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1">
                <a:solidFill>
                  <a:srgbClr val="6E56CF"/>
                </a:solidFill>
                <a:latin typeface="Calibri"/>
              </a:rPr>
              <a:t>→ Finding 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34255" y="4837176"/>
            <a:ext cx="3776472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334255" y="4837176"/>
            <a:ext cx="54864" cy="1627632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498847" y="4946904"/>
            <a:ext cx="3502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8. Topology evolves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98847" y="5340096"/>
            <a:ext cx="350215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UMAP: blobs → islands → tight islands (slide 12).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98847" y="6135624"/>
            <a:ext cx="3502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1">
                <a:solidFill>
                  <a:srgbClr val="6E56CF"/>
                </a:solidFill>
                <a:latin typeface="Calibri"/>
              </a:rPr>
              <a:t>→ Finding 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56447" y="4837176"/>
            <a:ext cx="3776472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156447" y="4837176"/>
            <a:ext cx="54864" cy="1627632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321039" y="4946904"/>
            <a:ext cx="3502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9. Missing-data manifold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39" y="5340096"/>
            <a:ext cx="350215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Films without release_date form a coherent sub-region.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39" y="6135624"/>
            <a:ext cx="3502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1">
                <a:solidFill>
                  <a:srgbClr val="6E56CF"/>
                </a:solidFill>
                <a:latin typeface="Calibri"/>
              </a:rPr>
              <a:t>→ Finding 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653796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CineEmbed · SENG 474 — Spring 2026 · TED University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0" y="653796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E56CF"/>
                </a:solidFill>
                <a:latin typeface="Calibri"/>
              </a:rPr>
              <a:t>FINDING 8 · HERO FIGURE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Latent topology evolves: blobs → islands → tight islands</a:t>
            </a:r>
          </a:p>
        </p:txBody>
      </p:sp>
      <p:pic>
        <p:nvPicPr>
          <p:cNvPr id="6" name="Picture 5" descr="umap_comparison_gen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8138160" cy="21272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32520" y="14173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1">
                <a:solidFill>
                  <a:srgbClr val="1E293B"/>
                </a:solidFill>
                <a:latin typeface="Calibri"/>
              </a:rPr>
              <a:t>UMAP · 15k subsample · cosine metric</a:t>
            </a:r>
          </a:p>
        </p:txBody>
      </p:sp>
      <p:sp>
        <p:nvSpPr>
          <p:cNvPr id="8" name="Rectangle 7"/>
          <p:cNvSpPr/>
          <p:nvPr/>
        </p:nvSpPr>
        <p:spPr>
          <a:xfrm>
            <a:off x="8732520" y="1920240"/>
            <a:ext cx="31089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732520" y="1920240"/>
            <a:ext cx="73152" cy="123444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33688" y="202996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vanilla concat-AE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33688" y="2423160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2 mega-blobs dominated by</a:t>
            </a:r>
          </a:p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Unknown-genre mass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32520" y="3246120"/>
            <a:ext cx="31089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732520" y="3246120"/>
            <a:ext cx="73152" cy="123444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33688" y="335584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multi-modal AE (W2)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33688" y="3749040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dozens of small</a:t>
            </a:r>
          </a:p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genre-coherent islands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32520" y="4572000"/>
            <a:ext cx="31089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732520" y="4572000"/>
            <a:ext cx="73152" cy="123444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33688" y="468172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DEC (k = 21)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33688" y="5074920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even more atomised,</a:t>
            </a:r>
          </a:p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tighter islands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080760"/>
            <a:ext cx="11430000" cy="411480"/>
          </a:xfrm>
          <a:prstGeom prst="rect">
            <a:avLst/>
          </a:prstGeom>
          <a:solidFill>
            <a:srgbClr val="E7E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614476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4C3AA1"/>
                </a:solidFill>
                <a:latin typeface="Calibri"/>
              </a:rPr>
              <a:t>Visual signature of representation learning — the empirical fingerprint of modality-specific projection + KL sharpening.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3796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CineEmbed · SENG 474 — Spring 2026 · TED University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53796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E56CF"/>
                </a:solidFill>
                <a:latin typeface="Calibri"/>
              </a:rPr>
              <a:t>FINDINGS 2 &amp;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Ablations — inverse-variance weighting + missing-data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486400" cy="4937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486400" cy="4572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517904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W2 inverse-variance vs W1 uniform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103120"/>
            <a:ext cx="1828800" cy="365760"/>
          </a:xfrm>
          <a:prstGeom prst="rect">
            <a:avLst/>
          </a:prstGeom>
          <a:solidFill>
            <a:srgbClr val="E7E0FA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" y="218541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4C3AA1"/>
                </a:solidFill>
                <a:latin typeface="Calibri"/>
              </a:rPr>
              <a:t>Metric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03120"/>
            <a:ext cx="1051560" cy="365760"/>
          </a:xfrm>
          <a:prstGeom prst="rect">
            <a:avLst/>
          </a:prstGeom>
          <a:solidFill>
            <a:srgbClr val="E7E0FA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96312" y="2185416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4C3AA1"/>
                </a:solidFill>
                <a:latin typeface="Calibri"/>
              </a:rPr>
              <a:t>W2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2103120"/>
            <a:ext cx="1051560" cy="365760"/>
          </a:xfrm>
          <a:prstGeom prst="rect">
            <a:avLst/>
          </a:prstGeom>
          <a:solidFill>
            <a:srgbClr val="E7E0FA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47872" y="2185416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4C3AA1"/>
                </a:solidFill>
                <a:latin typeface="Calibri"/>
              </a:rPr>
              <a:t>W1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6280" y="2103120"/>
            <a:ext cx="1417320" cy="365760"/>
          </a:xfrm>
          <a:prstGeom prst="rect">
            <a:avLst/>
          </a:prstGeom>
          <a:solidFill>
            <a:srgbClr val="E7E0FA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99432" y="218541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4C3AA1"/>
                </a:solidFill>
                <a:latin typeface="Calibri"/>
              </a:rPr>
              <a:t>Δ rel.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2468880"/>
            <a:ext cx="1828800" cy="384048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" y="255117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alibri"/>
              </a:rPr>
              <a:t>genre NMI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468880"/>
            <a:ext cx="1051560" cy="384048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496312" y="2551176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alibri"/>
              </a:rPr>
              <a:t>0.328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0" y="2468880"/>
            <a:ext cx="1051560" cy="384048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47872" y="2551176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alibri"/>
              </a:rPr>
              <a:t>0.165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26280" y="2468880"/>
            <a:ext cx="1417320" cy="384048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99432" y="255117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B91C1C"/>
                </a:solidFill>
                <a:latin typeface="Calibri"/>
              </a:rPr>
              <a:t>−50 %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2852928"/>
            <a:ext cx="1828800" cy="384048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7512" y="293522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alibri"/>
              </a:rPr>
              <a:t>lang NMI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23160" y="2852928"/>
            <a:ext cx="1051560" cy="384048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496312" y="2935224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alibri"/>
              </a:rPr>
              <a:t>0.264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0" y="2852928"/>
            <a:ext cx="1051560" cy="384048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547872" y="2935224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alibri"/>
              </a:rPr>
              <a:t>0.070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26280" y="2852928"/>
            <a:ext cx="1417320" cy="384048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99432" y="2935224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B91C1C"/>
                </a:solidFill>
                <a:latin typeface="Calibri"/>
              </a:rPr>
              <a:t>−73 %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3236976"/>
            <a:ext cx="1828800" cy="384048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7512" y="331927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alibri"/>
              </a:rPr>
              <a:t>decade NMI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23160" y="3236976"/>
            <a:ext cx="1051560" cy="384048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496312" y="331927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alibri"/>
              </a:rPr>
              <a:t>0.341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0" y="3236976"/>
            <a:ext cx="1051560" cy="384048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547872" y="331927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alibri"/>
              </a:rPr>
              <a:t>0.367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26280" y="3236976"/>
            <a:ext cx="1417320" cy="384048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99432" y="331927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5803D"/>
                </a:solidFill>
                <a:latin typeface="Calibri"/>
              </a:rPr>
              <a:t>+8 %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" y="3621024"/>
            <a:ext cx="1828800" cy="384048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7512" y="37033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alibri"/>
              </a:rPr>
              <a:t>epochs early-stop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23160" y="3621024"/>
            <a:ext cx="1051560" cy="384048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496312" y="3703320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alibri"/>
              </a:rPr>
              <a:t>69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74720" y="3621024"/>
            <a:ext cx="1051560" cy="384048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547872" y="3703320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alibri"/>
              </a:rPr>
              <a:t>37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26280" y="3621024"/>
            <a:ext cx="1417320" cy="384048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99432" y="370332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" y="4389120"/>
            <a:ext cx="5212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Asymmetric collapse. Decade (2-d) survives uniform weighting because StandardScaler gave it per-feature var ≈ 1. Text (384) and language (31) lose all gradient signal.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" y="5577840"/>
            <a:ext cx="5212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1">
                <a:solidFill>
                  <a:srgbClr val="4C3AA1"/>
                </a:solidFill>
                <a:latin typeface="Calibri"/>
              </a:rPr>
              <a:t>Model-health diagnostic: W1 patience exhausted at epoch 37.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15087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4C3AA1"/>
                </a:solidFill>
                <a:latin typeface="Calibri"/>
              </a:rPr>
              <a:t>Finding 9 · missing-release-date manifold</a:t>
            </a:r>
          </a:p>
        </p:txBody>
      </p:sp>
      <p:pic>
        <p:nvPicPr>
          <p:cNvPr id="52" name="Picture 51" descr="umap_dec_z64_k21_deca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920240"/>
            <a:ext cx="5669280" cy="4387069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6263640" y="5989320"/>
            <a:ext cx="5669280" cy="365760"/>
          </a:xfrm>
          <a:prstGeom prst="rect">
            <a:avLst/>
          </a:prstGeom>
          <a:solidFill>
            <a:srgbClr val="FE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00800" y="60533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1">
                <a:solidFill>
                  <a:srgbClr val="B91C1C"/>
                </a:solidFill>
                <a:latin typeface="Calibri"/>
              </a:rPr>
              <a:t>Red = decade_bin 0 (≈ 7.4 % of films, no release date).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53796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CineEmbed · SENG 474 — Spring 2026 · TED University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0" y="653796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E56CF"/>
                </a:solidFill>
                <a:latin typeface="Calibri"/>
              </a:rPr>
              <a:t>ND-1, ND-2, ND-3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Negative results — own them, learn from them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4300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73152" cy="128016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2704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B91C1C"/>
                </a:solidFill>
                <a:latin typeface="Consolas"/>
              </a:rPr>
              <a:t>ND-1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5087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Contrastive pretext underperformed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8745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onsolas"/>
              </a:rPr>
              <a:t>Best Phase 1 gNMI = 0.216 vs MVP ae_z64 = 0.328  (−34 %).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25856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1">
                <a:solidFill>
                  <a:srgbClr val="475569"/>
                </a:solidFill>
                <a:latin typeface="Calibri"/>
              </a:rPr>
              <a:t>Root cause: modality-dropout includes genre — InfoNCE trains for genre-invariance, the opposite of the clustering target.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34640"/>
            <a:ext cx="114300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834640"/>
            <a:ext cx="73152" cy="128016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94436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B91C1C"/>
                </a:solidFill>
                <a:latin typeface="Consolas"/>
              </a:rPr>
              <a:t>ND-2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9260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AE→DEC fine-tune inherited the poison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29184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onsolas"/>
              </a:rPr>
              <a:t>geo_NMI ≤ 0.181 vs MVP DEC = 0.323  (−44 to −67 %).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67588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1">
                <a:solidFill>
                  <a:srgbClr val="475569"/>
                </a:solidFill>
                <a:latin typeface="Calibri"/>
              </a:rPr>
              <a:t>DEC − KMeans-on-AE-latent delta ≤ 0.001 — DEC was fine; the contrastive encoder was already broken.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251960"/>
            <a:ext cx="114300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4251960"/>
            <a:ext cx="73152" cy="128016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36168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B91C1C"/>
                </a:solidFill>
                <a:latin typeface="Consolas"/>
              </a:rPr>
              <a:t>ND-3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3434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VAE z = 64 likely posterior collapse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7091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onsolas"/>
              </a:rPr>
              <a:t>Early-stop epoch 12, geo_NMI = 0.127 — below every baseline.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09320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1">
                <a:solidFill>
                  <a:srgbClr val="475569"/>
                </a:solidFill>
                <a:latin typeface="Calibri"/>
              </a:rPr>
              <a:t>Per-epoch recon vs KL split was not logged — hypothesis strong but not falsified. Top future-work priority.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430000" cy="594360"/>
          </a:xfrm>
          <a:prstGeom prst="rect">
            <a:avLst/>
          </a:prstGeom>
          <a:solidFill>
            <a:srgbClr val="E7E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5879592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C3AA1"/>
                </a:solidFill>
                <a:latin typeface="Calibri"/>
              </a:rPr>
              <a:t>LESSONS  ·  augmentations must preserve the target  ·  always log recon vs KL split  ·  re-audit selection metric when deliverable shifts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3796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CineEmbed · SENG 474 — Spring 2026 · TED University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53796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E56CF"/>
                </a:solidFill>
                <a:latin typeface="Calibri"/>
              </a:rPr>
              <a:t>METHODOLOGICAL FINDING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F1 — NMI does NOT predict cosine retrieval quality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12064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73152" cy="484632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C2410C"/>
                </a:solidFill>
                <a:latin typeface="Calibri"/>
              </a:rPr>
              <a:t>DEC TOP-5 COSINES · INCEPTION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57400"/>
            <a:ext cx="484632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0" b="1" i="0">
                <a:solidFill>
                  <a:srgbClr val="C2410C"/>
                </a:solidFill>
                <a:latin typeface="Calibri"/>
              </a:rPr>
              <a:t>≈ 1.000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onsolas"/>
              </a:rPr>
              <a:t>0.99992  0.99989  0.99986  0.99986  0.99986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38912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475569"/>
                </a:solidFill>
                <a:latin typeface="Calibri"/>
              </a:rPr>
              <a:t>difference &lt; 1e-4  (float32 floor)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937760"/>
            <a:ext cx="4663440" cy="1188720"/>
          </a:xfrm>
          <a:prstGeom prst="rect">
            <a:avLst/>
          </a:prstGeom>
          <a:solidFill>
            <a:srgbClr val="FEE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074920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DEC has the HIGHEST NMI  (0.332)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440680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and the WORST retrieval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76072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2410C"/>
                </a:solidFill>
                <a:latin typeface="Calibri"/>
              </a:rPr>
              <a:t>genre@5 = 0.557 (vs 0.723 for ae_z32)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1508760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Mechanism — angular collapse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1920240"/>
            <a:ext cx="5943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DEC's clustering loss pulls every film inside a cluster</a:t>
            </a:r>
          </a:p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toward the cluster centre. After enough training,</a:t>
            </a:r>
          </a:p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neighbours sit on top of each other — cosine = 1.</a:t>
            </a:r>
          </a:p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NMI only sees cluster IDs (still good); retrieval</a:t>
            </a:r>
          </a:p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needs spread inside the cluster (collapsed).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3840480"/>
            <a:ext cx="1691640" cy="384048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25312" y="3931920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Backbone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43800" y="3840480"/>
            <a:ext cx="960120" cy="384048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16952" y="3931920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gNMI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03920" y="3840480"/>
            <a:ext cx="1097280" cy="384048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77072" y="39319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genre@5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0" y="3840480"/>
            <a:ext cx="1325880" cy="384048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74352" y="3931920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verdict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52160" y="4224528"/>
            <a:ext cx="1691640" cy="384048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25312" y="4315968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ae_z32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43800" y="4224528"/>
            <a:ext cx="960120" cy="384048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16952" y="4315968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0.334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03920" y="4224528"/>
            <a:ext cx="1097280" cy="384048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77072" y="431596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0.723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01200" y="4224528"/>
            <a:ext cx="1325880" cy="384048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674352" y="431596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5803D"/>
                </a:solidFill>
                <a:latin typeface="Calibri"/>
              </a:rPr>
              <a:t>deploy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52160" y="4608576"/>
            <a:ext cx="1691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25312" y="4700016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ae_z64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43800" y="4608576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616952" y="4700016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0.328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03920" y="4608576"/>
            <a:ext cx="1097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577072" y="470001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0.715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01200" y="4608576"/>
            <a:ext cx="13258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674352" y="4700016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C3AA1"/>
                </a:solidFill>
                <a:latin typeface="Calibri"/>
              </a:rPr>
              <a:t>MVP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52160" y="4992624"/>
            <a:ext cx="1691640" cy="384048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925312" y="5084064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ae_z128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43800" y="4992624"/>
            <a:ext cx="960120" cy="384048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616952" y="5084064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0.273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03920" y="4992624"/>
            <a:ext cx="1097280" cy="384048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577072" y="508406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0.722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601200" y="4992624"/>
            <a:ext cx="1325880" cy="384048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674352" y="5084064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B45309"/>
                </a:solidFill>
                <a:latin typeface="Calibri"/>
              </a:rPr>
              <a:t>wasteful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52160" y="5376672"/>
            <a:ext cx="1691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925312" y="5468112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dec_z64_k21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43800" y="5376672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616952" y="5468112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0.332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03920" y="5376672"/>
            <a:ext cx="1097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577072" y="54681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0.557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601200" y="5376672"/>
            <a:ext cx="13258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674352" y="5468112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B91C1C"/>
                </a:solidFill>
                <a:latin typeface="Calibri"/>
              </a:rPr>
              <a:t>BROKEN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852160" y="5623560"/>
            <a:ext cx="6035040" cy="502920"/>
          </a:xfrm>
          <a:prstGeom prst="rect">
            <a:avLst/>
          </a:prstGeom>
          <a:solidFill>
            <a:srgbClr val="E7E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989320" y="5715000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1">
                <a:solidFill>
                  <a:srgbClr val="4C3AA1"/>
                </a:solidFill>
                <a:latin typeface="Calibri"/>
              </a:rPr>
              <a:t>When the deliverable changes, RE-AUDIT the selection metric.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653796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CineEmbed · SENG 474 — Spring 2026 · TED University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58400" y="653796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E56CF"/>
                </a:solidFill>
                <a:latin typeface="Calibri"/>
              </a:rPr>
              <a:t>EMPIRICAL EVIDENCE FOR F1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F1 evidence — top-5 neighbour cosines (400 queries)</a:t>
            </a:r>
          </a:p>
        </p:txBody>
      </p:sp>
      <p:pic>
        <p:nvPicPr>
          <p:cNvPr id="6" name="Picture 5" descr="cosine_collapse_histo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25880"/>
            <a:ext cx="11247120" cy="42555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577840"/>
            <a:ext cx="54864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5577840"/>
            <a:ext cx="54864" cy="77724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566928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4C3AA1"/>
                </a:solidFill>
                <a:latin typeface="Calibri"/>
              </a:rPr>
              <a:t>ae_z32 — healthy geometry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89320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onsolas"/>
              </a:rPr>
              <a:t>mean 0.993  ·  median 0.999  ·  min 0.906  →  broad spread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5577840"/>
            <a:ext cx="54864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0" y="5577840"/>
            <a:ext cx="54864" cy="77724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566928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410C"/>
                </a:solidFill>
                <a:latin typeface="Calibri"/>
              </a:rPr>
              <a:t>dec_z64_k21 — angular collapse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5989320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onsolas"/>
              </a:rPr>
              <a:t>mean 1.000  ·  median 1.000  ·  min 0.998  →  saturated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CineEmbed · SENG 474 — Spring 2026 · TED University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53796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E56CF"/>
                </a:solidFill>
                <a:latin typeface="Calibri"/>
              </a:rPr>
              <a:t>METHODOLOGICAL FINDING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F2 — z = 32 is the right capacity (U-curve)</a:t>
            </a:r>
          </a:p>
        </p:txBody>
      </p:sp>
      <p:pic>
        <p:nvPicPr>
          <p:cNvPr id="6" name="Picture 5" descr="zsweep_u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6400800" cy="36042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78040" y="15087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Calibri"/>
              </a:rPr>
              <a:t>Smaller and bigger both lose — z = 32 wins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196596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onsolas"/>
              </a:rPr>
              <a:t>        gNMI    genre@5   dim_std_min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178040" y="2194560"/>
            <a:ext cx="4754880" cy="365760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78040" y="2194560"/>
            <a:ext cx="54864" cy="36576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42632" y="226771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5803D"/>
                </a:solidFill>
                <a:latin typeface="Consolas"/>
              </a:rPr>
              <a:t>z = 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26771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onsolas"/>
              </a:rPr>
              <a:t>0.334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20" y="226771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onsolas"/>
              </a:rPr>
              <a:t>0.723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5560" y="226771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onsolas"/>
              </a:rPr>
              <a:t>0.117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8040" y="2578608"/>
            <a:ext cx="4754880" cy="365760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178040" y="2578608"/>
            <a:ext cx="54864" cy="36576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42632" y="26517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6E56CF"/>
                </a:solidFill>
                <a:latin typeface="Consolas"/>
              </a:rPr>
              <a:t>z = 64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65176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onsolas"/>
              </a:rPr>
              <a:t>0.328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265176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onsolas"/>
              </a:rPr>
              <a:t>0.715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5560" y="26517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onsolas"/>
              </a:rPr>
              <a:t>0.062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78040" y="2962656"/>
            <a:ext cx="4754880" cy="365760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178040" y="2962656"/>
            <a:ext cx="54864" cy="36576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42632" y="30358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2410C"/>
                </a:solidFill>
                <a:latin typeface="Consolas"/>
              </a:rPr>
              <a:t>z = 128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03580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onsolas"/>
              </a:rPr>
              <a:t>0.273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3035808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onsolas"/>
              </a:rPr>
              <a:t>0.722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5560" y="303580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onsolas"/>
              </a:rPr>
              <a:t>0.025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78040" y="3611880"/>
            <a:ext cx="47548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178040" y="3611880"/>
            <a:ext cx="54864" cy="169164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60920" y="370332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5803D"/>
                </a:solidFill>
                <a:latin typeface="Calibri"/>
              </a:rPr>
              <a:t>Five signals favour z = 32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4069080"/>
            <a:ext cx="44805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gNMI peak  ·  dim_std_min healthy</a:t>
            </a:r>
          </a:p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pair_cos_std broad  ·  val_loss lowest</a:t>
            </a:r>
          </a:p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Occam — smallest, fastest, 42 MB index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669280"/>
            <a:ext cx="11430000" cy="685800"/>
          </a:xfrm>
          <a:prstGeom prst="rect">
            <a:avLst/>
          </a:prstGeom>
          <a:solidFill>
            <a:srgbClr val="E7E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576072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4C3AA1"/>
                </a:solidFill>
                <a:latin typeface="Calibri"/>
              </a:rPr>
              <a:t>Tight latent forces the encoder to spend its capacity on the information-rich modalities (text, director) and compress the rest.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03504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1">
                <a:solidFill>
                  <a:srgbClr val="4C3AA1"/>
                </a:solidFill>
                <a:latin typeface="Calibri"/>
              </a:rPr>
              <a:t>Decision: demo backbone locked at ae_z32.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53796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CineEmbed · SENG 474 — Spring 2026 · TED University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653796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E56CF"/>
                </a:solidFill>
                <a:latin typeface="Calibri"/>
              </a:rPr>
              <a:t>PER-DIMENSION ACTIVATION SPREAD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F2 evidence — z = 128 has near-dead latent dimensions</a:t>
            </a:r>
          </a:p>
        </p:txBody>
      </p:sp>
      <p:pic>
        <p:nvPicPr>
          <p:cNvPr id="6" name="Picture 5" descr="dim_std_per_backb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25880"/>
            <a:ext cx="11247120" cy="368066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440680"/>
            <a:ext cx="3712463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5440680"/>
            <a:ext cx="54864" cy="86868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55321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5803D"/>
                </a:solidFill>
                <a:latin typeface="Consolas"/>
              </a:rPr>
              <a:t>z = 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9788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onsolas"/>
              </a:rPr>
              <a:t>dim_std_min  =  0.117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5559552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15803D"/>
                </a:solidFill>
                <a:latin typeface="Calibri"/>
              </a:rPr>
              <a:t>healthy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9392" y="5440680"/>
            <a:ext cx="3712463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79392" y="5440680"/>
            <a:ext cx="54864" cy="86868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62272" y="55321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6E56CF"/>
                </a:solidFill>
                <a:latin typeface="Consolas"/>
              </a:rPr>
              <a:t>z = 64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589788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onsolas"/>
              </a:rPr>
              <a:t>dim_std_min  =  0.062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272" y="5559552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6E56CF"/>
                </a:solidFill>
                <a:latin typeface="Calibri"/>
              </a:rPr>
              <a:t>marginal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01583" y="5440680"/>
            <a:ext cx="3712463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01583" y="5440680"/>
            <a:ext cx="54864" cy="8686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84463" y="55321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410C"/>
                </a:solidFill>
                <a:latin typeface="Consolas"/>
              </a:rPr>
              <a:t>z = 128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3" y="589788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onsolas"/>
              </a:rPr>
              <a:t>dim_std_min  =  0.025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70463" y="5559552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C2410C"/>
                </a:solidFill>
                <a:latin typeface="Calibri"/>
              </a:rPr>
              <a:t>near-dead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3796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CineEmbed · SENG 474 — Spring 2026 · TED University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53796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E56CF"/>
                </a:solidFill>
                <a:latin typeface="Calibri"/>
              </a:rPr>
              <a:t>RESULTS · ROUND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Round 2 · AE z-sweep (final selection)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777240" cy="4572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1636776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z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4440" y="1508760"/>
            <a:ext cx="1005840" cy="4572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07592" y="163677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gNMI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40280" y="1508760"/>
            <a:ext cx="1325880" cy="4572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13432" y="1636776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decade NMI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1508760"/>
            <a:ext cx="1097280" cy="4572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39312" y="163677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lang NMI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508760"/>
            <a:ext cx="1097280" cy="4572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36592" y="163677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geo NMI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1508760"/>
            <a:ext cx="1051560" cy="4572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33872" y="1636776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genre@5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12280" y="1508760"/>
            <a:ext cx="1417320" cy="4572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85432" y="163677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dim_std_min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508760"/>
            <a:ext cx="1188720" cy="4572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02752" y="1636776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val_loss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18320" y="1508760"/>
            <a:ext cx="1097280" cy="4572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91472" y="163677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epochs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1965960"/>
            <a:ext cx="777240" cy="502920"/>
          </a:xfrm>
          <a:prstGeom prst="rect">
            <a:avLst/>
          </a:prstGeom>
          <a:solidFill>
            <a:srgbClr val="E7E0FA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0352" y="2112264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4C3AA1"/>
                </a:solidFill>
                <a:latin typeface="Calibri"/>
              </a:rPr>
              <a:t>32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34440" y="1965960"/>
            <a:ext cx="1005840" cy="502920"/>
          </a:xfrm>
          <a:prstGeom prst="rect">
            <a:avLst/>
          </a:prstGeom>
          <a:solidFill>
            <a:srgbClr val="E7E0FA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307592" y="2112264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4C3AA1"/>
                </a:solidFill>
                <a:latin typeface="Calibri"/>
              </a:rPr>
              <a:t>0.334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40280" y="1965960"/>
            <a:ext cx="1325880" cy="502920"/>
          </a:xfrm>
          <a:prstGeom prst="rect">
            <a:avLst/>
          </a:prstGeom>
          <a:solidFill>
            <a:srgbClr val="E7E0FA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313432" y="2112264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4C3AA1"/>
                </a:solidFill>
                <a:latin typeface="Calibri"/>
              </a:rPr>
              <a:t>0.295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66160" y="1965960"/>
            <a:ext cx="1097280" cy="502920"/>
          </a:xfrm>
          <a:prstGeom prst="rect">
            <a:avLst/>
          </a:prstGeom>
          <a:solidFill>
            <a:srgbClr val="E7E0FA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39312" y="211226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4C3AA1"/>
                </a:solidFill>
                <a:latin typeface="Calibri"/>
              </a:rPr>
              <a:t>0.216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63440" y="1965960"/>
            <a:ext cx="1097280" cy="502920"/>
          </a:xfrm>
          <a:prstGeom prst="rect">
            <a:avLst/>
          </a:prstGeom>
          <a:solidFill>
            <a:srgbClr val="E7E0FA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36592" y="211226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4C3AA1"/>
                </a:solidFill>
                <a:latin typeface="Calibri"/>
              </a:rPr>
              <a:t>0.277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60720" y="1965960"/>
            <a:ext cx="1051560" cy="502920"/>
          </a:xfrm>
          <a:prstGeom prst="rect">
            <a:avLst/>
          </a:prstGeom>
          <a:solidFill>
            <a:srgbClr val="E7E0FA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833872" y="2112264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4C3AA1"/>
                </a:solidFill>
                <a:latin typeface="Calibri"/>
              </a:rPr>
              <a:t>0.723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12280" y="1965960"/>
            <a:ext cx="1417320" cy="502920"/>
          </a:xfrm>
          <a:prstGeom prst="rect">
            <a:avLst/>
          </a:prstGeom>
          <a:solidFill>
            <a:srgbClr val="E7E0FA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885432" y="2112264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4C3AA1"/>
                </a:solidFill>
                <a:latin typeface="Calibri"/>
              </a:rPr>
              <a:t>0.117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1965960"/>
            <a:ext cx="1188720" cy="502920"/>
          </a:xfrm>
          <a:prstGeom prst="rect">
            <a:avLst/>
          </a:prstGeom>
          <a:solidFill>
            <a:srgbClr val="E7E0FA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02752" y="2112264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4C3AA1"/>
                </a:solidFill>
                <a:latin typeface="Calibri"/>
              </a:rPr>
              <a:t>0.0204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18320" y="1965960"/>
            <a:ext cx="1097280" cy="502920"/>
          </a:xfrm>
          <a:prstGeom prst="rect">
            <a:avLst/>
          </a:prstGeom>
          <a:solidFill>
            <a:srgbClr val="E7E0FA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491472" y="211226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4C3AA1"/>
                </a:solidFill>
                <a:latin typeface="Calibri"/>
              </a:rPr>
              <a:t>100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2468880"/>
            <a:ext cx="777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30352" y="2615184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64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34440" y="2468880"/>
            <a:ext cx="1005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307592" y="2615184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0.328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40280" y="2468880"/>
            <a:ext cx="13258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313432" y="2615184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0.341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66160" y="2468880"/>
            <a:ext cx="1097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639312" y="261518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0.264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63440" y="2468880"/>
            <a:ext cx="1097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736592" y="261518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0.309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760720" y="2468880"/>
            <a:ext cx="10515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833872" y="2615184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0.715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12280" y="2468880"/>
            <a:ext cx="1417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885432" y="2615184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0.062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29600" y="2468880"/>
            <a:ext cx="1188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02752" y="2615184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0.0208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418320" y="2468880"/>
            <a:ext cx="1097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491472" y="261518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69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2971800"/>
            <a:ext cx="777240" cy="502920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30352" y="3118104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128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234440" y="2971800"/>
            <a:ext cx="1005840" cy="502920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307592" y="3118104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0.273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240280" y="2971800"/>
            <a:ext cx="1325880" cy="502920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313432" y="3118104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0.275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566160" y="2971800"/>
            <a:ext cx="1097280" cy="502920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639312" y="311810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0.272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663440" y="2971800"/>
            <a:ext cx="1097280" cy="502920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736592" y="311810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0.274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760720" y="2971800"/>
            <a:ext cx="1051560" cy="502920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833872" y="3118104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0.722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812280" y="2971800"/>
            <a:ext cx="1417320" cy="502920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885432" y="3118104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0.025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229600" y="2971800"/>
            <a:ext cx="1188720" cy="502920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302752" y="3118104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0.0237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418320" y="2971800"/>
            <a:ext cx="1097280" cy="502920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491472" y="311810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53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" y="3931920"/>
            <a:ext cx="11430000" cy="594360"/>
          </a:xfrm>
          <a:prstGeom prst="rect">
            <a:avLst/>
          </a:prstGeom>
          <a:solidFill>
            <a:srgbClr val="D7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40080" y="404164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5803D"/>
                </a:solidFill>
                <a:latin typeface="Calibri"/>
              </a:rPr>
              <a:t>DEMO BACKBONE LOCKED  →  ae_z32  ·  gNMI 0.334  ·  genre@5 0.723  ·  42 MB index  ·  &lt; 5 ms cosine query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4846320"/>
            <a:ext cx="276148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457200" y="4846320"/>
            <a:ext cx="54864" cy="14173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21792" y="495604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5803D"/>
                </a:solidFill>
                <a:latin typeface="Calibri"/>
              </a:rPr>
              <a:t>GNMI Δ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21792" y="5230368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  <a:latin typeface="Calibri"/>
              </a:rPr>
              <a:t>+0.061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21792" y="580644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vs z = 128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346704" y="4846320"/>
            <a:ext cx="276148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3346704" y="4846320"/>
            <a:ext cx="54864" cy="14173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3511296" y="495604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5803D"/>
                </a:solidFill>
                <a:latin typeface="Calibri"/>
              </a:rPr>
              <a:t>DIM_STD_MIN Δ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511296" y="5230368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  <a:latin typeface="Calibri"/>
              </a:rPr>
              <a:t>+0.092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511296" y="580644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vs z = 128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236208" y="4846320"/>
            <a:ext cx="276148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6236208" y="4846320"/>
            <a:ext cx="54864" cy="14173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6400800" y="495604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5803D"/>
                </a:solidFill>
                <a:latin typeface="Calibri"/>
              </a:rPr>
              <a:t>INDEX SIZE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400800" y="5230368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  <a:latin typeface="Calibri"/>
              </a:rPr>
              <a:t>÷ 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400800" y="580644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vs z = 128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125712" y="4846320"/>
            <a:ext cx="276148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9125712" y="4846320"/>
            <a:ext cx="54864" cy="14173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9290304" y="495604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5803D"/>
                </a:solidFill>
                <a:latin typeface="Calibri"/>
              </a:rPr>
              <a:t>INFERENCE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290304" y="5230368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  <a:latin typeface="Calibri"/>
              </a:rPr>
              <a:t>× 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290304" y="580644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faster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57200" y="653796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CineEmbed · SENG 474 — Spring 2026 · TED University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058400" y="653796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E56CF"/>
                </a:solidFill>
                <a:latin typeface="Calibri"/>
              </a:rPr>
              <a:t>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System architecture — how the pieces fit</a:t>
            </a:r>
          </a:p>
        </p:txBody>
      </p:sp>
      <p:pic>
        <p:nvPicPr>
          <p:cNvPr id="6" name="Picture 5" descr="system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11274552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79008"/>
            <a:ext cx="2157984" cy="658368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585216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6E56CF"/>
                </a:solidFill>
                <a:latin typeface="Calibri"/>
              </a:rPr>
              <a:t>CATALOGUE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605332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329,044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24912" y="5779008"/>
            <a:ext cx="2157984" cy="658368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89504" y="585216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6E56CF"/>
                </a:solidFill>
                <a:latin typeface="Calibri"/>
              </a:rPr>
              <a:t>LATENT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9504" y="605332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32-d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92624" y="5779008"/>
            <a:ext cx="2157984" cy="658368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57216" y="585216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6E56CF"/>
                </a:solidFill>
                <a:latin typeface="Calibri"/>
              </a:rPr>
              <a:t>LATENCY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605332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&lt; 5 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60336" y="5779008"/>
            <a:ext cx="2157984" cy="658368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24928" y="585216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6E56CF"/>
                </a:solidFill>
                <a:latin typeface="Calibri"/>
              </a:rPr>
              <a:t>TESTS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4928" y="605332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107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28048" y="5779008"/>
            <a:ext cx="2157984" cy="658368"/>
          </a:xfrm>
          <a:prstGeom prst="rect">
            <a:avLst/>
          </a:prstGeom>
          <a:solidFill>
            <a:srgbClr val="FAFAFC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92640" y="585216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6E56CF"/>
                </a:solidFill>
                <a:latin typeface="Calibri"/>
              </a:rPr>
              <a:t>CLUSTERS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605332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21 named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3796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CineEmbed · SENG 474 — Spring 2026 · TED University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53796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E56CF"/>
                </a:solidFill>
                <a:latin typeface="Calibri"/>
              </a:rPr>
              <a:t>QUALITATIVE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Example recommendations · demo backbone ae_z32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749039" cy="4434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3749039" cy="502920"/>
          </a:xfrm>
          <a:prstGeom prst="rect">
            <a:avLst/>
          </a:prstGeom>
          <a:solidFill>
            <a:srgbClr val="4C3A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536192"/>
            <a:ext cx="34747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1">
                <a:solidFill>
                  <a:srgbClr val="FFFFFF"/>
                </a:solidFill>
                <a:latin typeface="Calibri"/>
              </a:rPr>
              <a:t>Inception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6E56CF"/>
                </a:solidFill>
                <a:latin typeface="Calibri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194560"/>
            <a:ext cx="22859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Interstellar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59" y="2194560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 i="0">
                <a:solidFill>
                  <a:srgbClr val="15803D"/>
                </a:solidFill>
                <a:latin typeface="Consolas"/>
              </a:rPr>
              <a:t>0.991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07792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6E56CF"/>
                </a:solidFill>
                <a:latin typeface="Calibri"/>
              </a:rP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2907792"/>
            <a:ext cx="22859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Avengers: Age of Ultron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59" y="2907792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 i="0">
                <a:solidFill>
                  <a:srgbClr val="15803D"/>
                </a:solidFill>
                <a:latin typeface="Consolas"/>
              </a:rPr>
              <a:t>0.989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21024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6E56CF"/>
                </a:solidFill>
                <a:latin typeface="Calibri"/>
              </a:rPr>
              <a:t>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621024"/>
            <a:ext cx="22859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The Avengers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59" y="3621024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 i="0">
                <a:solidFill>
                  <a:srgbClr val="15803D"/>
                </a:solidFill>
                <a:latin typeface="Consolas"/>
              </a:rPr>
              <a:t>0.985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34256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6E56CF"/>
                </a:solidFill>
                <a:latin typeface="Calibri"/>
              </a:rPr>
              <a:t>4.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4334256"/>
            <a:ext cx="22859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The Dark Knight Rises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59" y="4334256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 i="0">
                <a:solidFill>
                  <a:srgbClr val="15803D"/>
                </a:solidFill>
                <a:latin typeface="Consolas"/>
              </a:rPr>
              <a:t>0.984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047488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6E56CF"/>
                </a:solidFill>
                <a:latin typeface="Calibri"/>
              </a:rPr>
              <a:t>5.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5047488"/>
            <a:ext cx="22859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Dunkirk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59" y="5047488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 i="0">
                <a:solidFill>
                  <a:srgbClr val="15803D"/>
                </a:solidFill>
                <a:latin typeface="Consolas"/>
              </a:rPr>
              <a:t>0.983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79391" y="1417320"/>
            <a:ext cx="3749039" cy="4434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279391" y="1417320"/>
            <a:ext cx="3749039" cy="502920"/>
          </a:xfrm>
          <a:prstGeom prst="rect">
            <a:avLst/>
          </a:prstGeom>
          <a:solidFill>
            <a:srgbClr val="4C3A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80559" y="1536192"/>
            <a:ext cx="34747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1">
                <a:solidFill>
                  <a:srgbClr val="FFFFFF"/>
                </a:solidFill>
                <a:latin typeface="Calibri"/>
              </a:rPr>
              <a:t>Spirited Away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2271" y="219456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6E56CF"/>
                </a:solidFill>
                <a:latin typeface="Calibri"/>
              </a:rPr>
              <a:t>1.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19" y="2194560"/>
            <a:ext cx="22859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Princess Mononoke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9750" y="2194560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 i="0">
                <a:solidFill>
                  <a:srgbClr val="15803D"/>
                </a:solidFill>
                <a:latin typeface="Consolas"/>
              </a:rPr>
              <a:t>0.993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2271" y="2907792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6E56CF"/>
                </a:solidFill>
                <a:latin typeface="Calibri"/>
              </a:rPr>
              <a:t>2.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19" y="2907792"/>
            <a:ext cx="22859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Nausicaä of the Valley of the Wind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59750" y="2907792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 i="0">
                <a:solidFill>
                  <a:srgbClr val="15803D"/>
                </a:solidFill>
                <a:latin typeface="Consolas"/>
              </a:rPr>
              <a:t>0.991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62271" y="3621024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6E56CF"/>
                </a:solidFill>
                <a:latin typeface="Calibri"/>
              </a:rPr>
              <a:t>3.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19" y="3621024"/>
            <a:ext cx="22859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Pom Poko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59750" y="3621024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 i="0">
                <a:solidFill>
                  <a:srgbClr val="15803D"/>
                </a:solidFill>
                <a:latin typeface="Consolas"/>
              </a:rPr>
              <a:t>0.989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62271" y="4334256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6E56CF"/>
                </a:solidFill>
                <a:latin typeface="Calibri"/>
              </a:rPr>
              <a:t>4.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19" y="4334256"/>
            <a:ext cx="22859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Kiki's Delivery Service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59750" y="4334256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 i="0">
                <a:solidFill>
                  <a:srgbClr val="15803D"/>
                </a:solidFill>
                <a:latin typeface="Consolas"/>
              </a:rPr>
              <a:t>0.987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62271" y="5047488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6E56CF"/>
                </a:solidFill>
                <a:latin typeface="Calibri"/>
              </a:rPr>
              <a:t>5.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19" y="5047488"/>
            <a:ext cx="22859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Castle in the Sky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59750" y="5047488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 i="0">
                <a:solidFill>
                  <a:srgbClr val="15803D"/>
                </a:solidFill>
                <a:latin typeface="Consolas"/>
              </a:rPr>
              <a:t>0.985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01583" y="1417320"/>
            <a:ext cx="3749039" cy="4434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101583" y="1417320"/>
            <a:ext cx="3749039" cy="502920"/>
          </a:xfrm>
          <a:prstGeom prst="rect">
            <a:avLst/>
          </a:prstGeom>
          <a:solidFill>
            <a:srgbClr val="4C3A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02751" y="1536192"/>
            <a:ext cx="34747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1">
                <a:solidFill>
                  <a:srgbClr val="FFFFFF"/>
                </a:solidFill>
                <a:latin typeface="Calibri"/>
              </a:rPr>
              <a:t>Pulp Fiction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84463" y="219456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6E56CF"/>
                </a:solidFill>
                <a:latin typeface="Calibri"/>
              </a:rPr>
              <a:t>1.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68511" y="2194560"/>
            <a:ext cx="22859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Kill Bill: Vol. 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81942" y="2194560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 i="0">
                <a:solidFill>
                  <a:srgbClr val="15803D"/>
                </a:solidFill>
                <a:latin typeface="Consolas"/>
              </a:rPr>
              <a:t>0.987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4463" y="2907792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6E56CF"/>
                </a:solidFill>
                <a:latin typeface="Calibri"/>
              </a:rPr>
              <a:t>2.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68511" y="2907792"/>
            <a:ext cx="22859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Reservoir Dogs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81942" y="2907792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 i="0">
                <a:solidFill>
                  <a:srgbClr val="15803D"/>
                </a:solidFill>
                <a:latin typeface="Consolas"/>
              </a:rPr>
              <a:t>0.985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84463" y="3621024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6E56CF"/>
                </a:solidFill>
                <a:latin typeface="Calibri"/>
              </a:rPr>
              <a:t>3.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68511" y="3621024"/>
            <a:ext cx="22859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Jackie Brown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81942" y="3621024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 i="0">
                <a:solidFill>
                  <a:srgbClr val="15803D"/>
                </a:solidFill>
                <a:latin typeface="Consolas"/>
              </a:rPr>
              <a:t>0.982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84463" y="4334256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6E56CF"/>
                </a:solidFill>
                <a:latin typeface="Calibri"/>
              </a:rPr>
              <a:t>4.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68511" y="4334256"/>
            <a:ext cx="22859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Kill Bill: Vol. 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81942" y="4334256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 i="0">
                <a:solidFill>
                  <a:srgbClr val="15803D"/>
                </a:solidFill>
                <a:latin typeface="Consolas"/>
              </a:rPr>
              <a:t>0.981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84463" y="5047488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6E56CF"/>
                </a:solidFill>
                <a:latin typeface="Calibri"/>
              </a:rPr>
              <a:t>5.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68511" y="5047488"/>
            <a:ext cx="22859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Inglourious Basterds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981942" y="5047488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 i="0">
                <a:solidFill>
                  <a:srgbClr val="15803D"/>
                </a:solidFill>
                <a:latin typeface="Consolas"/>
              </a:rPr>
              <a:t>0.978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5989320"/>
            <a:ext cx="11430000" cy="502920"/>
          </a:xfrm>
          <a:prstGeom prst="rect">
            <a:avLst/>
          </a:prstGeom>
          <a:solidFill>
            <a:srgbClr val="E7E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1">
                <a:solidFill>
                  <a:srgbClr val="4C3AA1"/>
                </a:solidFill>
                <a:latin typeface="Calibri"/>
              </a:rPr>
              <a:t>Director signatures (Nolan, Miyazaki, Tarantino) recovered without any explicit director label.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653796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CineEmbed · SENG 474 — Spring 2026 · TED University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58400" y="653796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E56CF"/>
                </a:solidFill>
                <a:latin typeface="Calibri"/>
              </a:rPr>
              <a:t>REFLECTION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Discussion · what worked, what didn't, what's left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53212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532120" cy="5029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536192"/>
            <a:ext cx="5532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What worked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103120"/>
            <a:ext cx="256032" cy="14264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6E56CF"/>
                </a:solidFill>
                <a:latin typeface="Calibri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4873752" cy="2139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0F172A"/>
                </a:solidFill>
                <a:latin typeface="Calibri"/>
              </a:rPr>
              <a:t>Multi-modal projection + W2 weighting — complementary choices.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816352"/>
            <a:ext cx="256032" cy="14264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6E56CF"/>
                </a:solidFill>
                <a:latin typeface="Calibri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16352"/>
            <a:ext cx="4873752" cy="2139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0F172A"/>
                </a:solidFill>
                <a:latin typeface="Calibri"/>
              </a:rPr>
              <a:t>Three-axis NMI / ARI / AMI surfaced the Pareto trade-off.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529584"/>
            <a:ext cx="256032" cy="14264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6E56CF"/>
                </a:solidFill>
                <a:latin typeface="Calibri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29584"/>
            <a:ext cx="4873752" cy="2139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0F172A"/>
                </a:solidFill>
                <a:latin typeface="Calibri"/>
              </a:rPr>
              <a:t>Retrieval sanity check caught the F1 angular collapse pre-deploy.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42816"/>
            <a:ext cx="256032" cy="14264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6E56CF"/>
                </a:solidFill>
                <a:latin typeface="Calibri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42816"/>
            <a:ext cx="4873752" cy="2139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0F172A"/>
                </a:solidFill>
                <a:latin typeface="Calibri"/>
              </a:rPr>
              <a:t>Two-round strategy — 80 % compute saving vs 21-run matrix.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956048"/>
            <a:ext cx="256032" cy="14264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6E56CF"/>
                </a:solidFill>
                <a:latin typeface="Calibri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56048"/>
            <a:ext cx="4873752" cy="2139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0F172A"/>
                </a:solidFill>
                <a:latin typeface="Calibri"/>
              </a:rPr>
              <a:t>Reproducibility: 107 tests · pinned seed · MD5-checked features.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417320"/>
            <a:ext cx="553212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1417320"/>
            <a:ext cx="5532120" cy="5029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19088" y="1536192"/>
            <a:ext cx="5532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Limitations / future 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2103120"/>
            <a:ext cx="256032" cy="14264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6E56CF"/>
                </a:solidFill>
                <a:latin typeface="Calibri"/>
              </a:rPr>
              <a:t>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103120"/>
            <a:ext cx="4873752" cy="2139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0F172A"/>
                </a:solidFill>
                <a:latin typeface="Calibri"/>
              </a:rPr>
              <a:t>Modality-dropout failed — target-preserving augmentations next.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2816352"/>
            <a:ext cx="256032" cy="14264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6E56CF"/>
                </a:solidFill>
                <a:latin typeface="Calibri"/>
              </a:rPr>
              <a:t>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816352"/>
            <a:ext cx="4873752" cy="2139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0F172A"/>
                </a:solidFill>
                <a:latin typeface="Calibri"/>
              </a:rPr>
              <a:t>VAE posterior collapse not falsified — log per-epoch recon vs KL.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3529584"/>
            <a:ext cx="256032" cy="14264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6E56CF"/>
                </a:solidFill>
                <a:latin typeface="Calibri"/>
              </a:rP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529584"/>
            <a:ext cx="4873752" cy="2139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0F172A"/>
                </a:solidFill>
                <a:latin typeface="Calibri"/>
              </a:rPr>
              <a:t>Single-seed numbers — multi-seed bands would tighten claims.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4242816"/>
            <a:ext cx="256032" cy="14264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6E56CF"/>
                </a:solidFill>
                <a:latin typeface="Calibri"/>
              </a:rP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242816"/>
            <a:ext cx="4873752" cy="2139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0F172A"/>
                </a:solidFill>
                <a:latin typeface="Calibri"/>
              </a:rPr>
              <a:t>No collaborative signal — two-tower extension natural next.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4956048"/>
            <a:ext cx="256032" cy="14264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6E56CF"/>
                </a:solidFill>
                <a:latin typeface="Calibri"/>
              </a:rPr>
              <a:t>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956048"/>
            <a:ext cx="4873752" cy="2139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0F172A"/>
                </a:solidFill>
                <a:latin typeface="Calibri"/>
              </a:rPr>
              <a:t>No user study — genre@5 is a content proxy, not user-judged.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3796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CineEmbed · SENG 474 — Spring 2026 · TED University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53796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E56CF"/>
                </a:solidFill>
                <a:latin typeface="Calibri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References — core literature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632704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4864" cy="96012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1472184"/>
            <a:ext cx="53583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C3AA1"/>
                </a:solidFill>
                <a:latin typeface="Calibri"/>
              </a:rPr>
              <a:t>Xie, Girshick &amp; Farhadi (2016)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728216"/>
            <a:ext cx="53583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1">
                <a:solidFill>
                  <a:srgbClr val="0F172A"/>
                </a:solidFill>
                <a:latin typeface="Calibri"/>
              </a:rPr>
              <a:t>Unsupervised Deep Embedding for Clustering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057400"/>
            <a:ext cx="53583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ICML — DEC method, target distribution P from Q²/f_j.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2784" y="1417320"/>
            <a:ext cx="5632704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72784" y="1417320"/>
            <a:ext cx="54864" cy="96012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37376" y="1472184"/>
            <a:ext cx="53583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C3AA1"/>
                </a:solidFill>
                <a:latin typeface="Calibri"/>
              </a:rPr>
              <a:t>Wang, Bao, Huang et al. (2020)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1728216"/>
            <a:ext cx="53583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1">
                <a:solidFill>
                  <a:srgbClr val="0F172A"/>
                </a:solidFill>
                <a:latin typeface="Calibri"/>
              </a:rPr>
              <a:t>MiniLM: Deep Self-Attention Distillation for Pre-Trained Transformers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2057400"/>
            <a:ext cx="53583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NeurIPS — sentence-transformers/all-MiniLM-L12-v2 (384-d).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450592"/>
            <a:ext cx="5632704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2450592"/>
            <a:ext cx="54864" cy="96012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2505456"/>
            <a:ext cx="53583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C3AA1"/>
                </a:solidFill>
                <a:latin typeface="Calibri"/>
              </a:rPr>
              <a:t>van den Oord, Li &amp; Vinyals (2018)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2761488"/>
            <a:ext cx="53583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1">
                <a:solidFill>
                  <a:srgbClr val="0F172A"/>
                </a:solidFill>
                <a:latin typeface="Calibri"/>
              </a:rPr>
              <a:t>Representation Learning with Contrastive Predictive Coding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3090672"/>
            <a:ext cx="53583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arXiv:1807.03748 — InfoNCE objective.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72784" y="2450592"/>
            <a:ext cx="5632704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72784" y="2450592"/>
            <a:ext cx="54864" cy="96012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37376" y="2505456"/>
            <a:ext cx="53583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C3AA1"/>
                </a:solidFill>
                <a:latin typeface="Calibri"/>
              </a:rPr>
              <a:t>Kingma &amp; Welling (2013)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6" y="2761488"/>
            <a:ext cx="53583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1">
                <a:solidFill>
                  <a:srgbClr val="0F172A"/>
                </a:solidFill>
                <a:latin typeface="Calibri"/>
              </a:rPr>
              <a:t>Auto-Encoding Variational Bayes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3090672"/>
            <a:ext cx="53583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ICLR — VAE; ELBO = recon + KL(q‖p).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483864"/>
            <a:ext cx="5632704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3483864"/>
            <a:ext cx="54864" cy="96012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1792" y="3538728"/>
            <a:ext cx="53583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C3AA1"/>
                </a:solidFill>
                <a:latin typeface="Calibri"/>
              </a:rPr>
              <a:t>Vinh, Epps &amp; Bailey (2010)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3794760"/>
            <a:ext cx="53583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1">
                <a:solidFill>
                  <a:srgbClr val="0F172A"/>
                </a:solidFill>
                <a:latin typeface="Calibri"/>
              </a:rPr>
              <a:t>Information Theoretic Measures for Clusterings Comparison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4123944"/>
            <a:ext cx="53583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JMLR — adjusted NMI / AMI definitions.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72784" y="3483864"/>
            <a:ext cx="5632704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72784" y="3483864"/>
            <a:ext cx="54864" cy="96012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37376" y="3538728"/>
            <a:ext cx="53583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C3AA1"/>
                </a:solidFill>
                <a:latin typeface="Calibri"/>
              </a:rPr>
              <a:t>Strehl &amp; Ghosh (2002)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7376" y="3794760"/>
            <a:ext cx="53583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1">
                <a:solidFill>
                  <a:srgbClr val="0F172A"/>
                </a:solidFill>
                <a:latin typeface="Calibri"/>
              </a:rPr>
              <a:t>Cluster Ensembles — Knowledge Reuse Framework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37376" y="4123944"/>
            <a:ext cx="53583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JMLR — original NMI definition.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517136"/>
            <a:ext cx="5632704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57200" y="4517136"/>
            <a:ext cx="54864" cy="96012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1792" y="4572000"/>
            <a:ext cx="53583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C3AA1"/>
                </a:solidFill>
                <a:latin typeface="Calibri"/>
              </a:rPr>
              <a:t>McInnes, Healy &amp; Melville (2018)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4828032"/>
            <a:ext cx="53583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1">
                <a:solidFill>
                  <a:srgbClr val="0F172A"/>
                </a:solidFill>
                <a:latin typeface="Calibri"/>
              </a:rPr>
              <a:t>UMAP: Uniform Manifold Approximation and Projection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" y="5157216"/>
            <a:ext cx="53583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arXiv:1802.03426 — 2-D topology visualisation.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72784" y="4517136"/>
            <a:ext cx="5632704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272784" y="4517136"/>
            <a:ext cx="54864" cy="96012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37376" y="4572000"/>
            <a:ext cx="53583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C3AA1"/>
                </a:solidFill>
                <a:latin typeface="Calibri"/>
              </a:rPr>
              <a:t>Pedregosa, Varoquaux et al. (2011)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37376" y="4828032"/>
            <a:ext cx="53583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1">
                <a:solidFill>
                  <a:srgbClr val="0F172A"/>
                </a:solidFill>
                <a:latin typeface="Calibri"/>
              </a:rPr>
              <a:t>Scikit-learn: Machine Learning in Python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37376" y="5157216"/>
            <a:ext cx="53583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JMLR — MiniBatchKMeans, PCA, clustering metrics.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650992"/>
            <a:ext cx="11301984" cy="685800"/>
          </a:xfrm>
          <a:prstGeom prst="rect">
            <a:avLst/>
          </a:prstGeom>
          <a:solidFill>
            <a:srgbClr val="E7E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080" y="5733288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6E56CF"/>
                </a:solidFill>
                <a:latin typeface="Calibri"/>
              </a:rPr>
              <a:t>TOOLS &amp; DATA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5989320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onsolas"/>
              </a:rPr>
              <a:t>TMDb API (themoviedb.org)  ·  PyTorch  ·  Weights &amp; Biases  ·  FastAPI  ·  Next.js  ·  pandoc + xelatex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53796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CineEmbed · SENG 474 — Spring 2026 · TED University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8400" y="653796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601200" y="0"/>
            <a:ext cx="2587752" cy="6858000"/>
          </a:xfrm>
          <a:prstGeom prst="rect">
            <a:avLst/>
          </a:prstGeom>
          <a:solidFill>
            <a:srgbClr val="E7E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74352" y="731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674352" y="2377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74352" y="4023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74352" y="5669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74352" y="7315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674352" y="8961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674352" y="10607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674352" y="12252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674352" y="13898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674352" y="15544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674352" y="17190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674352" y="18836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674352" y="20482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674352" y="22128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674352" y="23774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674352" y="25420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674352" y="270662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674352" y="287121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674352" y="303580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674352" y="320040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674352" y="336499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674352" y="352958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674352" y="369417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674352" y="385876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674352" y="402336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674352" y="41879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674352" y="43525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674352" y="45171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674352" y="46817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674352" y="48463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674352" y="50109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9674352" y="51755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674352" y="53400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9674352" y="55046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9674352" y="56692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9674352" y="58338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9674352" y="59984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9674352" y="61630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9674352" y="63276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9674352" y="64922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9674352" y="66568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9838944" y="731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9838944" y="2377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9838944" y="4023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9838944" y="5669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9838944" y="7315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9838944" y="8961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9838944" y="10607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9838944" y="12252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9838944" y="13898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9838944" y="15544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9838944" y="17190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9838944" y="18836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9838944" y="20482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9838944" y="22128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9838944" y="23774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9838944" y="25420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9838944" y="270662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9838944" y="287121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9838944" y="303580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9838944" y="320040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9838944" y="336499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9838944" y="352958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9838944" y="369417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9838944" y="385876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9838944" y="402336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9838944" y="41879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9838944" y="43525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9838944" y="45171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9838944" y="46817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9838944" y="48463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9838944" y="50109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9838944" y="51755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9838944" y="53400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9838944" y="55046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9838944" y="56692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9838944" y="58338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9838944" y="59984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9838944" y="61630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9838944" y="63276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9838944" y="64922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9838944" y="66568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10003536" y="731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10003536" y="2377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10003536" y="4023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10003536" y="5669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10003536" y="7315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10003536" y="8961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10003536" y="10607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10003536" y="12252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10003536" y="13898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10003536" y="15544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10003536" y="17190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10003536" y="18836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10003536" y="20482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10003536" y="22128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10003536" y="23774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10003536" y="25420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10003536" y="270662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10003536" y="287121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10003536" y="303580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10003536" y="320040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10003536" y="336499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10003536" y="352958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10003536" y="369417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10003536" y="385876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10003536" y="402336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10003536" y="41879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10003536" y="43525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10003536" y="45171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10003536" y="46817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10003536" y="48463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10003536" y="50109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10003536" y="51755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Oval 117"/>
          <p:cNvSpPr/>
          <p:nvPr/>
        </p:nvSpPr>
        <p:spPr>
          <a:xfrm>
            <a:off x="10003536" y="53400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118"/>
          <p:cNvSpPr/>
          <p:nvPr/>
        </p:nvSpPr>
        <p:spPr>
          <a:xfrm>
            <a:off x="10003536" y="55046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10003536" y="56692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10003536" y="58338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10003536" y="59984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10003536" y="61630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10003536" y="63276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Oval 124"/>
          <p:cNvSpPr/>
          <p:nvPr/>
        </p:nvSpPr>
        <p:spPr>
          <a:xfrm>
            <a:off x="10003536" y="64922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10003536" y="66568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126"/>
          <p:cNvSpPr/>
          <p:nvPr/>
        </p:nvSpPr>
        <p:spPr>
          <a:xfrm>
            <a:off x="10168128" y="731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Oval 127"/>
          <p:cNvSpPr/>
          <p:nvPr/>
        </p:nvSpPr>
        <p:spPr>
          <a:xfrm>
            <a:off x="10168128" y="2377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Oval 128"/>
          <p:cNvSpPr/>
          <p:nvPr/>
        </p:nvSpPr>
        <p:spPr>
          <a:xfrm>
            <a:off x="10168128" y="4023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Oval 129"/>
          <p:cNvSpPr/>
          <p:nvPr/>
        </p:nvSpPr>
        <p:spPr>
          <a:xfrm>
            <a:off x="10168128" y="5669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Oval 130"/>
          <p:cNvSpPr/>
          <p:nvPr/>
        </p:nvSpPr>
        <p:spPr>
          <a:xfrm>
            <a:off x="10168128" y="7315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Oval 131"/>
          <p:cNvSpPr/>
          <p:nvPr/>
        </p:nvSpPr>
        <p:spPr>
          <a:xfrm>
            <a:off x="10168128" y="8961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Oval 132"/>
          <p:cNvSpPr/>
          <p:nvPr/>
        </p:nvSpPr>
        <p:spPr>
          <a:xfrm>
            <a:off x="10168128" y="10607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Oval 133"/>
          <p:cNvSpPr/>
          <p:nvPr/>
        </p:nvSpPr>
        <p:spPr>
          <a:xfrm>
            <a:off x="10168128" y="12252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Oval 134"/>
          <p:cNvSpPr/>
          <p:nvPr/>
        </p:nvSpPr>
        <p:spPr>
          <a:xfrm>
            <a:off x="10168128" y="13898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Oval 135"/>
          <p:cNvSpPr/>
          <p:nvPr/>
        </p:nvSpPr>
        <p:spPr>
          <a:xfrm>
            <a:off x="10168128" y="15544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Oval 136"/>
          <p:cNvSpPr/>
          <p:nvPr/>
        </p:nvSpPr>
        <p:spPr>
          <a:xfrm>
            <a:off x="10168128" y="17190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Oval 137"/>
          <p:cNvSpPr/>
          <p:nvPr/>
        </p:nvSpPr>
        <p:spPr>
          <a:xfrm>
            <a:off x="10168128" y="18836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Oval 138"/>
          <p:cNvSpPr/>
          <p:nvPr/>
        </p:nvSpPr>
        <p:spPr>
          <a:xfrm>
            <a:off x="10168128" y="20482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Oval 139"/>
          <p:cNvSpPr/>
          <p:nvPr/>
        </p:nvSpPr>
        <p:spPr>
          <a:xfrm>
            <a:off x="10168128" y="22128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Oval 140"/>
          <p:cNvSpPr/>
          <p:nvPr/>
        </p:nvSpPr>
        <p:spPr>
          <a:xfrm>
            <a:off x="10168128" y="23774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Oval 141"/>
          <p:cNvSpPr/>
          <p:nvPr/>
        </p:nvSpPr>
        <p:spPr>
          <a:xfrm>
            <a:off x="10168128" y="25420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Oval 142"/>
          <p:cNvSpPr/>
          <p:nvPr/>
        </p:nvSpPr>
        <p:spPr>
          <a:xfrm>
            <a:off x="10168128" y="270662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Oval 143"/>
          <p:cNvSpPr/>
          <p:nvPr/>
        </p:nvSpPr>
        <p:spPr>
          <a:xfrm>
            <a:off x="10168128" y="287121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Oval 144"/>
          <p:cNvSpPr/>
          <p:nvPr/>
        </p:nvSpPr>
        <p:spPr>
          <a:xfrm>
            <a:off x="10168128" y="303580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Oval 145"/>
          <p:cNvSpPr/>
          <p:nvPr/>
        </p:nvSpPr>
        <p:spPr>
          <a:xfrm>
            <a:off x="10168128" y="320040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Oval 146"/>
          <p:cNvSpPr/>
          <p:nvPr/>
        </p:nvSpPr>
        <p:spPr>
          <a:xfrm>
            <a:off x="10168128" y="336499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Oval 147"/>
          <p:cNvSpPr/>
          <p:nvPr/>
        </p:nvSpPr>
        <p:spPr>
          <a:xfrm>
            <a:off x="10168128" y="352958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Oval 148"/>
          <p:cNvSpPr/>
          <p:nvPr/>
        </p:nvSpPr>
        <p:spPr>
          <a:xfrm>
            <a:off x="10168128" y="369417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Oval 149"/>
          <p:cNvSpPr/>
          <p:nvPr/>
        </p:nvSpPr>
        <p:spPr>
          <a:xfrm>
            <a:off x="10168128" y="385876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Oval 150"/>
          <p:cNvSpPr/>
          <p:nvPr/>
        </p:nvSpPr>
        <p:spPr>
          <a:xfrm>
            <a:off x="10168128" y="402336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Oval 151"/>
          <p:cNvSpPr/>
          <p:nvPr/>
        </p:nvSpPr>
        <p:spPr>
          <a:xfrm>
            <a:off x="10168128" y="41879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Oval 152"/>
          <p:cNvSpPr/>
          <p:nvPr/>
        </p:nvSpPr>
        <p:spPr>
          <a:xfrm>
            <a:off x="10168128" y="43525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Oval 153"/>
          <p:cNvSpPr/>
          <p:nvPr/>
        </p:nvSpPr>
        <p:spPr>
          <a:xfrm>
            <a:off x="10168128" y="45171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Oval 154"/>
          <p:cNvSpPr/>
          <p:nvPr/>
        </p:nvSpPr>
        <p:spPr>
          <a:xfrm>
            <a:off x="10168128" y="46817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Oval 155"/>
          <p:cNvSpPr/>
          <p:nvPr/>
        </p:nvSpPr>
        <p:spPr>
          <a:xfrm>
            <a:off x="10168128" y="48463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Oval 156"/>
          <p:cNvSpPr/>
          <p:nvPr/>
        </p:nvSpPr>
        <p:spPr>
          <a:xfrm>
            <a:off x="10168128" y="50109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Oval 157"/>
          <p:cNvSpPr/>
          <p:nvPr/>
        </p:nvSpPr>
        <p:spPr>
          <a:xfrm>
            <a:off x="10168128" y="51755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Oval 158"/>
          <p:cNvSpPr/>
          <p:nvPr/>
        </p:nvSpPr>
        <p:spPr>
          <a:xfrm>
            <a:off x="10168128" y="53400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Oval 159"/>
          <p:cNvSpPr/>
          <p:nvPr/>
        </p:nvSpPr>
        <p:spPr>
          <a:xfrm>
            <a:off x="10168128" y="55046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Oval 160"/>
          <p:cNvSpPr/>
          <p:nvPr/>
        </p:nvSpPr>
        <p:spPr>
          <a:xfrm>
            <a:off x="10168128" y="56692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Oval 161"/>
          <p:cNvSpPr/>
          <p:nvPr/>
        </p:nvSpPr>
        <p:spPr>
          <a:xfrm>
            <a:off x="10168128" y="58338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Oval 162"/>
          <p:cNvSpPr/>
          <p:nvPr/>
        </p:nvSpPr>
        <p:spPr>
          <a:xfrm>
            <a:off x="10168128" y="59984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Oval 163"/>
          <p:cNvSpPr/>
          <p:nvPr/>
        </p:nvSpPr>
        <p:spPr>
          <a:xfrm>
            <a:off x="10168128" y="61630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Oval 164"/>
          <p:cNvSpPr/>
          <p:nvPr/>
        </p:nvSpPr>
        <p:spPr>
          <a:xfrm>
            <a:off x="10168128" y="63276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Oval 165"/>
          <p:cNvSpPr/>
          <p:nvPr/>
        </p:nvSpPr>
        <p:spPr>
          <a:xfrm>
            <a:off x="10168128" y="64922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Oval 166"/>
          <p:cNvSpPr/>
          <p:nvPr/>
        </p:nvSpPr>
        <p:spPr>
          <a:xfrm>
            <a:off x="10168128" y="66568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Oval 167"/>
          <p:cNvSpPr/>
          <p:nvPr/>
        </p:nvSpPr>
        <p:spPr>
          <a:xfrm>
            <a:off x="10332720" y="731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Oval 168"/>
          <p:cNvSpPr/>
          <p:nvPr/>
        </p:nvSpPr>
        <p:spPr>
          <a:xfrm>
            <a:off x="10332720" y="2377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Oval 169"/>
          <p:cNvSpPr/>
          <p:nvPr/>
        </p:nvSpPr>
        <p:spPr>
          <a:xfrm>
            <a:off x="10332720" y="4023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Oval 170"/>
          <p:cNvSpPr/>
          <p:nvPr/>
        </p:nvSpPr>
        <p:spPr>
          <a:xfrm>
            <a:off x="10332720" y="5669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Oval 171"/>
          <p:cNvSpPr/>
          <p:nvPr/>
        </p:nvSpPr>
        <p:spPr>
          <a:xfrm>
            <a:off x="10332720" y="7315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Oval 172"/>
          <p:cNvSpPr/>
          <p:nvPr/>
        </p:nvSpPr>
        <p:spPr>
          <a:xfrm>
            <a:off x="10332720" y="8961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Oval 173"/>
          <p:cNvSpPr/>
          <p:nvPr/>
        </p:nvSpPr>
        <p:spPr>
          <a:xfrm>
            <a:off x="10332720" y="10607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Oval 174"/>
          <p:cNvSpPr/>
          <p:nvPr/>
        </p:nvSpPr>
        <p:spPr>
          <a:xfrm>
            <a:off x="10332720" y="12252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Oval 175"/>
          <p:cNvSpPr/>
          <p:nvPr/>
        </p:nvSpPr>
        <p:spPr>
          <a:xfrm>
            <a:off x="10332720" y="13898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Oval 176"/>
          <p:cNvSpPr/>
          <p:nvPr/>
        </p:nvSpPr>
        <p:spPr>
          <a:xfrm>
            <a:off x="10332720" y="15544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Oval 177"/>
          <p:cNvSpPr/>
          <p:nvPr/>
        </p:nvSpPr>
        <p:spPr>
          <a:xfrm>
            <a:off x="10332720" y="17190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Oval 178"/>
          <p:cNvSpPr/>
          <p:nvPr/>
        </p:nvSpPr>
        <p:spPr>
          <a:xfrm>
            <a:off x="10332720" y="18836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Oval 179"/>
          <p:cNvSpPr/>
          <p:nvPr/>
        </p:nvSpPr>
        <p:spPr>
          <a:xfrm>
            <a:off x="10332720" y="20482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Oval 180"/>
          <p:cNvSpPr/>
          <p:nvPr/>
        </p:nvSpPr>
        <p:spPr>
          <a:xfrm>
            <a:off x="10332720" y="22128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Oval 181"/>
          <p:cNvSpPr/>
          <p:nvPr/>
        </p:nvSpPr>
        <p:spPr>
          <a:xfrm>
            <a:off x="10332720" y="23774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Oval 182"/>
          <p:cNvSpPr/>
          <p:nvPr/>
        </p:nvSpPr>
        <p:spPr>
          <a:xfrm>
            <a:off x="10332720" y="25420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Oval 183"/>
          <p:cNvSpPr/>
          <p:nvPr/>
        </p:nvSpPr>
        <p:spPr>
          <a:xfrm>
            <a:off x="10332720" y="270662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Oval 184"/>
          <p:cNvSpPr/>
          <p:nvPr/>
        </p:nvSpPr>
        <p:spPr>
          <a:xfrm>
            <a:off x="10332720" y="287121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Oval 185"/>
          <p:cNvSpPr/>
          <p:nvPr/>
        </p:nvSpPr>
        <p:spPr>
          <a:xfrm>
            <a:off x="10332720" y="303580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Oval 186"/>
          <p:cNvSpPr/>
          <p:nvPr/>
        </p:nvSpPr>
        <p:spPr>
          <a:xfrm>
            <a:off x="10332720" y="320040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Oval 187"/>
          <p:cNvSpPr/>
          <p:nvPr/>
        </p:nvSpPr>
        <p:spPr>
          <a:xfrm>
            <a:off x="10332720" y="336499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Oval 188"/>
          <p:cNvSpPr/>
          <p:nvPr/>
        </p:nvSpPr>
        <p:spPr>
          <a:xfrm>
            <a:off x="10332720" y="352958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Oval 189"/>
          <p:cNvSpPr/>
          <p:nvPr/>
        </p:nvSpPr>
        <p:spPr>
          <a:xfrm>
            <a:off x="10332720" y="369417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Oval 190"/>
          <p:cNvSpPr/>
          <p:nvPr/>
        </p:nvSpPr>
        <p:spPr>
          <a:xfrm>
            <a:off x="10332720" y="385876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Oval 191"/>
          <p:cNvSpPr/>
          <p:nvPr/>
        </p:nvSpPr>
        <p:spPr>
          <a:xfrm>
            <a:off x="10332720" y="402336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Oval 192"/>
          <p:cNvSpPr/>
          <p:nvPr/>
        </p:nvSpPr>
        <p:spPr>
          <a:xfrm>
            <a:off x="10332720" y="41879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Oval 193"/>
          <p:cNvSpPr/>
          <p:nvPr/>
        </p:nvSpPr>
        <p:spPr>
          <a:xfrm>
            <a:off x="10332720" y="43525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Oval 194"/>
          <p:cNvSpPr/>
          <p:nvPr/>
        </p:nvSpPr>
        <p:spPr>
          <a:xfrm>
            <a:off x="10332720" y="45171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Oval 195"/>
          <p:cNvSpPr/>
          <p:nvPr/>
        </p:nvSpPr>
        <p:spPr>
          <a:xfrm>
            <a:off x="10332720" y="46817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Oval 196"/>
          <p:cNvSpPr/>
          <p:nvPr/>
        </p:nvSpPr>
        <p:spPr>
          <a:xfrm>
            <a:off x="10332720" y="48463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Oval 197"/>
          <p:cNvSpPr/>
          <p:nvPr/>
        </p:nvSpPr>
        <p:spPr>
          <a:xfrm>
            <a:off x="10332720" y="50109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Oval 198"/>
          <p:cNvSpPr/>
          <p:nvPr/>
        </p:nvSpPr>
        <p:spPr>
          <a:xfrm>
            <a:off x="10332720" y="51755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Oval 199"/>
          <p:cNvSpPr/>
          <p:nvPr/>
        </p:nvSpPr>
        <p:spPr>
          <a:xfrm>
            <a:off x="10332720" y="53400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Oval 200"/>
          <p:cNvSpPr/>
          <p:nvPr/>
        </p:nvSpPr>
        <p:spPr>
          <a:xfrm>
            <a:off x="10332720" y="55046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Oval 201"/>
          <p:cNvSpPr/>
          <p:nvPr/>
        </p:nvSpPr>
        <p:spPr>
          <a:xfrm>
            <a:off x="10332720" y="56692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Oval 202"/>
          <p:cNvSpPr/>
          <p:nvPr/>
        </p:nvSpPr>
        <p:spPr>
          <a:xfrm>
            <a:off x="10332720" y="58338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Oval 203"/>
          <p:cNvSpPr/>
          <p:nvPr/>
        </p:nvSpPr>
        <p:spPr>
          <a:xfrm>
            <a:off x="10332720" y="59984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Oval 204"/>
          <p:cNvSpPr/>
          <p:nvPr/>
        </p:nvSpPr>
        <p:spPr>
          <a:xfrm>
            <a:off x="10332720" y="61630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Oval 205"/>
          <p:cNvSpPr/>
          <p:nvPr/>
        </p:nvSpPr>
        <p:spPr>
          <a:xfrm>
            <a:off x="10332720" y="63276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Oval 206"/>
          <p:cNvSpPr/>
          <p:nvPr/>
        </p:nvSpPr>
        <p:spPr>
          <a:xfrm>
            <a:off x="10332720" y="64922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Oval 207"/>
          <p:cNvSpPr/>
          <p:nvPr/>
        </p:nvSpPr>
        <p:spPr>
          <a:xfrm>
            <a:off x="10332720" y="66568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Oval 208"/>
          <p:cNvSpPr/>
          <p:nvPr/>
        </p:nvSpPr>
        <p:spPr>
          <a:xfrm>
            <a:off x="10497312" y="731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Oval 209"/>
          <p:cNvSpPr/>
          <p:nvPr/>
        </p:nvSpPr>
        <p:spPr>
          <a:xfrm>
            <a:off x="10497312" y="2377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Oval 210"/>
          <p:cNvSpPr/>
          <p:nvPr/>
        </p:nvSpPr>
        <p:spPr>
          <a:xfrm>
            <a:off x="10497312" y="4023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Oval 211"/>
          <p:cNvSpPr/>
          <p:nvPr/>
        </p:nvSpPr>
        <p:spPr>
          <a:xfrm>
            <a:off x="10497312" y="5669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Oval 212"/>
          <p:cNvSpPr/>
          <p:nvPr/>
        </p:nvSpPr>
        <p:spPr>
          <a:xfrm>
            <a:off x="10497312" y="7315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Oval 213"/>
          <p:cNvSpPr/>
          <p:nvPr/>
        </p:nvSpPr>
        <p:spPr>
          <a:xfrm>
            <a:off x="10497312" y="8961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Oval 214"/>
          <p:cNvSpPr/>
          <p:nvPr/>
        </p:nvSpPr>
        <p:spPr>
          <a:xfrm>
            <a:off x="10497312" y="10607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Oval 215"/>
          <p:cNvSpPr/>
          <p:nvPr/>
        </p:nvSpPr>
        <p:spPr>
          <a:xfrm>
            <a:off x="10497312" y="12252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Oval 216"/>
          <p:cNvSpPr/>
          <p:nvPr/>
        </p:nvSpPr>
        <p:spPr>
          <a:xfrm>
            <a:off x="10497312" y="13898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Oval 217"/>
          <p:cNvSpPr/>
          <p:nvPr/>
        </p:nvSpPr>
        <p:spPr>
          <a:xfrm>
            <a:off x="10497312" y="15544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Oval 218"/>
          <p:cNvSpPr/>
          <p:nvPr/>
        </p:nvSpPr>
        <p:spPr>
          <a:xfrm>
            <a:off x="10497312" y="17190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Oval 219"/>
          <p:cNvSpPr/>
          <p:nvPr/>
        </p:nvSpPr>
        <p:spPr>
          <a:xfrm>
            <a:off x="10497312" y="18836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Oval 220"/>
          <p:cNvSpPr/>
          <p:nvPr/>
        </p:nvSpPr>
        <p:spPr>
          <a:xfrm>
            <a:off x="10497312" y="20482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Oval 221"/>
          <p:cNvSpPr/>
          <p:nvPr/>
        </p:nvSpPr>
        <p:spPr>
          <a:xfrm>
            <a:off x="10497312" y="22128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Oval 222"/>
          <p:cNvSpPr/>
          <p:nvPr/>
        </p:nvSpPr>
        <p:spPr>
          <a:xfrm>
            <a:off x="10497312" y="23774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Oval 223"/>
          <p:cNvSpPr/>
          <p:nvPr/>
        </p:nvSpPr>
        <p:spPr>
          <a:xfrm>
            <a:off x="10497312" y="25420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Oval 224"/>
          <p:cNvSpPr/>
          <p:nvPr/>
        </p:nvSpPr>
        <p:spPr>
          <a:xfrm>
            <a:off x="10497312" y="270662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Oval 225"/>
          <p:cNvSpPr/>
          <p:nvPr/>
        </p:nvSpPr>
        <p:spPr>
          <a:xfrm>
            <a:off x="10497312" y="287121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Oval 226"/>
          <p:cNvSpPr/>
          <p:nvPr/>
        </p:nvSpPr>
        <p:spPr>
          <a:xfrm>
            <a:off x="10497312" y="303580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Oval 227"/>
          <p:cNvSpPr/>
          <p:nvPr/>
        </p:nvSpPr>
        <p:spPr>
          <a:xfrm>
            <a:off x="10497312" y="320040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Oval 228"/>
          <p:cNvSpPr/>
          <p:nvPr/>
        </p:nvSpPr>
        <p:spPr>
          <a:xfrm>
            <a:off x="10497312" y="336499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Oval 229"/>
          <p:cNvSpPr/>
          <p:nvPr/>
        </p:nvSpPr>
        <p:spPr>
          <a:xfrm>
            <a:off x="10497312" y="352958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Oval 230"/>
          <p:cNvSpPr/>
          <p:nvPr/>
        </p:nvSpPr>
        <p:spPr>
          <a:xfrm>
            <a:off x="10497312" y="369417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Oval 231"/>
          <p:cNvSpPr/>
          <p:nvPr/>
        </p:nvSpPr>
        <p:spPr>
          <a:xfrm>
            <a:off x="10497312" y="385876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Oval 232"/>
          <p:cNvSpPr/>
          <p:nvPr/>
        </p:nvSpPr>
        <p:spPr>
          <a:xfrm>
            <a:off x="10497312" y="402336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Oval 233"/>
          <p:cNvSpPr/>
          <p:nvPr/>
        </p:nvSpPr>
        <p:spPr>
          <a:xfrm>
            <a:off x="10497312" y="41879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Oval 234"/>
          <p:cNvSpPr/>
          <p:nvPr/>
        </p:nvSpPr>
        <p:spPr>
          <a:xfrm>
            <a:off x="10497312" y="43525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Oval 235"/>
          <p:cNvSpPr/>
          <p:nvPr/>
        </p:nvSpPr>
        <p:spPr>
          <a:xfrm>
            <a:off x="10497312" y="45171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Oval 236"/>
          <p:cNvSpPr/>
          <p:nvPr/>
        </p:nvSpPr>
        <p:spPr>
          <a:xfrm>
            <a:off x="10497312" y="46817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Oval 237"/>
          <p:cNvSpPr/>
          <p:nvPr/>
        </p:nvSpPr>
        <p:spPr>
          <a:xfrm>
            <a:off x="10497312" y="48463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Oval 238"/>
          <p:cNvSpPr/>
          <p:nvPr/>
        </p:nvSpPr>
        <p:spPr>
          <a:xfrm>
            <a:off x="10497312" y="50109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Oval 239"/>
          <p:cNvSpPr/>
          <p:nvPr/>
        </p:nvSpPr>
        <p:spPr>
          <a:xfrm>
            <a:off x="10497312" y="51755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Oval 240"/>
          <p:cNvSpPr/>
          <p:nvPr/>
        </p:nvSpPr>
        <p:spPr>
          <a:xfrm>
            <a:off x="10497312" y="53400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Oval 241"/>
          <p:cNvSpPr/>
          <p:nvPr/>
        </p:nvSpPr>
        <p:spPr>
          <a:xfrm>
            <a:off x="10497312" y="55046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Oval 242"/>
          <p:cNvSpPr/>
          <p:nvPr/>
        </p:nvSpPr>
        <p:spPr>
          <a:xfrm>
            <a:off x="10497312" y="56692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Oval 243"/>
          <p:cNvSpPr/>
          <p:nvPr/>
        </p:nvSpPr>
        <p:spPr>
          <a:xfrm>
            <a:off x="10497312" y="58338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Oval 244"/>
          <p:cNvSpPr/>
          <p:nvPr/>
        </p:nvSpPr>
        <p:spPr>
          <a:xfrm>
            <a:off x="10497312" y="59984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Oval 245"/>
          <p:cNvSpPr/>
          <p:nvPr/>
        </p:nvSpPr>
        <p:spPr>
          <a:xfrm>
            <a:off x="10497312" y="61630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Oval 246"/>
          <p:cNvSpPr/>
          <p:nvPr/>
        </p:nvSpPr>
        <p:spPr>
          <a:xfrm>
            <a:off x="10497312" y="63276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Oval 247"/>
          <p:cNvSpPr/>
          <p:nvPr/>
        </p:nvSpPr>
        <p:spPr>
          <a:xfrm>
            <a:off x="10497312" y="64922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Oval 248"/>
          <p:cNvSpPr/>
          <p:nvPr/>
        </p:nvSpPr>
        <p:spPr>
          <a:xfrm>
            <a:off x="10497312" y="66568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Oval 249"/>
          <p:cNvSpPr/>
          <p:nvPr/>
        </p:nvSpPr>
        <p:spPr>
          <a:xfrm>
            <a:off x="10661904" y="731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Oval 250"/>
          <p:cNvSpPr/>
          <p:nvPr/>
        </p:nvSpPr>
        <p:spPr>
          <a:xfrm>
            <a:off x="10661904" y="2377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Oval 251"/>
          <p:cNvSpPr/>
          <p:nvPr/>
        </p:nvSpPr>
        <p:spPr>
          <a:xfrm>
            <a:off x="10661904" y="4023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Oval 252"/>
          <p:cNvSpPr/>
          <p:nvPr/>
        </p:nvSpPr>
        <p:spPr>
          <a:xfrm>
            <a:off x="10661904" y="5669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Oval 253"/>
          <p:cNvSpPr/>
          <p:nvPr/>
        </p:nvSpPr>
        <p:spPr>
          <a:xfrm>
            <a:off x="10661904" y="7315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Oval 254"/>
          <p:cNvSpPr/>
          <p:nvPr/>
        </p:nvSpPr>
        <p:spPr>
          <a:xfrm>
            <a:off x="10661904" y="8961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Oval 255"/>
          <p:cNvSpPr/>
          <p:nvPr/>
        </p:nvSpPr>
        <p:spPr>
          <a:xfrm>
            <a:off x="10661904" y="10607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Oval 256"/>
          <p:cNvSpPr/>
          <p:nvPr/>
        </p:nvSpPr>
        <p:spPr>
          <a:xfrm>
            <a:off x="10661904" y="12252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Oval 257"/>
          <p:cNvSpPr/>
          <p:nvPr/>
        </p:nvSpPr>
        <p:spPr>
          <a:xfrm>
            <a:off x="10661904" y="13898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Oval 258"/>
          <p:cNvSpPr/>
          <p:nvPr/>
        </p:nvSpPr>
        <p:spPr>
          <a:xfrm>
            <a:off x="10661904" y="15544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Oval 259"/>
          <p:cNvSpPr/>
          <p:nvPr/>
        </p:nvSpPr>
        <p:spPr>
          <a:xfrm>
            <a:off x="10661904" y="17190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Oval 260"/>
          <p:cNvSpPr/>
          <p:nvPr/>
        </p:nvSpPr>
        <p:spPr>
          <a:xfrm>
            <a:off x="10661904" y="18836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Oval 261"/>
          <p:cNvSpPr/>
          <p:nvPr/>
        </p:nvSpPr>
        <p:spPr>
          <a:xfrm>
            <a:off x="10661904" y="20482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Oval 262"/>
          <p:cNvSpPr/>
          <p:nvPr/>
        </p:nvSpPr>
        <p:spPr>
          <a:xfrm>
            <a:off x="10661904" y="22128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Oval 263"/>
          <p:cNvSpPr/>
          <p:nvPr/>
        </p:nvSpPr>
        <p:spPr>
          <a:xfrm>
            <a:off x="10661904" y="23774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Oval 264"/>
          <p:cNvSpPr/>
          <p:nvPr/>
        </p:nvSpPr>
        <p:spPr>
          <a:xfrm>
            <a:off x="10661904" y="25420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Oval 265"/>
          <p:cNvSpPr/>
          <p:nvPr/>
        </p:nvSpPr>
        <p:spPr>
          <a:xfrm>
            <a:off x="10661904" y="270662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Oval 266"/>
          <p:cNvSpPr/>
          <p:nvPr/>
        </p:nvSpPr>
        <p:spPr>
          <a:xfrm>
            <a:off x="10661904" y="287121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Oval 267"/>
          <p:cNvSpPr/>
          <p:nvPr/>
        </p:nvSpPr>
        <p:spPr>
          <a:xfrm>
            <a:off x="10661904" y="303580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Oval 268"/>
          <p:cNvSpPr/>
          <p:nvPr/>
        </p:nvSpPr>
        <p:spPr>
          <a:xfrm>
            <a:off x="10661904" y="320040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Oval 269"/>
          <p:cNvSpPr/>
          <p:nvPr/>
        </p:nvSpPr>
        <p:spPr>
          <a:xfrm>
            <a:off x="10661904" y="336499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Oval 270"/>
          <p:cNvSpPr/>
          <p:nvPr/>
        </p:nvSpPr>
        <p:spPr>
          <a:xfrm>
            <a:off x="10661904" y="352958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2" name="Oval 271"/>
          <p:cNvSpPr/>
          <p:nvPr/>
        </p:nvSpPr>
        <p:spPr>
          <a:xfrm>
            <a:off x="10661904" y="369417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Oval 272"/>
          <p:cNvSpPr/>
          <p:nvPr/>
        </p:nvSpPr>
        <p:spPr>
          <a:xfrm>
            <a:off x="10661904" y="385876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Oval 273"/>
          <p:cNvSpPr/>
          <p:nvPr/>
        </p:nvSpPr>
        <p:spPr>
          <a:xfrm>
            <a:off x="10661904" y="402336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Oval 274"/>
          <p:cNvSpPr/>
          <p:nvPr/>
        </p:nvSpPr>
        <p:spPr>
          <a:xfrm>
            <a:off x="10661904" y="41879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Oval 275"/>
          <p:cNvSpPr/>
          <p:nvPr/>
        </p:nvSpPr>
        <p:spPr>
          <a:xfrm>
            <a:off x="10661904" y="43525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Oval 276"/>
          <p:cNvSpPr/>
          <p:nvPr/>
        </p:nvSpPr>
        <p:spPr>
          <a:xfrm>
            <a:off x="10661904" y="45171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Oval 277"/>
          <p:cNvSpPr/>
          <p:nvPr/>
        </p:nvSpPr>
        <p:spPr>
          <a:xfrm>
            <a:off x="10661904" y="46817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Oval 278"/>
          <p:cNvSpPr/>
          <p:nvPr/>
        </p:nvSpPr>
        <p:spPr>
          <a:xfrm>
            <a:off x="10661904" y="48463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Oval 279"/>
          <p:cNvSpPr/>
          <p:nvPr/>
        </p:nvSpPr>
        <p:spPr>
          <a:xfrm>
            <a:off x="10661904" y="50109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Oval 280"/>
          <p:cNvSpPr/>
          <p:nvPr/>
        </p:nvSpPr>
        <p:spPr>
          <a:xfrm>
            <a:off x="10661904" y="51755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2" name="Oval 281"/>
          <p:cNvSpPr/>
          <p:nvPr/>
        </p:nvSpPr>
        <p:spPr>
          <a:xfrm>
            <a:off x="10661904" y="53400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Oval 282"/>
          <p:cNvSpPr/>
          <p:nvPr/>
        </p:nvSpPr>
        <p:spPr>
          <a:xfrm>
            <a:off x="10661904" y="55046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4" name="Oval 283"/>
          <p:cNvSpPr/>
          <p:nvPr/>
        </p:nvSpPr>
        <p:spPr>
          <a:xfrm>
            <a:off x="10661904" y="56692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Oval 284"/>
          <p:cNvSpPr/>
          <p:nvPr/>
        </p:nvSpPr>
        <p:spPr>
          <a:xfrm>
            <a:off x="10661904" y="58338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6" name="Oval 285"/>
          <p:cNvSpPr/>
          <p:nvPr/>
        </p:nvSpPr>
        <p:spPr>
          <a:xfrm>
            <a:off x="10661904" y="59984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Oval 286"/>
          <p:cNvSpPr/>
          <p:nvPr/>
        </p:nvSpPr>
        <p:spPr>
          <a:xfrm>
            <a:off x="10661904" y="61630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8" name="Oval 287"/>
          <p:cNvSpPr/>
          <p:nvPr/>
        </p:nvSpPr>
        <p:spPr>
          <a:xfrm>
            <a:off x="10661904" y="63276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Oval 288"/>
          <p:cNvSpPr/>
          <p:nvPr/>
        </p:nvSpPr>
        <p:spPr>
          <a:xfrm>
            <a:off x="10661904" y="64922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Oval 289"/>
          <p:cNvSpPr/>
          <p:nvPr/>
        </p:nvSpPr>
        <p:spPr>
          <a:xfrm>
            <a:off x="10661904" y="66568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Oval 290"/>
          <p:cNvSpPr/>
          <p:nvPr/>
        </p:nvSpPr>
        <p:spPr>
          <a:xfrm>
            <a:off x="10826496" y="731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2" name="Oval 291"/>
          <p:cNvSpPr/>
          <p:nvPr/>
        </p:nvSpPr>
        <p:spPr>
          <a:xfrm>
            <a:off x="10826496" y="2377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Oval 292"/>
          <p:cNvSpPr/>
          <p:nvPr/>
        </p:nvSpPr>
        <p:spPr>
          <a:xfrm>
            <a:off x="10826496" y="4023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4" name="Oval 293"/>
          <p:cNvSpPr/>
          <p:nvPr/>
        </p:nvSpPr>
        <p:spPr>
          <a:xfrm>
            <a:off x="10826496" y="5669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5" name="Oval 294"/>
          <p:cNvSpPr/>
          <p:nvPr/>
        </p:nvSpPr>
        <p:spPr>
          <a:xfrm>
            <a:off x="10826496" y="7315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6" name="Oval 295"/>
          <p:cNvSpPr/>
          <p:nvPr/>
        </p:nvSpPr>
        <p:spPr>
          <a:xfrm>
            <a:off x="10826496" y="8961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Oval 296"/>
          <p:cNvSpPr/>
          <p:nvPr/>
        </p:nvSpPr>
        <p:spPr>
          <a:xfrm>
            <a:off x="10826496" y="10607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8" name="Oval 297"/>
          <p:cNvSpPr/>
          <p:nvPr/>
        </p:nvSpPr>
        <p:spPr>
          <a:xfrm>
            <a:off x="10826496" y="12252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Oval 298"/>
          <p:cNvSpPr/>
          <p:nvPr/>
        </p:nvSpPr>
        <p:spPr>
          <a:xfrm>
            <a:off x="10826496" y="13898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Oval 299"/>
          <p:cNvSpPr/>
          <p:nvPr/>
        </p:nvSpPr>
        <p:spPr>
          <a:xfrm>
            <a:off x="10826496" y="15544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1" name="Oval 300"/>
          <p:cNvSpPr/>
          <p:nvPr/>
        </p:nvSpPr>
        <p:spPr>
          <a:xfrm>
            <a:off x="10826496" y="17190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2" name="Oval 301"/>
          <p:cNvSpPr/>
          <p:nvPr/>
        </p:nvSpPr>
        <p:spPr>
          <a:xfrm>
            <a:off x="10826496" y="18836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Oval 302"/>
          <p:cNvSpPr/>
          <p:nvPr/>
        </p:nvSpPr>
        <p:spPr>
          <a:xfrm>
            <a:off x="10826496" y="20482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4" name="Oval 303"/>
          <p:cNvSpPr/>
          <p:nvPr/>
        </p:nvSpPr>
        <p:spPr>
          <a:xfrm>
            <a:off x="10826496" y="22128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5" name="Oval 304"/>
          <p:cNvSpPr/>
          <p:nvPr/>
        </p:nvSpPr>
        <p:spPr>
          <a:xfrm>
            <a:off x="10826496" y="23774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6" name="Oval 305"/>
          <p:cNvSpPr/>
          <p:nvPr/>
        </p:nvSpPr>
        <p:spPr>
          <a:xfrm>
            <a:off x="10826496" y="25420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7" name="Oval 306"/>
          <p:cNvSpPr/>
          <p:nvPr/>
        </p:nvSpPr>
        <p:spPr>
          <a:xfrm>
            <a:off x="10826496" y="270662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8" name="Oval 307"/>
          <p:cNvSpPr/>
          <p:nvPr/>
        </p:nvSpPr>
        <p:spPr>
          <a:xfrm>
            <a:off x="10826496" y="287121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Oval 308"/>
          <p:cNvSpPr/>
          <p:nvPr/>
        </p:nvSpPr>
        <p:spPr>
          <a:xfrm>
            <a:off x="10826496" y="303580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0" name="Oval 309"/>
          <p:cNvSpPr/>
          <p:nvPr/>
        </p:nvSpPr>
        <p:spPr>
          <a:xfrm>
            <a:off x="10826496" y="320040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1" name="Oval 310"/>
          <p:cNvSpPr/>
          <p:nvPr/>
        </p:nvSpPr>
        <p:spPr>
          <a:xfrm>
            <a:off x="10826496" y="336499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2" name="Oval 311"/>
          <p:cNvSpPr/>
          <p:nvPr/>
        </p:nvSpPr>
        <p:spPr>
          <a:xfrm>
            <a:off x="10826496" y="352958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" name="Oval 312"/>
          <p:cNvSpPr/>
          <p:nvPr/>
        </p:nvSpPr>
        <p:spPr>
          <a:xfrm>
            <a:off x="10826496" y="369417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4" name="Oval 313"/>
          <p:cNvSpPr/>
          <p:nvPr/>
        </p:nvSpPr>
        <p:spPr>
          <a:xfrm>
            <a:off x="10826496" y="385876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Oval 314"/>
          <p:cNvSpPr/>
          <p:nvPr/>
        </p:nvSpPr>
        <p:spPr>
          <a:xfrm>
            <a:off x="10826496" y="402336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6" name="Oval 315"/>
          <p:cNvSpPr/>
          <p:nvPr/>
        </p:nvSpPr>
        <p:spPr>
          <a:xfrm>
            <a:off x="10826496" y="41879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7" name="Oval 316"/>
          <p:cNvSpPr/>
          <p:nvPr/>
        </p:nvSpPr>
        <p:spPr>
          <a:xfrm>
            <a:off x="10826496" y="43525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8" name="Oval 317"/>
          <p:cNvSpPr/>
          <p:nvPr/>
        </p:nvSpPr>
        <p:spPr>
          <a:xfrm>
            <a:off x="10826496" y="45171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9" name="Oval 318"/>
          <p:cNvSpPr/>
          <p:nvPr/>
        </p:nvSpPr>
        <p:spPr>
          <a:xfrm>
            <a:off x="10826496" y="46817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0" name="Oval 319"/>
          <p:cNvSpPr/>
          <p:nvPr/>
        </p:nvSpPr>
        <p:spPr>
          <a:xfrm>
            <a:off x="10826496" y="48463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1" name="Oval 320"/>
          <p:cNvSpPr/>
          <p:nvPr/>
        </p:nvSpPr>
        <p:spPr>
          <a:xfrm>
            <a:off x="10826496" y="50109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2" name="Oval 321"/>
          <p:cNvSpPr/>
          <p:nvPr/>
        </p:nvSpPr>
        <p:spPr>
          <a:xfrm>
            <a:off x="10826496" y="51755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3" name="Oval 322"/>
          <p:cNvSpPr/>
          <p:nvPr/>
        </p:nvSpPr>
        <p:spPr>
          <a:xfrm>
            <a:off x="10826496" y="53400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4" name="Oval 323"/>
          <p:cNvSpPr/>
          <p:nvPr/>
        </p:nvSpPr>
        <p:spPr>
          <a:xfrm>
            <a:off x="10826496" y="55046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5" name="Oval 324"/>
          <p:cNvSpPr/>
          <p:nvPr/>
        </p:nvSpPr>
        <p:spPr>
          <a:xfrm>
            <a:off x="10826496" y="56692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6" name="Oval 325"/>
          <p:cNvSpPr/>
          <p:nvPr/>
        </p:nvSpPr>
        <p:spPr>
          <a:xfrm>
            <a:off x="10826496" y="58338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7" name="Oval 326"/>
          <p:cNvSpPr/>
          <p:nvPr/>
        </p:nvSpPr>
        <p:spPr>
          <a:xfrm>
            <a:off x="10826496" y="59984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8" name="Oval 327"/>
          <p:cNvSpPr/>
          <p:nvPr/>
        </p:nvSpPr>
        <p:spPr>
          <a:xfrm>
            <a:off x="10826496" y="61630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9" name="Oval 328"/>
          <p:cNvSpPr/>
          <p:nvPr/>
        </p:nvSpPr>
        <p:spPr>
          <a:xfrm>
            <a:off x="10826496" y="63276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0" name="Oval 329"/>
          <p:cNvSpPr/>
          <p:nvPr/>
        </p:nvSpPr>
        <p:spPr>
          <a:xfrm>
            <a:off x="10826496" y="64922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1" name="Oval 330"/>
          <p:cNvSpPr/>
          <p:nvPr/>
        </p:nvSpPr>
        <p:spPr>
          <a:xfrm>
            <a:off x="10826496" y="66568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2" name="Oval 331"/>
          <p:cNvSpPr/>
          <p:nvPr/>
        </p:nvSpPr>
        <p:spPr>
          <a:xfrm>
            <a:off x="10991088" y="731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3" name="Oval 332"/>
          <p:cNvSpPr/>
          <p:nvPr/>
        </p:nvSpPr>
        <p:spPr>
          <a:xfrm>
            <a:off x="10991088" y="2377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4" name="Oval 333"/>
          <p:cNvSpPr/>
          <p:nvPr/>
        </p:nvSpPr>
        <p:spPr>
          <a:xfrm>
            <a:off x="10991088" y="4023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5" name="Oval 334"/>
          <p:cNvSpPr/>
          <p:nvPr/>
        </p:nvSpPr>
        <p:spPr>
          <a:xfrm>
            <a:off x="10991088" y="5669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6" name="Oval 335"/>
          <p:cNvSpPr/>
          <p:nvPr/>
        </p:nvSpPr>
        <p:spPr>
          <a:xfrm>
            <a:off x="10991088" y="7315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7" name="Oval 336"/>
          <p:cNvSpPr/>
          <p:nvPr/>
        </p:nvSpPr>
        <p:spPr>
          <a:xfrm>
            <a:off x="10991088" y="8961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8" name="Oval 337"/>
          <p:cNvSpPr/>
          <p:nvPr/>
        </p:nvSpPr>
        <p:spPr>
          <a:xfrm>
            <a:off x="10991088" y="10607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9" name="Oval 338"/>
          <p:cNvSpPr/>
          <p:nvPr/>
        </p:nvSpPr>
        <p:spPr>
          <a:xfrm>
            <a:off x="10991088" y="12252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0" name="Oval 339"/>
          <p:cNvSpPr/>
          <p:nvPr/>
        </p:nvSpPr>
        <p:spPr>
          <a:xfrm>
            <a:off x="10991088" y="13898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1" name="Oval 340"/>
          <p:cNvSpPr/>
          <p:nvPr/>
        </p:nvSpPr>
        <p:spPr>
          <a:xfrm>
            <a:off x="10991088" y="15544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2" name="Oval 341"/>
          <p:cNvSpPr/>
          <p:nvPr/>
        </p:nvSpPr>
        <p:spPr>
          <a:xfrm>
            <a:off x="10991088" y="17190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3" name="Oval 342"/>
          <p:cNvSpPr/>
          <p:nvPr/>
        </p:nvSpPr>
        <p:spPr>
          <a:xfrm>
            <a:off x="10991088" y="18836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4" name="Oval 343"/>
          <p:cNvSpPr/>
          <p:nvPr/>
        </p:nvSpPr>
        <p:spPr>
          <a:xfrm>
            <a:off x="10991088" y="20482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5" name="Oval 344"/>
          <p:cNvSpPr/>
          <p:nvPr/>
        </p:nvSpPr>
        <p:spPr>
          <a:xfrm>
            <a:off x="10991088" y="22128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6" name="Oval 345"/>
          <p:cNvSpPr/>
          <p:nvPr/>
        </p:nvSpPr>
        <p:spPr>
          <a:xfrm>
            <a:off x="10991088" y="23774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7" name="Oval 346"/>
          <p:cNvSpPr/>
          <p:nvPr/>
        </p:nvSpPr>
        <p:spPr>
          <a:xfrm>
            <a:off x="10991088" y="25420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8" name="Oval 347"/>
          <p:cNvSpPr/>
          <p:nvPr/>
        </p:nvSpPr>
        <p:spPr>
          <a:xfrm>
            <a:off x="10991088" y="270662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9" name="Oval 348"/>
          <p:cNvSpPr/>
          <p:nvPr/>
        </p:nvSpPr>
        <p:spPr>
          <a:xfrm>
            <a:off x="10991088" y="287121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0" name="Oval 349"/>
          <p:cNvSpPr/>
          <p:nvPr/>
        </p:nvSpPr>
        <p:spPr>
          <a:xfrm>
            <a:off x="10991088" y="303580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1" name="Oval 350"/>
          <p:cNvSpPr/>
          <p:nvPr/>
        </p:nvSpPr>
        <p:spPr>
          <a:xfrm>
            <a:off x="10991088" y="320040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2" name="Oval 351"/>
          <p:cNvSpPr/>
          <p:nvPr/>
        </p:nvSpPr>
        <p:spPr>
          <a:xfrm>
            <a:off x="10991088" y="336499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3" name="Oval 352"/>
          <p:cNvSpPr/>
          <p:nvPr/>
        </p:nvSpPr>
        <p:spPr>
          <a:xfrm>
            <a:off x="10991088" y="352958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4" name="Oval 353"/>
          <p:cNvSpPr/>
          <p:nvPr/>
        </p:nvSpPr>
        <p:spPr>
          <a:xfrm>
            <a:off x="10991088" y="369417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5" name="Oval 354"/>
          <p:cNvSpPr/>
          <p:nvPr/>
        </p:nvSpPr>
        <p:spPr>
          <a:xfrm>
            <a:off x="10991088" y="385876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6" name="Oval 355"/>
          <p:cNvSpPr/>
          <p:nvPr/>
        </p:nvSpPr>
        <p:spPr>
          <a:xfrm>
            <a:off x="10991088" y="402336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7" name="Oval 356"/>
          <p:cNvSpPr/>
          <p:nvPr/>
        </p:nvSpPr>
        <p:spPr>
          <a:xfrm>
            <a:off x="10991088" y="41879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8" name="Oval 357"/>
          <p:cNvSpPr/>
          <p:nvPr/>
        </p:nvSpPr>
        <p:spPr>
          <a:xfrm>
            <a:off x="10991088" y="43525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9" name="Oval 358"/>
          <p:cNvSpPr/>
          <p:nvPr/>
        </p:nvSpPr>
        <p:spPr>
          <a:xfrm>
            <a:off x="10991088" y="45171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0" name="Oval 359"/>
          <p:cNvSpPr/>
          <p:nvPr/>
        </p:nvSpPr>
        <p:spPr>
          <a:xfrm>
            <a:off x="10991088" y="46817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1" name="Oval 360"/>
          <p:cNvSpPr/>
          <p:nvPr/>
        </p:nvSpPr>
        <p:spPr>
          <a:xfrm>
            <a:off x="10991088" y="48463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2" name="Oval 361"/>
          <p:cNvSpPr/>
          <p:nvPr/>
        </p:nvSpPr>
        <p:spPr>
          <a:xfrm>
            <a:off x="10991088" y="50109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3" name="Oval 362"/>
          <p:cNvSpPr/>
          <p:nvPr/>
        </p:nvSpPr>
        <p:spPr>
          <a:xfrm>
            <a:off x="10991088" y="51755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4" name="Oval 363"/>
          <p:cNvSpPr/>
          <p:nvPr/>
        </p:nvSpPr>
        <p:spPr>
          <a:xfrm>
            <a:off x="10991088" y="53400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5" name="Oval 364"/>
          <p:cNvSpPr/>
          <p:nvPr/>
        </p:nvSpPr>
        <p:spPr>
          <a:xfrm>
            <a:off x="10991088" y="55046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6" name="Oval 365"/>
          <p:cNvSpPr/>
          <p:nvPr/>
        </p:nvSpPr>
        <p:spPr>
          <a:xfrm>
            <a:off x="10991088" y="56692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7" name="Oval 366"/>
          <p:cNvSpPr/>
          <p:nvPr/>
        </p:nvSpPr>
        <p:spPr>
          <a:xfrm>
            <a:off x="10991088" y="58338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8" name="Oval 367"/>
          <p:cNvSpPr/>
          <p:nvPr/>
        </p:nvSpPr>
        <p:spPr>
          <a:xfrm>
            <a:off x="10991088" y="59984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9" name="Oval 368"/>
          <p:cNvSpPr/>
          <p:nvPr/>
        </p:nvSpPr>
        <p:spPr>
          <a:xfrm>
            <a:off x="10991088" y="61630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0" name="Oval 369"/>
          <p:cNvSpPr/>
          <p:nvPr/>
        </p:nvSpPr>
        <p:spPr>
          <a:xfrm>
            <a:off x="10991088" y="63276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1" name="Oval 370"/>
          <p:cNvSpPr/>
          <p:nvPr/>
        </p:nvSpPr>
        <p:spPr>
          <a:xfrm>
            <a:off x="10991088" y="64922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2" name="Oval 371"/>
          <p:cNvSpPr/>
          <p:nvPr/>
        </p:nvSpPr>
        <p:spPr>
          <a:xfrm>
            <a:off x="10991088" y="66568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3" name="Oval 372"/>
          <p:cNvSpPr/>
          <p:nvPr/>
        </p:nvSpPr>
        <p:spPr>
          <a:xfrm>
            <a:off x="11155680" y="731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4" name="Oval 373"/>
          <p:cNvSpPr/>
          <p:nvPr/>
        </p:nvSpPr>
        <p:spPr>
          <a:xfrm>
            <a:off x="11155680" y="2377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5" name="Oval 374"/>
          <p:cNvSpPr/>
          <p:nvPr/>
        </p:nvSpPr>
        <p:spPr>
          <a:xfrm>
            <a:off x="11155680" y="4023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6" name="Oval 375"/>
          <p:cNvSpPr/>
          <p:nvPr/>
        </p:nvSpPr>
        <p:spPr>
          <a:xfrm>
            <a:off x="11155680" y="5669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7" name="Oval 376"/>
          <p:cNvSpPr/>
          <p:nvPr/>
        </p:nvSpPr>
        <p:spPr>
          <a:xfrm>
            <a:off x="11155680" y="7315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8" name="Oval 377"/>
          <p:cNvSpPr/>
          <p:nvPr/>
        </p:nvSpPr>
        <p:spPr>
          <a:xfrm>
            <a:off x="11155680" y="8961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9" name="Oval 378"/>
          <p:cNvSpPr/>
          <p:nvPr/>
        </p:nvSpPr>
        <p:spPr>
          <a:xfrm>
            <a:off x="11155680" y="10607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0" name="Oval 379"/>
          <p:cNvSpPr/>
          <p:nvPr/>
        </p:nvSpPr>
        <p:spPr>
          <a:xfrm>
            <a:off x="11155680" y="12252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1" name="Oval 380"/>
          <p:cNvSpPr/>
          <p:nvPr/>
        </p:nvSpPr>
        <p:spPr>
          <a:xfrm>
            <a:off x="11155680" y="13898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2" name="Oval 381"/>
          <p:cNvSpPr/>
          <p:nvPr/>
        </p:nvSpPr>
        <p:spPr>
          <a:xfrm>
            <a:off x="11155680" y="15544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3" name="Oval 382"/>
          <p:cNvSpPr/>
          <p:nvPr/>
        </p:nvSpPr>
        <p:spPr>
          <a:xfrm>
            <a:off x="11155680" y="17190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4" name="Oval 383"/>
          <p:cNvSpPr/>
          <p:nvPr/>
        </p:nvSpPr>
        <p:spPr>
          <a:xfrm>
            <a:off x="11155680" y="18836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5" name="Oval 384"/>
          <p:cNvSpPr/>
          <p:nvPr/>
        </p:nvSpPr>
        <p:spPr>
          <a:xfrm>
            <a:off x="11155680" y="20482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6" name="Oval 385"/>
          <p:cNvSpPr/>
          <p:nvPr/>
        </p:nvSpPr>
        <p:spPr>
          <a:xfrm>
            <a:off x="11155680" y="22128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7" name="Oval 386"/>
          <p:cNvSpPr/>
          <p:nvPr/>
        </p:nvSpPr>
        <p:spPr>
          <a:xfrm>
            <a:off x="11155680" y="23774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8" name="Oval 387"/>
          <p:cNvSpPr/>
          <p:nvPr/>
        </p:nvSpPr>
        <p:spPr>
          <a:xfrm>
            <a:off x="11155680" y="25420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9" name="Oval 388"/>
          <p:cNvSpPr/>
          <p:nvPr/>
        </p:nvSpPr>
        <p:spPr>
          <a:xfrm>
            <a:off x="11155680" y="270662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0" name="Oval 389"/>
          <p:cNvSpPr/>
          <p:nvPr/>
        </p:nvSpPr>
        <p:spPr>
          <a:xfrm>
            <a:off x="11155680" y="287121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1" name="Oval 390"/>
          <p:cNvSpPr/>
          <p:nvPr/>
        </p:nvSpPr>
        <p:spPr>
          <a:xfrm>
            <a:off x="11155680" y="303580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2" name="Oval 391"/>
          <p:cNvSpPr/>
          <p:nvPr/>
        </p:nvSpPr>
        <p:spPr>
          <a:xfrm>
            <a:off x="11155680" y="320040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3" name="Oval 392"/>
          <p:cNvSpPr/>
          <p:nvPr/>
        </p:nvSpPr>
        <p:spPr>
          <a:xfrm>
            <a:off x="11155680" y="336499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4" name="Oval 393"/>
          <p:cNvSpPr/>
          <p:nvPr/>
        </p:nvSpPr>
        <p:spPr>
          <a:xfrm>
            <a:off x="11155680" y="352958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5" name="Oval 394"/>
          <p:cNvSpPr/>
          <p:nvPr/>
        </p:nvSpPr>
        <p:spPr>
          <a:xfrm>
            <a:off x="11155680" y="369417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6" name="Oval 395"/>
          <p:cNvSpPr/>
          <p:nvPr/>
        </p:nvSpPr>
        <p:spPr>
          <a:xfrm>
            <a:off x="11155680" y="385876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7" name="Oval 396"/>
          <p:cNvSpPr/>
          <p:nvPr/>
        </p:nvSpPr>
        <p:spPr>
          <a:xfrm>
            <a:off x="11155680" y="402336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8" name="Oval 397"/>
          <p:cNvSpPr/>
          <p:nvPr/>
        </p:nvSpPr>
        <p:spPr>
          <a:xfrm>
            <a:off x="11155680" y="41879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9" name="Oval 398"/>
          <p:cNvSpPr/>
          <p:nvPr/>
        </p:nvSpPr>
        <p:spPr>
          <a:xfrm>
            <a:off x="11155680" y="43525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0" name="Oval 399"/>
          <p:cNvSpPr/>
          <p:nvPr/>
        </p:nvSpPr>
        <p:spPr>
          <a:xfrm>
            <a:off x="11155680" y="45171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1" name="Oval 400"/>
          <p:cNvSpPr/>
          <p:nvPr/>
        </p:nvSpPr>
        <p:spPr>
          <a:xfrm>
            <a:off x="11155680" y="46817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2" name="Oval 401"/>
          <p:cNvSpPr/>
          <p:nvPr/>
        </p:nvSpPr>
        <p:spPr>
          <a:xfrm>
            <a:off x="11155680" y="48463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3" name="Oval 402"/>
          <p:cNvSpPr/>
          <p:nvPr/>
        </p:nvSpPr>
        <p:spPr>
          <a:xfrm>
            <a:off x="11155680" y="50109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4" name="Oval 403"/>
          <p:cNvSpPr/>
          <p:nvPr/>
        </p:nvSpPr>
        <p:spPr>
          <a:xfrm>
            <a:off x="11155680" y="51755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5" name="Oval 404"/>
          <p:cNvSpPr/>
          <p:nvPr/>
        </p:nvSpPr>
        <p:spPr>
          <a:xfrm>
            <a:off x="11155680" y="53400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6" name="Oval 405"/>
          <p:cNvSpPr/>
          <p:nvPr/>
        </p:nvSpPr>
        <p:spPr>
          <a:xfrm>
            <a:off x="11155680" y="55046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7" name="Oval 406"/>
          <p:cNvSpPr/>
          <p:nvPr/>
        </p:nvSpPr>
        <p:spPr>
          <a:xfrm>
            <a:off x="11155680" y="56692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8" name="Oval 407"/>
          <p:cNvSpPr/>
          <p:nvPr/>
        </p:nvSpPr>
        <p:spPr>
          <a:xfrm>
            <a:off x="11155680" y="58338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9" name="Oval 408"/>
          <p:cNvSpPr/>
          <p:nvPr/>
        </p:nvSpPr>
        <p:spPr>
          <a:xfrm>
            <a:off x="11155680" y="59984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0" name="Oval 409"/>
          <p:cNvSpPr/>
          <p:nvPr/>
        </p:nvSpPr>
        <p:spPr>
          <a:xfrm>
            <a:off x="11155680" y="61630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1" name="Oval 410"/>
          <p:cNvSpPr/>
          <p:nvPr/>
        </p:nvSpPr>
        <p:spPr>
          <a:xfrm>
            <a:off x="11155680" y="63276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2" name="Oval 411"/>
          <p:cNvSpPr/>
          <p:nvPr/>
        </p:nvSpPr>
        <p:spPr>
          <a:xfrm>
            <a:off x="11155680" y="64922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3" name="Oval 412"/>
          <p:cNvSpPr/>
          <p:nvPr/>
        </p:nvSpPr>
        <p:spPr>
          <a:xfrm>
            <a:off x="11155680" y="66568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4" name="Oval 413"/>
          <p:cNvSpPr/>
          <p:nvPr/>
        </p:nvSpPr>
        <p:spPr>
          <a:xfrm>
            <a:off x="11320272" y="731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5" name="Oval 414"/>
          <p:cNvSpPr/>
          <p:nvPr/>
        </p:nvSpPr>
        <p:spPr>
          <a:xfrm>
            <a:off x="11320272" y="2377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6" name="Oval 415"/>
          <p:cNvSpPr/>
          <p:nvPr/>
        </p:nvSpPr>
        <p:spPr>
          <a:xfrm>
            <a:off x="11320272" y="4023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7" name="Oval 416"/>
          <p:cNvSpPr/>
          <p:nvPr/>
        </p:nvSpPr>
        <p:spPr>
          <a:xfrm>
            <a:off x="11320272" y="5669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8" name="Oval 417"/>
          <p:cNvSpPr/>
          <p:nvPr/>
        </p:nvSpPr>
        <p:spPr>
          <a:xfrm>
            <a:off x="11320272" y="7315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9" name="Oval 418"/>
          <p:cNvSpPr/>
          <p:nvPr/>
        </p:nvSpPr>
        <p:spPr>
          <a:xfrm>
            <a:off x="11320272" y="8961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0" name="Oval 419"/>
          <p:cNvSpPr/>
          <p:nvPr/>
        </p:nvSpPr>
        <p:spPr>
          <a:xfrm>
            <a:off x="11320272" y="10607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1" name="Oval 420"/>
          <p:cNvSpPr/>
          <p:nvPr/>
        </p:nvSpPr>
        <p:spPr>
          <a:xfrm>
            <a:off x="11320272" y="12252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2" name="Oval 421"/>
          <p:cNvSpPr/>
          <p:nvPr/>
        </p:nvSpPr>
        <p:spPr>
          <a:xfrm>
            <a:off x="11320272" y="13898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3" name="Oval 422"/>
          <p:cNvSpPr/>
          <p:nvPr/>
        </p:nvSpPr>
        <p:spPr>
          <a:xfrm>
            <a:off x="11320272" y="15544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4" name="Oval 423"/>
          <p:cNvSpPr/>
          <p:nvPr/>
        </p:nvSpPr>
        <p:spPr>
          <a:xfrm>
            <a:off x="11320272" y="17190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5" name="Oval 424"/>
          <p:cNvSpPr/>
          <p:nvPr/>
        </p:nvSpPr>
        <p:spPr>
          <a:xfrm>
            <a:off x="11320272" y="18836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6" name="Oval 425"/>
          <p:cNvSpPr/>
          <p:nvPr/>
        </p:nvSpPr>
        <p:spPr>
          <a:xfrm>
            <a:off x="11320272" y="20482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7" name="Oval 426"/>
          <p:cNvSpPr/>
          <p:nvPr/>
        </p:nvSpPr>
        <p:spPr>
          <a:xfrm>
            <a:off x="11320272" y="22128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8" name="Oval 427"/>
          <p:cNvSpPr/>
          <p:nvPr/>
        </p:nvSpPr>
        <p:spPr>
          <a:xfrm>
            <a:off x="11320272" y="23774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9" name="Oval 428"/>
          <p:cNvSpPr/>
          <p:nvPr/>
        </p:nvSpPr>
        <p:spPr>
          <a:xfrm>
            <a:off x="11320272" y="25420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0" name="Oval 429"/>
          <p:cNvSpPr/>
          <p:nvPr/>
        </p:nvSpPr>
        <p:spPr>
          <a:xfrm>
            <a:off x="11320272" y="270662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1" name="Oval 430"/>
          <p:cNvSpPr/>
          <p:nvPr/>
        </p:nvSpPr>
        <p:spPr>
          <a:xfrm>
            <a:off x="11320272" y="287121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2" name="Oval 431"/>
          <p:cNvSpPr/>
          <p:nvPr/>
        </p:nvSpPr>
        <p:spPr>
          <a:xfrm>
            <a:off x="11320272" y="303580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3" name="Oval 432"/>
          <p:cNvSpPr/>
          <p:nvPr/>
        </p:nvSpPr>
        <p:spPr>
          <a:xfrm>
            <a:off x="11320272" y="320040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4" name="Oval 433"/>
          <p:cNvSpPr/>
          <p:nvPr/>
        </p:nvSpPr>
        <p:spPr>
          <a:xfrm>
            <a:off x="11320272" y="336499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5" name="Oval 434"/>
          <p:cNvSpPr/>
          <p:nvPr/>
        </p:nvSpPr>
        <p:spPr>
          <a:xfrm>
            <a:off x="11320272" y="352958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6" name="Oval 435"/>
          <p:cNvSpPr/>
          <p:nvPr/>
        </p:nvSpPr>
        <p:spPr>
          <a:xfrm>
            <a:off x="11320272" y="369417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7" name="Oval 436"/>
          <p:cNvSpPr/>
          <p:nvPr/>
        </p:nvSpPr>
        <p:spPr>
          <a:xfrm>
            <a:off x="11320272" y="385876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8" name="Oval 437"/>
          <p:cNvSpPr/>
          <p:nvPr/>
        </p:nvSpPr>
        <p:spPr>
          <a:xfrm>
            <a:off x="11320272" y="402336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9" name="Oval 438"/>
          <p:cNvSpPr/>
          <p:nvPr/>
        </p:nvSpPr>
        <p:spPr>
          <a:xfrm>
            <a:off x="11320272" y="41879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0" name="Oval 439"/>
          <p:cNvSpPr/>
          <p:nvPr/>
        </p:nvSpPr>
        <p:spPr>
          <a:xfrm>
            <a:off x="11320272" y="43525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1" name="Oval 440"/>
          <p:cNvSpPr/>
          <p:nvPr/>
        </p:nvSpPr>
        <p:spPr>
          <a:xfrm>
            <a:off x="11320272" y="45171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2" name="Oval 441"/>
          <p:cNvSpPr/>
          <p:nvPr/>
        </p:nvSpPr>
        <p:spPr>
          <a:xfrm>
            <a:off x="11320272" y="46817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3" name="Oval 442"/>
          <p:cNvSpPr/>
          <p:nvPr/>
        </p:nvSpPr>
        <p:spPr>
          <a:xfrm>
            <a:off x="11320272" y="48463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4" name="Oval 443"/>
          <p:cNvSpPr/>
          <p:nvPr/>
        </p:nvSpPr>
        <p:spPr>
          <a:xfrm>
            <a:off x="11320272" y="50109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5" name="Oval 444"/>
          <p:cNvSpPr/>
          <p:nvPr/>
        </p:nvSpPr>
        <p:spPr>
          <a:xfrm>
            <a:off x="11320272" y="51755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6" name="Oval 445"/>
          <p:cNvSpPr/>
          <p:nvPr/>
        </p:nvSpPr>
        <p:spPr>
          <a:xfrm>
            <a:off x="11320272" y="53400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7" name="Oval 446"/>
          <p:cNvSpPr/>
          <p:nvPr/>
        </p:nvSpPr>
        <p:spPr>
          <a:xfrm>
            <a:off x="11320272" y="55046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8" name="Oval 447"/>
          <p:cNvSpPr/>
          <p:nvPr/>
        </p:nvSpPr>
        <p:spPr>
          <a:xfrm>
            <a:off x="11320272" y="56692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9" name="Oval 448"/>
          <p:cNvSpPr/>
          <p:nvPr/>
        </p:nvSpPr>
        <p:spPr>
          <a:xfrm>
            <a:off x="11320272" y="58338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0" name="Oval 449"/>
          <p:cNvSpPr/>
          <p:nvPr/>
        </p:nvSpPr>
        <p:spPr>
          <a:xfrm>
            <a:off x="11320272" y="59984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1" name="Oval 450"/>
          <p:cNvSpPr/>
          <p:nvPr/>
        </p:nvSpPr>
        <p:spPr>
          <a:xfrm>
            <a:off x="11320272" y="61630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2" name="Oval 451"/>
          <p:cNvSpPr/>
          <p:nvPr/>
        </p:nvSpPr>
        <p:spPr>
          <a:xfrm>
            <a:off x="11320272" y="63276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3" name="Oval 452"/>
          <p:cNvSpPr/>
          <p:nvPr/>
        </p:nvSpPr>
        <p:spPr>
          <a:xfrm>
            <a:off x="11320272" y="64922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4" name="Oval 453"/>
          <p:cNvSpPr/>
          <p:nvPr/>
        </p:nvSpPr>
        <p:spPr>
          <a:xfrm>
            <a:off x="11320272" y="66568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5" name="Oval 454"/>
          <p:cNvSpPr/>
          <p:nvPr/>
        </p:nvSpPr>
        <p:spPr>
          <a:xfrm>
            <a:off x="11484864" y="731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6" name="Oval 455"/>
          <p:cNvSpPr/>
          <p:nvPr/>
        </p:nvSpPr>
        <p:spPr>
          <a:xfrm>
            <a:off x="11484864" y="2377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7" name="Oval 456"/>
          <p:cNvSpPr/>
          <p:nvPr/>
        </p:nvSpPr>
        <p:spPr>
          <a:xfrm>
            <a:off x="11484864" y="4023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8" name="Oval 457"/>
          <p:cNvSpPr/>
          <p:nvPr/>
        </p:nvSpPr>
        <p:spPr>
          <a:xfrm>
            <a:off x="11484864" y="5669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9" name="Oval 458"/>
          <p:cNvSpPr/>
          <p:nvPr/>
        </p:nvSpPr>
        <p:spPr>
          <a:xfrm>
            <a:off x="11484864" y="7315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0" name="Oval 459"/>
          <p:cNvSpPr/>
          <p:nvPr/>
        </p:nvSpPr>
        <p:spPr>
          <a:xfrm>
            <a:off x="11484864" y="8961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1" name="Oval 460"/>
          <p:cNvSpPr/>
          <p:nvPr/>
        </p:nvSpPr>
        <p:spPr>
          <a:xfrm>
            <a:off x="11484864" y="10607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2" name="Oval 461"/>
          <p:cNvSpPr/>
          <p:nvPr/>
        </p:nvSpPr>
        <p:spPr>
          <a:xfrm>
            <a:off x="11484864" y="12252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3" name="Oval 462"/>
          <p:cNvSpPr/>
          <p:nvPr/>
        </p:nvSpPr>
        <p:spPr>
          <a:xfrm>
            <a:off x="11484864" y="13898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4" name="Oval 463"/>
          <p:cNvSpPr/>
          <p:nvPr/>
        </p:nvSpPr>
        <p:spPr>
          <a:xfrm>
            <a:off x="11484864" y="15544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5" name="Oval 464"/>
          <p:cNvSpPr/>
          <p:nvPr/>
        </p:nvSpPr>
        <p:spPr>
          <a:xfrm>
            <a:off x="11484864" y="17190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6" name="Oval 465"/>
          <p:cNvSpPr/>
          <p:nvPr/>
        </p:nvSpPr>
        <p:spPr>
          <a:xfrm>
            <a:off x="11484864" y="18836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7" name="Oval 466"/>
          <p:cNvSpPr/>
          <p:nvPr/>
        </p:nvSpPr>
        <p:spPr>
          <a:xfrm>
            <a:off x="11484864" y="20482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8" name="Oval 467"/>
          <p:cNvSpPr/>
          <p:nvPr/>
        </p:nvSpPr>
        <p:spPr>
          <a:xfrm>
            <a:off x="11484864" y="22128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9" name="Oval 468"/>
          <p:cNvSpPr/>
          <p:nvPr/>
        </p:nvSpPr>
        <p:spPr>
          <a:xfrm>
            <a:off x="11484864" y="23774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0" name="Oval 469"/>
          <p:cNvSpPr/>
          <p:nvPr/>
        </p:nvSpPr>
        <p:spPr>
          <a:xfrm>
            <a:off x="11484864" y="25420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1" name="Oval 470"/>
          <p:cNvSpPr/>
          <p:nvPr/>
        </p:nvSpPr>
        <p:spPr>
          <a:xfrm>
            <a:off x="11484864" y="270662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2" name="Oval 471"/>
          <p:cNvSpPr/>
          <p:nvPr/>
        </p:nvSpPr>
        <p:spPr>
          <a:xfrm>
            <a:off x="11484864" y="287121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3" name="Oval 472"/>
          <p:cNvSpPr/>
          <p:nvPr/>
        </p:nvSpPr>
        <p:spPr>
          <a:xfrm>
            <a:off x="11484864" y="303580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4" name="Oval 473"/>
          <p:cNvSpPr/>
          <p:nvPr/>
        </p:nvSpPr>
        <p:spPr>
          <a:xfrm>
            <a:off x="11484864" y="320040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5" name="Oval 474"/>
          <p:cNvSpPr/>
          <p:nvPr/>
        </p:nvSpPr>
        <p:spPr>
          <a:xfrm>
            <a:off x="11484864" y="336499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6" name="Oval 475"/>
          <p:cNvSpPr/>
          <p:nvPr/>
        </p:nvSpPr>
        <p:spPr>
          <a:xfrm>
            <a:off x="11484864" y="352958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7" name="Oval 476"/>
          <p:cNvSpPr/>
          <p:nvPr/>
        </p:nvSpPr>
        <p:spPr>
          <a:xfrm>
            <a:off x="11484864" y="369417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8" name="Oval 477"/>
          <p:cNvSpPr/>
          <p:nvPr/>
        </p:nvSpPr>
        <p:spPr>
          <a:xfrm>
            <a:off x="11484864" y="385876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9" name="Oval 478"/>
          <p:cNvSpPr/>
          <p:nvPr/>
        </p:nvSpPr>
        <p:spPr>
          <a:xfrm>
            <a:off x="11484864" y="402336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0" name="Oval 479"/>
          <p:cNvSpPr/>
          <p:nvPr/>
        </p:nvSpPr>
        <p:spPr>
          <a:xfrm>
            <a:off x="11484864" y="41879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1" name="Oval 480"/>
          <p:cNvSpPr/>
          <p:nvPr/>
        </p:nvSpPr>
        <p:spPr>
          <a:xfrm>
            <a:off x="11484864" y="43525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2" name="Oval 481"/>
          <p:cNvSpPr/>
          <p:nvPr/>
        </p:nvSpPr>
        <p:spPr>
          <a:xfrm>
            <a:off x="11484864" y="45171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3" name="Oval 482"/>
          <p:cNvSpPr/>
          <p:nvPr/>
        </p:nvSpPr>
        <p:spPr>
          <a:xfrm>
            <a:off x="11484864" y="46817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4" name="Oval 483"/>
          <p:cNvSpPr/>
          <p:nvPr/>
        </p:nvSpPr>
        <p:spPr>
          <a:xfrm>
            <a:off x="11484864" y="48463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5" name="Oval 484"/>
          <p:cNvSpPr/>
          <p:nvPr/>
        </p:nvSpPr>
        <p:spPr>
          <a:xfrm>
            <a:off x="11484864" y="50109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6" name="Oval 485"/>
          <p:cNvSpPr/>
          <p:nvPr/>
        </p:nvSpPr>
        <p:spPr>
          <a:xfrm>
            <a:off x="11484864" y="51755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7" name="Oval 486"/>
          <p:cNvSpPr/>
          <p:nvPr/>
        </p:nvSpPr>
        <p:spPr>
          <a:xfrm>
            <a:off x="11484864" y="53400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8" name="Oval 487"/>
          <p:cNvSpPr/>
          <p:nvPr/>
        </p:nvSpPr>
        <p:spPr>
          <a:xfrm>
            <a:off x="11484864" y="55046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9" name="Oval 488"/>
          <p:cNvSpPr/>
          <p:nvPr/>
        </p:nvSpPr>
        <p:spPr>
          <a:xfrm>
            <a:off x="11484864" y="56692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0" name="Oval 489"/>
          <p:cNvSpPr/>
          <p:nvPr/>
        </p:nvSpPr>
        <p:spPr>
          <a:xfrm>
            <a:off x="11484864" y="58338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1" name="Oval 490"/>
          <p:cNvSpPr/>
          <p:nvPr/>
        </p:nvSpPr>
        <p:spPr>
          <a:xfrm>
            <a:off x="11484864" y="59984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2" name="Oval 491"/>
          <p:cNvSpPr/>
          <p:nvPr/>
        </p:nvSpPr>
        <p:spPr>
          <a:xfrm>
            <a:off x="11484864" y="61630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3" name="Oval 492"/>
          <p:cNvSpPr/>
          <p:nvPr/>
        </p:nvSpPr>
        <p:spPr>
          <a:xfrm>
            <a:off x="11484864" y="63276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4" name="Oval 493"/>
          <p:cNvSpPr/>
          <p:nvPr/>
        </p:nvSpPr>
        <p:spPr>
          <a:xfrm>
            <a:off x="11484864" y="64922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5" name="Oval 494"/>
          <p:cNvSpPr/>
          <p:nvPr/>
        </p:nvSpPr>
        <p:spPr>
          <a:xfrm>
            <a:off x="11484864" y="66568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6" name="Oval 495"/>
          <p:cNvSpPr/>
          <p:nvPr/>
        </p:nvSpPr>
        <p:spPr>
          <a:xfrm>
            <a:off x="11649456" y="731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7" name="Oval 496"/>
          <p:cNvSpPr/>
          <p:nvPr/>
        </p:nvSpPr>
        <p:spPr>
          <a:xfrm>
            <a:off x="11649456" y="2377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8" name="Oval 497"/>
          <p:cNvSpPr/>
          <p:nvPr/>
        </p:nvSpPr>
        <p:spPr>
          <a:xfrm>
            <a:off x="11649456" y="4023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9" name="Oval 498"/>
          <p:cNvSpPr/>
          <p:nvPr/>
        </p:nvSpPr>
        <p:spPr>
          <a:xfrm>
            <a:off x="11649456" y="5669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0" name="Oval 499"/>
          <p:cNvSpPr/>
          <p:nvPr/>
        </p:nvSpPr>
        <p:spPr>
          <a:xfrm>
            <a:off x="11649456" y="7315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1" name="Oval 500"/>
          <p:cNvSpPr/>
          <p:nvPr/>
        </p:nvSpPr>
        <p:spPr>
          <a:xfrm>
            <a:off x="11649456" y="8961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2" name="Oval 501"/>
          <p:cNvSpPr/>
          <p:nvPr/>
        </p:nvSpPr>
        <p:spPr>
          <a:xfrm>
            <a:off x="11649456" y="10607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3" name="Oval 502"/>
          <p:cNvSpPr/>
          <p:nvPr/>
        </p:nvSpPr>
        <p:spPr>
          <a:xfrm>
            <a:off x="11649456" y="12252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4" name="Oval 503"/>
          <p:cNvSpPr/>
          <p:nvPr/>
        </p:nvSpPr>
        <p:spPr>
          <a:xfrm>
            <a:off x="11649456" y="13898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5" name="Oval 504"/>
          <p:cNvSpPr/>
          <p:nvPr/>
        </p:nvSpPr>
        <p:spPr>
          <a:xfrm>
            <a:off x="11649456" y="15544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6" name="Oval 505"/>
          <p:cNvSpPr/>
          <p:nvPr/>
        </p:nvSpPr>
        <p:spPr>
          <a:xfrm>
            <a:off x="11649456" y="17190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7" name="Oval 506"/>
          <p:cNvSpPr/>
          <p:nvPr/>
        </p:nvSpPr>
        <p:spPr>
          <a:xfrm>
            <a:off x="11649456" y="18836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8" name="Oval 507"/>
          <p:cNvSpPr/>
          <p:nvPr/>
        </p:nvSpPr>
        <p:spPr>
          <a:xfrm>
            <a:off x="11649456" y="20482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9" name="Oval 508"/>
          <p:cNvSpPr/>
          <p:nvPr/>
        </p:nvSpPr>
        <p:spPr>
          <a:xfrm>
            <a:off x="11649456" y="22128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0" name="Oval 509"/>
          <p:cNvSpPr/>
          <p:nvPr/>
        </p:nvSpPr>
        <p:spPr>
          <a:xfrm>
            <a:off x="11649456" y="23774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1" name="Oval 510"/>
          <p:cNvSpPr/>
          <p:nvPr/>
        </p:nvSpPr>
        <p:spPr>
          <a:xfrm>
            <a:off x="11649456" y="25420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2" name="Oval 511"/>
          <p:cNvSpPr/>
          <p:nvPr/>
        </p:nvSpPr>
        <p:spPr>
          <a:xfrm>
            <a:off x="11649456" y="270662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3" name="Oval 512"/>
          <p:cNvSpPr/>
          <p:nvPr/>
        </p:nvSpPr>
        <p:spPr>
          <a:xfrm>
            <a:off x="11649456" y="287121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4" name="Oval 513"/>
          <p:cNvSpPr/>
          <p:nvPr/>
        </p:nvSpPr>
        <p:spPr>
          <a:xfrm>
            <a:off x="11649456" y="303580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5" name="Oval 514"/>
          <p:cNvSpPr/>
          <p:nvPr/>
        </p:nvSpPr>
        <p:spPr>
          <a:xfrm>
            <a:off x="11649456" y="320040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6" name="Oval 515"/>
          <p:cNvSpPr/>
          <p:nvPr/>
        </p:nvSpPr>
        <p:spPr>
          <a:xfrm>
            <a:off x="11649456" y="336499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7" name="Oval 516"/>
          <p:cNvSpPr/>
          <p:nvPr/>
        </p:nvSpPr>
        <p:spPr>
          <a:xfrm>
            <a:off x="11649456" y="352958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8" name="Oval 517"/>
          <p:cNvSpPr/>
          <p:nvPr/>
        </p:nvSpPr>
        <p:spPr>
          <a:xfrm>
            <a:off x="11649456" y="369417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9" name="Oval 518"/>
          <p:cNvSpPr/>
          <p:nvPr/>
        </p:nvSpPr>
        <p:spPr>
          <a:xfrm>
            <a:off x="11649456" y="385876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0" name="Oval 519"/>
          <p:cNvSpPr/>
          <p:nvPr/>
        </p:nvSpPr>
        <p:spPr>
          <a:xfrm>
            <a:off x="11649456" y="402336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1" name="Oval 520"/>
          <p:cNvSpPr/>
          <p:nvPr/>
        </p:nvSpPr>
        <p:spPr>
          <a:xfrm>
            <a:off x="11649456" y="41879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2" name="Oval 521"/>
          <p:cNvSpPr/>
          <p:nvPr/>
        </p:nvSpPr>
        <p:spPr>
          <a:xfrm>
            <a:off x="11649456" y="43525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3" name="Oval 522"/>
          <p:cNvSpPr/>
          <p:nvPr/>
        </p:nvSpPr>
        <p:spPr>
          <a:xfrm>
            <a:off x="11649456" y="45171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4" name="Oval 523"/>
          <p:cNvSpPr/>
          <p:nvPr/>
        </p:nvSpPr>
        <p:spPr>
          <a:xfrm>
            <a:off x="11649456" y="46817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5" name="Oval 524"/>
          <p:cNvSpPr/>
          <p:nvPr/>
        </p:nvSpPr>
        <p:spPr>
          <a:xfrm>
            <a:off x="11649456" y="48463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6" name="Oval 525"/>
          <p:cNvSpPr/>
          <p:nvPr/>
        </p:nvSpPr>
        <p:spPr>
          <a:xfrm>
            <a:off x="11649456" y="50109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7" name="Oval 526"/>
          <p:cNvSpPr/>
          <p:nvPr/>
        </p:nvSpPr>
        <p:spPr>
          <a:xfrm>
            <a:off x="11649456" y="51755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8" name="Oval 527"/>
          <p:cNvSpPr/>
          <p:nvPr/>
        </p:nvSpPr>
        <p:spPr>
          <a:xfrm>
            <a:off x="11649456" y="53400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9" name="Oval 528"/>
          <p:cNvSpPr/>
          <p:nvPr/>
        </p:nvSpPr>
        <p:spPr>
          <a:xfrm>
            <a:off x="11649456" y="55046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0" name="Oval 529"/>
          <p:cNvSpPr/>
          <p:nvPr/>
        </p:nvSpPr>
        <p:spPr>
          <a:xfrm>
            <a:off x="11649456" y="56692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1" name="Oval 530"/>
          <p:cNvSpPr/>
          <p:nvPr/>
        </p:nvSpPr>
        <p:spPr>
          <a:xfrm>
            <a:off x="11649456" y="58338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2" name="Oval 531"/>
          <p:cNvSpPr/>
          <p:nvPr/>
        </p:nvSpPr>
        <p:spPr>
          <a:xfrm>
            <a:off x="11649456" y="59984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3" name="Oval 532"/>
          <p:cNvSpPr/>
          <p:nvPr/>
        </p:nvSpPr>
        <p:spPr>
          <a:xfrm>
            <a:off x="11649456" y="61630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4" name="Oval 533"/>
          <p:cNvSpPr/>
          <p:nvPr/>
        </p:nvSpPr>
        <p:spPr>
          <a:xfrm>
            <a:off x="11649456" y="63276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5" name="Oval 534"/>
          <p:cNvSpPr/>
          <p:nvPr/>
        </p:nvSpPr>
        <p:spPr>
          <a:xfrm>
            <a:off x="11649456" y="64922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6" name="Oval 535"/>
          <p:cNvSpPr/>
          <p:nvPr/>
        </p:nvSpPr>
        <p:spPr>
          <a:xfrm>
            <a:off x="11649456" y="66568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7" name="Oval 536"/>
          <p:cNvSpPr/>
          <p:nvPr/>
        </p:nvSpPr>
        <p:spPr>
          <a:xfrm>
            <a:off x="11814048" y="731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8" name="Oval 537"/>
          <p:cNvSpPr/>
          <p:nvPr/>
        </p:nvSpPr>
        <p:spPr>
          <a:xfrm>
            <a:off x="11814048" y="2377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9" name="Oval 538"/>
          <p:cNvSpPr/>
          <p:nvPr/>
        </p:nvSpPr>
        <p:spPr>
          <a:xfrm>
            <a:off x="11814048" y="4023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0" name="Oval 539"/>
          <p:cNvSpPr/>
          <p:nvPr/>
        </p:nvSpPr>
        <p:spPr>
          <a:xfrm>
            <a:off x="11814048" y="5669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1" name="Oval 540"/>
          <p:cNvSpPr/>
          <p:nvPr/>
        </p:nvSpPr>
        <p:spPr>
          <a:xfrm>
            <a:off x="11814048" y="7315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2" name="Oval 541"/>
          <p:cNvSpPr/>
          <p:nvPr/>
        </p:nvSpPr>
        <p:spPr>
          <a:xfrm>
            <a:off x="11814048" y="8961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3" name="Oval 542"/>
          <p:cNvSpPr/>
          <p:nvPr/>
        </p:nvSpPr>
        <p:spPr>
          <a:xfrm>
            <a:off x="11814048" y="10607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4" name="Oval 543"/>
          <p:cNvSpPr/>
          <p:nvPr/>
        </p:nvSpPr>
        <p:spPr>
          <a:xfrm>
            <a:off x="11814048" y="12252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5" name="Oval 544"/>
          <p:cNvSpPr/>
          <p:nvPr/>
        </p:nvSpPr>
        <p:spPr>
          <a:xfrm>
            <a:off x="11814048" y="13898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6" name="Oval 545"/>
          <p:cNvSpPr/>
          <p:nvPr/>
        </p:nvSpPr>
        <p:spPr>
          <a:xfrm>
            <a:off x="11814048" y="15544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7" name="Oval 546"/>
          <p:cNvSpPr/>
          <p:nvPr/>
        </p:nvSpPr>
        <p:spPr>
          <a:xfrm>
            <a:off x="11814048" y="17190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8" name="Oval 547"/>
          <p:cNvSpPr/>
          <p:nvPr/>
        </p:nvSpPr>
        <p:spPr>
          <a:xfrm>
            <a:off x="11814048" y="18836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9" name="Oval 548"/>
          <p:cNvSpPr/>
          <p:nvPr/>
        </p:nvSpPr>
        <p:spPr>
          <a:xfrm>
            <a:off x="11814048" y="20482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0" name="Oval 549"/>
          <p:cNvSpPr/>
          <p:nvPr/>
        </p:nvSpPr>
        <p:spPr>
          <a:xfrm>
            <a:off x="11814048" y="22128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1" name="Oval 550"/>
          <p:cNvSpPr/>
          <p:nvPr/>
        </p:nvSpPr>
        <p:spPr>
          <a:xfrm>
            <a:off x="11814048" y="23774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2" name="Oval 551"/>
          <p:cNvSpPr/>
          <p:nvPr/>
        </p:nvSpPr>
        <p:spPr>
          <a:xfrm>
            <a:off x="11814048" y="25420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3" name="Oval 552"/>
          <p:cNvSpPr/>
          <p:nvPr/>
        </p:nvSpPr>
        <p:spPr>
          <a:xfrm>
            <a:off x="11814048" y="270662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4" name="Oval 553"/>
          <p:cNvSpPr/>
          <p:nvPr/>
        </p:nvSpPr>
        <p:spPr>
          <a:xfrm>
            <a:off x="11814048" y="287121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5" name="Oval 554"/>
          <p:cNvSpPr/>
          <p:nvPr/>
        </p:nvSpPr>
        <p:spPr>
          <a:xfrm>
            <a:off x="11814048" y="303580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6" name="Oval 555"/>
          <p:cNvSpPr/>
          <p:nvPr/>
        </p:nvSpPr>
        <p:spPr>
          <a:xfrm>
            <a:off x="11814048" y="320040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7" name="Oval 556"/>
          <p:cNvSpPr/>
          <p:nvPr/>
        </p:nvSpPr>
        <p:spPr>
          <a:xfrm>
            <a:off x="11814048" y="336499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8" name="Oval 557"/>
          <p:cNvSpPr/>
          <p:nvPr/>
        </p:nvSpPr>
        <p:spPr>
          <a:xfrm>
            <a:off x="11814048" y="352958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9" name="Oval 558"/>
          <p:cNvSpPr/>
          <p:nvPr/>
        </p:nvSpPr>
        <p:spPr>
          <a:xfrm>
            <a:off x="11814048" y="369417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0" name="Oval 559"/>
          <p:cNvSpPr/>
          <p:nvPr/>
        </p:nvSpPr>
        <p:spPr>
          <a:xfrm>
            <a:off x="11814048" y="385876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1" name="Oval 560"/>
          <p:cNvSpPr/>
          <p:nvPr/>
        </p:nvSpPr>
        <p:spPr>
          <a:xfrm>
            <a:off x="11814048" y="402336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2" name="Oval 561"/>
          <p:cNvSpPr/>
          <p:nvPr/>
        </p:nvSpPr>
        <p:spPr>
          <a:xfrm>
            <a:off x="11814048" y="41879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3" name="Oval 562"/>
          <p:cNvSpPr/>
          <p:nvPr/>
        </p:nvSpPr>
        <p:spPr>
          <a:xfrm>
            <a:off x="11814048" y="43525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4" name="Oval 563"/>
          <p:cNvSpPr/>
          <p:nvPr/>
        </p:nvSpPr>
        <p:spPr>
          <a:xfrm>
            <a:off x="11814048" y="45171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5" name="Oval 564"/>
          <p:cNvSpPr/>
          <p:nvPr/>
        </p:nvSpPr>
        <p:spPr>
          <a:xfrm>
            <a:off x="11814048" y="46817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6" name="Oval 565"/>
          <p:cNvSpPr/>
          <p:nvPr/>
        </p:nvSpPr>
        <p:spPr>
          <a:xfrm>
            <a:off x="11814048" y="48463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7" name="Oval 566"/>
          <p:cNvSpPr/>
          <p:nvPr/>
        </p:nvSpPr>
        <p:spPr>
          <a:xfrm>
            <a:off x="11814048" y="50109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8" name="Oval 567"/>
          <p:cNvSpPr/>
          <p:nvPr/>
        </p:nvSpPr>
        <p:spPr>
          <a:xfrm>
            <a:off x="11814048" y="51755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9" name="Oval 568"/>
          <p:cNvSpPr/>
          <p:nvPr/>
        </p:nvSpPr>
        <p:spPr>
          <a:xfrm>
            <a:off x="11814048" y="53400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0" name="Oval 569"/>
          <p:cNvSpPr/>
          <p:nvPr/>
        </p:nvSpPr>
        <p:spPr>
          <a:xfrm>
            <a:off x="11814048" y="55046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1" name="Oval 570"/>
          <p:cNvSpPr/>
          <p:nvPr/>
        </p:nvSpPr>
        <p:spPr>
          <a:xfrm>
            <a:off x="11814048" y="56692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2" name="Oval 571"/>
          <p:cNvSpPr/>
          <p:nvPr/>
        </p:nvSpPr>
        <p:spPr>
          <a:xfrm>
            <a:off x="11814048" y="58338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3" name="Oval 572"/>
          <p:cNvSpPr/>
          <p:nvPr/>
        </p:nvSpPr>
        <p:spPr>
          <a:xfrm>
            <a:off x="11814048" y="59984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4" name="Oval 573"/>
          <p:cNvSpPr/>
          <p:nvPr/>
        </p:nvSpPr>
        <p:spPr>
          <a:xfrm>
            <a:off x="11814048" y="61630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5" name="Oval 574"/>
          <p:cNvSpPr/>
          <p:nvPr/>
        </p:nvSpPr>
        <p:spPr>
          <a:xfrm>
            <a:off x="11814048" y="63276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6" name="Oval 575"/>
          <p:cNvSpPr/>
          <p:nvPr/>
        </p:nvSpPr>
        <p:spPr>
          <a:xfrm>
            <a:off x="11814048" y="64922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7" name="Oval 576"/>
          <p:cNvSpPr/>
          <p:nvPr/>
        </p:nvSpPr>
        <p:spPr>
          <a:xfrm>
            <a:off x="11814048" y="66568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8" name="Oval 577"/>
          <p:cNvSpPr/>
          <p:nvPr/>
        </p:nvSpPr>
        <p:spPr>
          <a:xfrm>
            <a:off x="11978640" y="731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9" name="Oval 578"/>
          <p:cNvSpPr/>
          <p:nvPr/>
        </p:nvSpPr>
        <p:spPr>
          <a:xfrm>
            <a:off x="11978640" y="2377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0" name="Oval 579"/>
          <p:cNvSpPr/>
          <p:nvPr/>
        </p:nvSpPr>
        <p:spPr>
          <a:xfrm>
            <a:off x="11978640" y="4023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1" name="Oval 580"/>
          <p:cNvSpPr/>
          <p:nvPr/>
        </p:nvSpPr>
        <p:spPr>
          <a:xfrm>
            <a:off x="11978640" y="5669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2" name="Oval 581"/>
          <p:cNvSpPr/>
          <p:nvPr/>
        </p:nvSpPr>
        <p:spPr>
          <a:xfrm>
            <a:off x="11978640" y="7315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3" name="Oval 582"/>
          <p:cNvSpPr/>
          <p:nvPr/>
        </p:nvSpPr>
        <p:spPr>
          <a:xfrm>
            <a:off x="11978640" y="8961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4" name="Oval 583"/>
          <p:cNvSpPr/>
          <p:nvPr/>
        </p:nvSpPr>
        <p:spPr>
          <a:xfrm>
            <a:off x="11978640" y="10607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5" name="Oval 584"/>
          <p:cNvSpPr/>
          <p:nvPr/>
        </p:nvSpPr>
        <p:spPr>
          <a:xfrm>
            <a:off x="11978640" y="12252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6" name="Oval 585"/>
          <p:cNvSpPr/>
          <p:nvPr/>
        </p:nvSpPr>
        <p:spPr>
          <a:xfrm>
            <a:off x="11978640" y="13898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7" name="Oval 586"/>
          <p:cNvSpPr/>
          <p:nvPr/>
        </p:nvSpPr>
        <p:spPr>
          <a:xfrm>
            <a:off x="11978640" y="15544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8" name="Oval 587"/>
          <p:cNvSpPr/>
          <p:nvPr/>
        </p:nvSpPr>
        <p:spPr>
          <a:xfrm>
            <a:off x="11978640" y="17190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9" name="Oval 588"/>
          <p:cNvSpPr/>
          <p:nvPr/>
        </p:nvSpPr>
        <p:spPr>
          <a:xfrm>
            <a:off x="11978640" y="18836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0" name="Oval 589"/>
          <p:cNvSpPr/>
          <p:nvPr/>
        </p:nvSpPr>
        <p:spPr>
          <a:xfrm>
            <a:off x="11978640" y="20482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1" name="Oval 590"/>
          <p:cNvSpPr/>
          <p:nvPr/>
        </p:nvSpPr>
        <p:spPr>
          <a:xfrm>
            <a:off x="11978640" y="22128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2" name="Oval 591"/>
          <p:cNvSpPr/>
          <p:nvPr/>
        </p:nvSpPr>
        <p:spPr>
          <a:xfrm>
            <a:off x="11978640" y="23774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3" name="Oval 592"/>
          <p:cNvSpPr/>
          <p:nvPr/>
        </p:nvSpPr>
        <p:spPr>
          <a:xfrm>
            <a:off x="11978640" y="25420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4" name="Oval 593"/>
          <p:cNvSpPr/>
          <p:nvPr/>
        </p:nvSpPr>
        <p:spPr>
          <a:xfrm>
            <a:off x="11978640" y="270662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5" name="Oval 594"/>
          <p:cNvSpPr/>
          <p:nvPr/>
        </p:nvSpPr>
        <p:spPr>
          <a:xfrm>
            <a:off x="11978640" y="287121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6" name="Oval 595"/>
          <p:cNvSpPr/>
          <p:nvPr/>
        </p:nvSpPr>
        <p:spPr>
          <a:xfrm>
            <a:off x="11978640" y="303580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7" name="Oval 596"/>
          <p:cNvSpPr/>
          <p:nvPr/>
        </p:nvSpPr>
        <p:spPr>
          <a:xfrm>
            <a:off x="11978640" y="320040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8" name="Oval 597"/>
          <p:cNvSpPr/>
          <p:nvPr/>
        </p:nvSpPr>
        <p:spPr>
          <a:xfrm>
            <a:off x="11978640" y="336499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9" name="Oval 598"/>
          <p:cNvSpPr/>
          <p:nvPr/>
        </p:nvSpPr>
        <p:spPr>
          <a:xfrm>
            <a:off x="11978640" y="352958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0" name="Oval 599"/>
          <p:cNvSpPr/>
          <p:nvPr/>
        </p:nvSpPr>
        <p:spPr>
          <a:xfrm>
            <a:off x="11978640" y="369417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1" name="Oval 600"/>
          <p:cNvSpPr/>
          <p:nvPr/>
        </p:nvSpPr>
        <p:spPr>
          <a:xfrm>
            <a:off x="11978640" y="385876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2" name="Oval 601"/>
          <p:cNvSpPr/>
          <p:nvPr/>
        </p:nvSpPr>
        <p:spPr>
          <a:xfrm>
            <a:off x="11978640" y="402336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3" name="Oval 602"/>
          <p:cNvSpPr/>
          <p:nvPr/>
        </p:nvSpPr>
        <p:spPr>
          <a:xfrm>
            <a:off x="11978640" y="418795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4" name="Oval 603"/>
          <p:cNvSpPr/>
          <p:nvPr/>
        </p:nvSpPr>
        <p:spPr>
          <a:xfrm>
            <a:off x="11978640" y="435254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5" name="Oval 604"/>
          <p:cNvSpPr/>
          <p:nvPr/>
        </p:nvSpPr>
        <p:spPr>
          <a:xfrm>
            <a:off x="11978640" y="451713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6" name="Oval 605"/>
          <p:cNvSpPr/>
          <p:nvPr/>
        </p:nvSpPr>
        <p:spPr>
          <a:xfrm>
            <a:off x="11978640" y="468172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7" name="Oval 606"/>
          <p:cNvSpPr/>
          <p:nvPr/>
        </p:nvSpPr>
        <p:spPr>
          <a:xfrm>
            <a:off x="11978640" y="484632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8" name="Oval 607"/>
          <p:cNvSpPr/>
          <p:nvPr/>
        </p:nvSpPr>
        <p:spPr>
          <a:xfrm>
            <a:off x="11978640" y="501091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9" name="Oval 608"/>
          <p:cNvSpPr/>
          <p:nvPr/>
        </p:nvSpPr>
        <p:spPr>
          <a:xfrm>
            <a:off x="11978640" y="517550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0" name="Oval 609"/>
          <p:cNvSpPr/>
          <p:nvPr/>
        </p:nvSpPr>
        <p:spPr>
          <a:xfrm>
            <a:off x="11978640" y="534009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1" name="Oval 610"/>
          <p:cNvSpPr/>
          <p:nvPr/>
        </p:nvSpPr>
        <p:spPr>
          <a:xfrm>
            <a:off x="11978640" y="550468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2" name="Oval 611"/>
          <p:cNvSpPr/>
          <p:nvPr/>
        </p:nvSpPr>
        <p:spPr>
          <a:xfrm>
            <a:off x="11978640" y="566928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3" name="Oval 612"/>
          <p:cNvSpPr/>
          <p:nvPr/>
        </p:nvSpPr>
        <p:spPr>
          <a:xfrm>
            <a:off x="11978640" y="583387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4" name="Oval 613"/>
          <p:cNvSpPr/>
          <p:nvPr/>
        </p:nvSpPr>
        <p:spPr>
          <a:xfrm>
            <a:off x="11978640" y="5998464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5" name="Oval 614"/>
          <p:cNvSpPr/>
          <p:nvPr/>
        </p:nvSpPr>
        <p:spPr>
          <a:xfrm>
            <a:off x="11978640" y="6163056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6" name="Oval 615"/>
          <p:cNvSpPr/>
          <p:nvPr/>
        </p:nvSpPr>
        <p:spPr>
          <a:xfrm>
            <a:off x="11978640" y="6327648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7" name="Oval 616"/>
          <p:cNvSpPr/>
          <p:nvPr/>
        </p:nvSpPr>
        <p:spPr>
          <a:xfrm>
            <a:off x="11978640" y="6492240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8" name="Oval 617"/>
          <p:cNvSpPr/>
          <p:nvPr/>
        </p:nvSpPr>
        <p:spPr>
          <a:xfrm>
            <a:off x="11978640" y="6656832"/>
            <a:ext cx="36576" cy="36576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9" name="TextBox 618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7E0FA"/>
                </a:solidFill>
                <a:latin typeface="Calibri"/>
              </a:rPr>
              <a:t>CONCLUSION</a:t>
            </a:r>
          </a:p>
        </p:txBody>
      </p:sp>
      <p:sp>
        <p:nvSpPr>
          <p:cNvPr id="620" name="TextBox 619"/>
          <p:cNvSpPr txBox="1"/>
          <p:nvPr/>
        </p:nvSpPr>
        <p:spPr>
          <a:xfrm>
            <a:off x="640080" y="960120"/>
            <a:ext cx="86868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CineEmbed ships a working</a:t>
            </a:r>
          </a:p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multi-modal unsupervised film recommender.</a:t>
            </a:r>
          </a:p>
        </p:txBody>
      </p:sp>
      <p:sp>
        <p:nvSpPr>
          <p:cNvPr id="621" name="TextBox 620"/>
          <p:cNvSpPr txBox="1"/>
          <p:nvPr/>
        </p:nvSpPr>
        <p:spPr>
          <a:xfrm>
            <a:off x="640080" y="269748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E7E0FA"/>
                </a:solidFill>
                <a:latin typeface="Calibri"/>
              </a:rPr>
              <a:t>All three pre-registered hypotheses PASS (H1/H2/H3).</a:t>
            </a:r>
          </a:p>
        </p:txBody>
      </p:sp>
      <p:sp>
        <p:nvSpPr>
          <p:cNvPr id="622" name="TextBox 621"/>
          <p:cNvSpPr txBox="1"/>
          <p:nvPr/>
        </p:nvSpPr>
        <p:spPr>
          <a:xfrm>
            <a:off x="640080" y="301752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E7E0FA"/>
                </a:solidFill>
                <a:latin typeface="Calibri"/>
              </a:rPr>
              <a:t>Two methodological findings beyond the system itself:</a:t>
            </a:r>
          </a:p>
        </p:txBody>
      </p:sp>
      <p:sp>
        <p:nvSpPr>
          <p:cNvPr id="623" name="Rectangle 622"/>
          <p:cNvSpPr/>
          <p:nvPr/>
        </p:nvSpPr>
        <p:spPr>
          <a:xfrm>
            <a:off x="640080" y="3657600"/>
            <a:ext cx="4206240" cy="1371600"/>
          </a:xfrm>
          <a:prstGeom prst="rect">
            <a:avLst/>
          </a:prstGeom>
          <a:solidFill>
            <a:srgbClr val="292157"/>
          </a:solidFill>
          <a:ln w="6350">
            <a:solidFill>
              <a:srgbClr val="6E5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4" name="TextBox 623"/>
          <p:cNvSpPr txBox="1"/>
          <p:nvPr/>
        </p:nvSpPr>
        <p:spPr>
          <a:xfrm>
            <a:off x="822960" y="3767328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7E0FA"/>
                </a:solidFill>
                <a:latin typeface="Calibri"/>
              </a:rPr>
              <a:t>F1</a:t>
            </a:r>
          </a:p>
        </p:txBody>
      </p:sp>
      <p:sp>
        <p:nvSpPr>
          <p:cNvPr id="625" name="TextBox 624"/>
          <p:cNvSpPr txBox="1"/>
          <p:nvPr/>
        </p:nvSpPr>
        <p:spPr>
          <a:xfrm>
            <a:off x="822960" y="4041648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NMI ≠ retrieval</a:t>
            </a:r>
          </a:p>
        </p:txBody>
      </p:sp>
      <p:sp>
        <p:nvSpPr>
          <p:cNvPr id="626" name="TextBox 625"/>
          <p:cNvSpPr txBox="1"/>
          <p:nvPr/>
        </p:nvSpPr>
        <p:spPr>
          <a:xfrm>
            <a:off x="822960" y="4498848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E7E0FA"/>
                </a:solidFill>
                <a:latin typeface="Calibri"/>
              </a:rPr>
              <a:t>DEC angular collapse:</a:t>
            </a:r>
          </a:p>
        </p:txBody>
      </p:sp>
      <p:sp>
        <p:nvSpPr>
          <p:cNvPr id="627" name="TextBox 626"/>
          <p:cNvSpPr txBox="1"/>
          <p:nvPr/>
        </p:nvSpPr>
        <p:spPr>
          <a:xfrm>
            <a:off x="822960" y="475488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nsolas"/>
              </a:rPr>
              <a:t>top-5 cosine ≈ 1.000</a:t>
            </a:r>
          </a:p>
        </p:txBody>
      </p:sp>
      <p:sp>
        <p:nvSpPr>
          <p:cNvPr id="628" name="Rectangle 627"/>
          <p:cNvSpPr/>
          <p:nvPr/>
        </p:nvSpPr>
        <p:spPr>
          <a:xfrm>
            <a:off x="5120640" y="3657600"/>
            <a:ext cx="4206240" cy="1371600"/>
          </a:xfrm>
          <a:prstGeom prst="rect">
            <a:avLst/>
          </a:prstGeom>
          <a:solidFill>
            <a:srgbClr val="292157"/>
          </a:solidFill>
          <a:ln w="6350">
            <a:solidFill>
              <a:srgbClr val="6E5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9" name="TextBox 628"/>
          <p:cNvSpPr txBox="1"/>
          <p:nvPr/>
        </p:nvSpPr>
        <p:spPr>
          <a:xfrm>
            <a:off x="5303520" y="3767328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7E0FA"/>
                </a:solidFill>
                <a:latin typeface="Calibri"/>
              </a:rPr>
              <a:t>F2</a:t>
            </a:r>
          </a:p>
        </p:txBody>
      </p:sp>
      <p:sp>
        <p:nvSpPr>
          <p:cNvPr id="630" name="TextBox 629"/>
          <p:cNvSpPr txBox="1"/>
          <p:nvPr/>
        </p:nvSpPr>
        <p:spPr>
          <a:xfrm>
            <a:off x="5303520" y="4041648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z = 32 wins</a:t>
            </a:r>
          </a:p>
        </p:txBody>
      </p:sp>
      <p:sp>
        <p:nvSpPr>
          <p:cNvPr id="631" name="TextBox 630"/>
          <p:cNvSpPr txBox="1"/>
          <p:nvPr/>
        </p:nvSpPr>
        <p:spPr>
          <a:xfrm>
            <a:off x="5303520" y="4498848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E7E0FA"/>
                </a:solidFill>
                <a:latin typeface="Calibri"/>
              </a:rPr>
              <a:t>Tight latent beats z=64 and z=128</a:t>
            </a:r>
          </a:p>
        </p:txBody>
      </p:sp>
      <p:sp>
        <p:nvSpPr>
          <p:cNvPr id="632" name="TextBox 631"/>
          <p:cNvSpPr txBox="1"/>
          <p:nvPr/>
        </p:nvSpPr>
        <p:spPr>
          <a:xfrm>
            <a:off x="5303520" y="475488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nsolas"/>
              </a:rPr>
              <a:t>gNMI 0.334  ·  genre@5 0.723</a:t>
            </a:r>
          </a:p>
        </p:txBody>
      </p:sp>
      <p:sp>
        <p:nvSpPr>
          <p:cNvPr id="633" name="TextBox 632"/>
          <p:cNvSpPr txBox="1"/>
          <p:nvPr/>
        </p:nvSpPr>
        <p:spPr>
          <a:xfrm>
            <a:off x="640080" y="525780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7E0FA"/>
                </a:solidFill>
                <a:latin typeface="Calibri"/>
              </a:rPr>
              <a:t>BEST CONFIGURATION</a:t>
            </a:r>
          </a:p>
        </p:txBody>
      </p:sp>
      <p:sp>
        <p:nvSpPr>
          <p:cNvPr id="634" name="Rectangle 633"/>
          <p:cNvSpPr/>
          <p:nvPr/>
        </p:nvSpPr>
        <p:spPr>
          <a:xfrm>
            <a:off x="640080" y="5577840"/>
            <a:ext cx="2103120" cy="640080"/>
          </a:xfrm>
          <a:prstGeom prst="rect">
            <a:avLst/>
          </a:prstGeom>
          <a:solidFill>
            <a:srgbClr val="292157"/>
          </a:solidFill>
          <a:ln w="6350">
            <a:solidFill>
              <a:srgbClr val="6E5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5" name="TextBox 634"/>
          <p:cNvSpPr txBox="1"/>
          <p:nvPr/>
        </p:nvSpPr>
        <p:spPr>
          <a:xfrm>
            <a:off x="804672" y="565099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E7E0FA"/>
                </a:solidFill>
                <a:latin typeface="Calibri"/>
              </a:rPr>
              <a:t>BACKBONE</a:t>
            </a:r>
          </a:p>
        </p:txBody>
      </p:sp>
      <p:sp>
        <p:nvSpPr>
          <p:cNvPr id="636" name="TextBox 635"/>
          <p:cNvSpPr txBox="1"/>
          <p:nvPr/>
        </p:nvSpPr>
        <p:spPr>
          <a:xfrm>
            <a:off x="804672" y="587044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onsolas"/>
              </a:rPr>
              <a:t>ae_z32</a:t>
            </a:r>
          </a:p>
        </p:txBody>
      </p:sp>
      <p:sp>
        <p:nvSpPr>
          <p:cNvPr id="637" name="Rectangle 636"/>
          <p:cNvSpPr/>
          <p:nvPr/>
        </p:nvSpPr>
        <p:spPr>
          <a:xfrm>
            <a:off x="2834639" y="5577840"/>
            <a:ext cx="2103120" cy="640080"/>
          </a:xfrm>
          <a:prstGeom prst="rect">
            <a:avLst/>
          </a:prstGeom>
          <a:solidFill>
            <a:srgbClr val="292157"/>
          </a:solidFill>
          <a:ln w="6350">
            <a:solidFill>
              <a:srgbClr val="6E5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8" name="TextBox 637"/>
          <p:cNvSpPr txBox="1"/>
          <p:nvPr/>
        </p:nvSpPr>
        <p:spPr>
          <a:xfrm>
            <a:off x="2999231" y="565099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E7E0FA"/>
                </a:solidFill>
                <a:latin typeface="Calibri"/>
              </a:rPr>
              <a:t>gNMI</a:t>
            </a:r>
          </a:p>
        </p:txBody>
      </p:sp>
      <p:sp>
        <p:nvSpPr>
          <p:cNvPr id="639" name="TextBox 638"/>
          <p:cNvSpPr txBox="1"/>
          <p:nvPr/>
        </p:nvSpPr>
        <p:spPr>
          <a:xfrm>
            <a:off x="2999231" y="587044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0.334</a:t>
            </a:r>
          </a:p>
        </p:txBody>
      </p:sp>
      <p:sp>
        <p:nvSpPr>
          <p:cNvPr id="640" name="Rectangle 639"/>
          <p:cNvSpPr/>
          <p:nvPr/>
        </p:nvSpPr>
        <p:spPr>
          <a:xfrm>
            <a:off x="5029200" y="5577840"/>
            <a:ext cx="2103120" cy="640080"/>
          </a:xfrm>
          <a:prstGeom prst="rect">
            <a:avLst/>
          </a:prstGeom>
          <a:solidFill>
            <a:srgbClr val="292157"/>
          </a:solidFill>
          <a:ln w="6350">
            <a:solidFill>
              <a:srgbClr val="6E5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1" name="TextBox 640"/>
          <p:cNvSpPr txBox="1"/>
          <p:nvPr/>
        </p:nvSpPr>
        <p:spPr>
          <a:xfrm>
            <a:off x="5193792" y="565099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E7E0FA"/>
                </a:solidFill>
                <a:latin typeface="Calibri"/>
              </a:rPr>
              <a:t>genre@5</a:t>
            </a:r>
          </a:p>
        </p:txBody>
      </p:sp>
      <p:sp>
        <p:nvSpPr>
          <p:cNvPr id="642" name="TextBox 641"/>
          <p:cNvSpPr txBox="1"/>
          <p:nvPr/>
        </p:nvSpPr>
        <p:spPr>
          <a:xfrm>
            <a:off x="5193792" y="587044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0.723</a:t>
            </a:r>
          </a:p>
        </p:txBody>
      </p:sp>
      <p:sp>
        <p:nvSpPr>
          <p:cNvPr id="643" name="Rectangle 642"/>
          <p:cNvSpPr/>
          <p:nvPr/>
        </p:nvSpPr>
        <p:spPr>
          <a:xfrm>
            <a:off x="7223759" y="5577840"/>
            <a:ext cx="2103120" cy="640080"/>
          </a:xfrm>
          <a:prstGeom prst="rect">
            <a:avLst/>
          </a:prstGeom>
          <a:solidFill>
            <a:srgbClr val="292157"/>
          </a:solidFill>
          <a:ln w="6350">
            <a:solidFill>
              <a:srgbClr val="6E5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4" name="TextBox 643"/>
          <p:cNvSpPr txBox="1"/>
          <p:nvPr/>
        </p:nvSpPr>
        <p:spPr>
          <a:xfrm>
            <a:off x="7388351" y="565099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E7E0FA"/>
                </a:solidFill>
                <a:latin typeface="Calibri"/>
              </a:rPr>
              <a:t>INDEX</a:t>
            </a:r>
          </a:p>
        </p:txBody>
      </p:sp>
      <p:sp>
        <p:nvSpPr>
          <p:cNvPr id="645" name="TextBox 644"/>
          <p:cNvSpPr txBox="1"/>
          <p:nvPr/>
        </p:nvSpPr>
        <p:spPr>
          <a:xfrm>
            <a:off x="7388351" y="587044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onsolas"/>
              </a:rPr>
              <a:t>42 MB</a:t>
            </a:r>
          </a:p>
        </p:txBody>
      </p:sp>
      <p:sp>
        <p:nvSpPr>
          <p:cNvPr id="646" name="TextBox 645"/>
          <p:cNvSpPr txBox="1"/>
          <p:nvPr/>
        </p:nvSpPr>
        <p:spPr>
          <a:xfrm>
            <a:off x="64008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Code:  github.com/barandincoguz/CineEmbed-</a:t>
            </a:r>
          </a:p>
        </p:txBody>
      </p:sp>
      <p:sp>
        <p:nvSpPr>
          <p:cNvPr id="647" name="TextBox 646"/>
          <p:cNvSpPr txBox="1"/>
          <p:nvPr/>
        </p:nvSpPr>
        <p:spPr>
          <a:xfrm>
            <a:off x="640080" y="662940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Baran Dinçoğuz  ·  Arda Arvas  ·  Kaan Kaya  ·  SENG 474 — Spring 2026  ·  TED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714</TotalTime>
  <Words>5263</Words>
  <Application>Microsoft Macintosh PowerPoint</Application>
  <PresentationFormat>Widescreen</PresentationFormat>
  <Paragraphs>817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AHMET BARAN DİNÇOĞUZ</cp:lastModifiedBy>
  <cp:revision>2</cp:revision>
  <dcterms:created xsi:type="dcterms:W3CDTF">2013-01-27T09:14:16Z</dcterms:created>
  <dcterms:modified xsi:type="dcterms:W3CDTF">2026-05-20T22:46:30Z</dcterms:modified>
  <cp:category/>
</cp:coreProperties>
</file>